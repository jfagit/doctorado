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5143500" cx="9144000"/>
  <p:notesSz cx="6858000" cy="9144000"/>
  <p:embeddedFontLst>
    <p:embeddedFont>
      <p:font typeface="Montserrat SemiBold"/>
      <p:regular r:id="rId61"/>
      <p:bold r:id="rId62"/>
      <p:italic r:id="rId63"/>
      <p:boldItalic r:id="rId64"/>
    </p:embeddedFont>
    <p:embeddedFont>
      <p:font typeface="Roboto"/>
      <p:regular r:id="rId65"/>
      <p:bold r:id="rId66"/>
      <p:italic r:id="rId67"/>
      <p:boldItalic r:id="rId68"/>
    </p:embeddedFont>
    <p:embeddedFont>
      <p:font typeface="Montserrat"/>
      <p:regular r:id="rId69"/>
      <p:bold r:id="rId70"/>
      <p:italic r:id="rId71"/>
      <p:boldItalic r:id="rId72"/>
    </p:embeddedFont>
    <p:embeddedFont>
      <p:font typeface="Merriweather"/>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erriweather-regular.fntdata"/><Relationship Id="rId72" Type="http://schemas.openxmlformats.org/officeDocument/2006/relationships/font" Target="fonts/Montserrat-boldItalic.fntdata"/><Relationship Id="rId31" Type="http://schemas.openxmlformats.org/officeDocument/2006/relationships/slide" Target="slides/slide26.xml"/><Relationship Id="rId75" Type="http://schemas.openxmlformats.org/officeDocument/2006/relationships/font" Target="fonts/Merriweather-italic.fntdata"/><Relationship Id="rId30" Type="http://schemas.openxmlformats.org/officeDocument/2006/relationships/slide" Target="slides/slide25.xml"/><Relationship Id="rId74" Type="http://schemas.openxmlformats.org/officeDocument/2006/relationships/font" Target="fonts/Merriweather-bold.fntdata"/><Relationship Id="rId33" Type="http://schemas.openxmlformats.org/officeDocument/2006/relationships/slide" Target="slides/slide28.xml"/><Relationship Id="rId32" Type="http://schemas.openxmlformats.org/officeDocument/2006/relationships/slide" Target="slides/slide27.xml"/><Relationship Id="rId76" Type="http://schemas.openxmlformats.org/officeDocument/2006/relationships/font" Target="fonts/Merriweather-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SemiBold-bold.fntdata"/><Relationship Id="rId61" Type="http://schemas.openxmlformats.org/officeDocument/2006/relationships/font" Target="fonts/MontserratSemiBold-regular.fntdata"/><Relationship Id="rId20" Type="http://schemas.openxmlformats.org/officeDocument/2006/relationships/slide" Target="slides/slide15.xml"/><Relationship Id="rId64" Type="http://schemas.openxmlformats.org/officeDocument/2006/relationships/font" Target="fonts/MontserratSemiBold-boldItalic.fntdata"/><Relationship Id="rId63" Type="http://schemas.openxmlformats.org/officeDocument/2006/relationships/font" Target="fonts/MontserratSemiBold-italic.fntdata"/><Relationship Id="rId22" Type="http://schemas.openxmlformats.org/officeDocument/2006/relationships/slide" Target="slides/slide17.xml"/><Relationship Id="rId66" Type="http://schemas.openxmlformats.org/officeDocument/2006/relationships/font" Target="fonts/Roboto-bold.fntdata"/><Relationship Id="rId21" Type="http://schemas.openxmlformats.org/officeDocument/2006/relationships/slide" Target="slides/slide16.xml"/><Relationship Id="rId65" Type="http://schemas.openxmlformats.org/officeDocument/2006/relationships/font" Target="fonts/Roboto-regular.fntdata"/><Relationship Id="rId24" Type="http://schemas.openxmlformats.org/officeDocument/2006/relationships/slide" Target="slides/slide19.xml"/><Relationship Id="rId68" Type="http://schemas.openxmlformats.org/officeDocument/2006/relationships/font" Target="fonts/Roboto-boldItalic.fntdata"/><Relationship Id="rId23" Type="http://schemas.openxmlformats.org/officeDocument/2006/relationships/slide" Target="slides/slide18.xml"/><Relationship Id="rId67" Type="http://schemas.openxmlformats.org/officeDocument/2006/relationships/font" Target="fonts/Roboto-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aa20a7550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aa20a7550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4c165282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4c165282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4c16528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64c16528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4c165282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4c165282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a556b2d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aa556b2d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c383dbd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ec383dbd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c383dbd5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c383dbd5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97285f921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97285f921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4c165282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4c165282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4c165282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4c165282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ea6efff7ce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ea6efff7ce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ea6efff7c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ea6efff7c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f7f21f3d3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f7f21f3d3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7f21f3d3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7f21f3d3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f7f21f3d3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f7f21f3d3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f7f21f3d3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f7f21f3d3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e875d3e26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e875d3e26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e875d3e26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e875d3e26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4c1652821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4c1652821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875d3e26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e875d3e26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154826d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154826d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154826dc5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154826dc5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154826dc5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154826dc5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aa20a755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aa20a755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fatty acid oxidation pathway?, ros production,  lipid </a:t>
            </a:r>
            <a:r>
              <a:rPr lang="es"/>
              <a:t>metabolism</a:t>
            </a:r>
            <a:r>
              <a:rPr lang="es"/>
              <a:t> by ppargamma,</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ef8d46cc2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ef8d46cc2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fatty acid oxidation pathway?, ros production,  lipid metabolism by ppargamma,</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abc3ba917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abc3ba917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ef8d46cc2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ef8d46cc2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ef8d46cc2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ef8d46cc2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ef8d46cc2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ef8d46cc2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ef8d46cc2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ef8d46cc2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abc3ba917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abc3ba917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ef8d46cc24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ef8d46cc24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ef8d46cc24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ef8d46cc24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ef8d46cc2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ef8d46cc2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ef8d46cc2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ef8d46cc2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abc3ba917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abc3ba917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abc3ba917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abc3ba917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f7f21f3d3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f7f21f3d3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f7f21f3d3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f7f21f3d3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dcb2d4d48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dcb2d4d48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aee3217f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aee3217f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aee3217f1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2aee3217f1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ef8d46cc2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ef8d46cc2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ef8d46cc2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ef8d46cc2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2aee3217f1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2aee3217f1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ef8d46cc24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ef8d46cc24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ef8d46cc2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ef8d46cc2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aee3217f1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aee3217f1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PSMB9</a:t>
            </a:r>
            <a:r>
              <a:rPr lang="es"/>
              <a:t> proteasome 20S subunit beta 9. Immunoproteasome-specific subunit PSMB9 induction is required to regulate cellular proteostasis upon mitochondrial dysfunction.</a:t>
            </a:r>
            <a:endParaRPr/>
          </a:p>
          <a:p>
            <a:pPr indent="0" lvl="0" marL="0" rtl="0" algn="l">
              <a:spcBef>
                <a:spcPts val="0"/>
              </a:spcBef>
              <a:spcAft>
                <a:spcPts val="0"/>
              </a:spcAft>
              <a:buClr>
                <a:schemeClr val="dk1"/>
              </a:buClr>
              <a:buSzPts val="1100"/>
              <a:buFont typeface="Arial"/>
              <a:buNone/>
            </a:pPr>
            <a:r>
              <a:rPr lang="es"/>
              <a:t>Kim M, et al. Nat Commun, 2023 Jul 11. PMID 37433777. in human cells mitochondrial dysfunction leads to the upregulation of a chaperone HSPB1 and, interestingly, an immunoproteasome-specific subunit PSMB9. Moreover, PSMB9 expression is dependent on the translation elongation factor </a:t>
            </a:r>
            <a:r>
              <a:rPr b="1" lang="es"/>
              <a:t>EEF1A2</a:t>
            </a:r>
            <a:r>
              <a:rPr lang="es"/>
              <a:t>. These mechanisms constitute a defense response to preserve cellular proteostasis under mitochondrial stress. Our findings define a mode of proteasomal activation through the change in proteasome composition driven by EEF1A2 and its spatial regulation, and are useful to formulate therapies to prevent neurodegenerative diseases.</a:t>
            </a:r>
            <a:endParaRPr/>
          </a:p>
          <a:p>
            <a:pPr indent="0" lvl="0" marL="0" rtl="0" algn="l">
              <a:spcBef>
                <a:spcPts val="0"/>
              </a:spcBef>
              <a:spcAft>
                <a:spcPts val="0"/>
              </a:spcAft>
              <a:buNone/>
            </a:pPr>
            <a:r>
              <a:rPr b="1" lang="es"/>
              <a:t>VDR</a:t>
            </a:r>
            <a:r>
              <a:rPr lang="es"/>
              <a:t>, vitamin D receptor.</a:t>
            </a:r>
            <a:endParaRPr/>
          </a:p>
          <a:p>
            <a:pPr indent="0" lvl="0" marL="0" rtl="0" algn="l">
              <a:spcBef>
                <a:spcPts val="0"/>
              </a:spcBef>
              <a:spcAft>
                <a:spcPts val="0"/>
              </a:spcAft>
              <a:buNone/>
            </a:pPr>
            <a:r>
              <a:rPr b="1" lang="es"/>
              <a:t>TIAM2</a:t>
            </a:r>
            <a:r>
              <a:rPr lang="es"/>
              <a:t> TIAM Rac1 associated GEF 2, Tiam2/Rac are key components of EphB2 trans-endocytosis and are important for cell repulsion.</a:t>
            </a:r>
            <a:endParaRPr/>
          </a:p>
          <a:p>
            <a:pPr indent="0" lvl="0" marL="0" rtl="0" algn="l">
              <a:spcBef>
                <a:spcPts val="0"/>
              </a:spcBef>
              <a:spcAft>
                <a:spcPts val="0"/>
              </a:spcAft>
              <a:buNone/>
            </a:pPr>
            <a:r>
              <a:rPr b="1" lang="es"/>
              <a:t>CEBPB</a:t>
            </a:r>
            <a:r>
              <a:rPr lang="es"/>
              <a:t> CCAAT enhancer binding protein beta.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ef8d46cc24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ef8d46cc24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aee3217f1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aee3217f1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PFKFB3: Glycogen metabolism</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 PRKACB: Glycogen metabolism, Triglyceride catabolism</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ABCA1, saturated or unsaturated very long-chain fatty acid importer</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SPARC/ON; ONT; OI17; BM-40: This gene encodes a cysteine-rich acidic matrix-associated protein. The encoded protein is required for the collagen in bone to become calcified but is also involved in extracellular matrix synthesis and promotion of changes to cell shape. The gene product has been associated with tumor suppression but has also been correlated with metastasis based on changes to cell shape which can promote tumor cell invasion. Three transcript variants encoding different isoforms have been found for this gene. [provided by RefSeq, Jun 2015]</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STAB1/FEX1; FEEL1; FEEL-1; FELE-1; SCARH2; STAB-1; CLEVER-1: This gene encodes a large, transmembrane receptor protein which may function in angiogenesis, lymphocyte homing, cell adhesion, or receptor scavenging. The protein contains 7 fasciclin, 16 epidermal growth factor (EGF)-like, and 2 laminin-type EGF-like domains as well as a C-type lectin-like hyaluronan-binding Link module. The protein is primarily expressed on sinusoidal endothelial cells of liver, spleen, and lymph node. The receptor has been shown to endocytose ligands such as low density lipoprotein, Gram-positive and Gram-negative bacteria, and advanced glycosylation end products. Supporting its possible role as a scavenger receptor, the protein rapidly cycles between the plasma membrane and early endosomes. [provided by RefSeq, Jul 2008]</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MSR1/SRA; SR-A; CD204; SR-AI; phSR1; phSR2; SCARA1; SR-AII; SR-AIII: This gene encodes the class A macrophage scavenger receptors, which include three different types (1, 2, 3) generated by alternative splicing of this gene. These receptors or isoforms are macrophage-specific trimeric integral membrane glycoproteins and have been implicated in many macrophage-associated physiological and pathological processes including atherosclerosis, Alzheimer's disease, and host defense. The isoforms type 1 and type 2 are functional receptors and are able to mediate the endocytosis of modified low density lipoproteins (LDLs). The isoform type 3 does not internalize modified LDL (acetyl-LDL) despite having the domain shown to mediate this function in the types 1 and 2 isoforms. It has an altered intracellular processing and is trapped within the endoplasmic reticulum, making it unable to perform endocytosis. The isoform type 3 can inhibit the function of isoforms type 1 and type 2 when co-expressed, indicating a dominant negative effect and suggesting a mechanism for regulation of scavenger receptor activity in macrophages. [provided by RefSeq, Jul 2008]</a:t>
            </a:r>
            <a:endParaRPr sz="1400">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s" sz="1400">
                <a:solidFill>
                  <a:srgbClr val="434343"/>
                </a:solidFill>
                <a:latin typeface="Roboto"/>
                <a:ea typeface="Roboto"/>
                <a:cs typeface="Roboto"/>
                <a:sym typeface="Roboto"/>
              </a:rPr>
              <a:t>COLEC12/CLP1; NSR2; SRCL; SCARA4: This gene encodes a member of the C-lectin family, proteins that possess collagen-like sequences and carbohydrate recognition domains. This protein is a scavenger receptor that displays several functions associated with host defense. It can bind to carbohydrate antigens on microorganisms, facilitating their recognition and removal. It also mediates the recognition, internalization, and degradation of oxidatively modified low density lipoprotein by vascular endothelial cells. [provided by RefSeq, May 2018]</a:t>
            </a:r>
            <a:endParaRPr sz="1400">
              <a:solidFill>
                <a:srgbClr val="434343"/>
              </a:solidFill>
              <a:latin typeface="Roboto"/>
              <a:ea typeface="Roboto"/>
              <a:cs typeface="Roboto"/>
              <a:sym typeface="Roboto"/>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ef8d46cc2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ef8d46cc2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CHM CHM Rab escort protein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STOX2 storkhead box 2, This protein is differentially expressed in decidual tissue and may be involved in the susceptibility to pre-eclampsia with fetal growth restriction</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b="1" i="1" lang="es" sz="1000">
                <a:solidFill>
                  <a:schemeClr val="dk1"/>
                </a:solidFill>
                <a:latin typeface="Roboto"/>
                <a:ea typeface="Roboto"/>
                <a:cs typeface="Roboto"/>
                <a:sym typeface="Roboto"/>
              </a:rPr>
              <a:t>SLC35D1  solute carrier family 35 member D1</a:t>
            </a:r>
            <a:r>
              <a:rPr i="1" lang="es" sz="1000">
                <a:solidFill>
                  <a:schemeClr val="dk1"/>
                </a:solidFill>
                <a:latin typeface="Roboto"/>
                <a:ea typeface="Roboto"/>
                <a:cs typeface="Roboto"/>
                <a:sym typeface="Roboto"/>
              </a:rPr>
              <a:t>, transports both UDP-glucuronic acid (UDP-GlcA) and UDP-N-acetylgalactosamine (UDP-GalNAc) from the cytoplasm to the ER lumen. It may participate in glucuronidation and/or chondroitin sulfate biosynthesis</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RAB30,  RAB30, member RAS oncogene family, GTP binding activity and GTPase activity. Involved in Golgi organization. Located in Golgi cisterna;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XIST X inactive specific transcript, ncRNA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JPX JPX transcript, XIST activator,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OSBPL3 oxysterol binding protein like 3, intracellular lipid receptors. cell adhesion and matrix remodelling</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CDH26,  cadherin 26, adhesion and migration</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RPS4X ribosomal protein S4 X-linked , part of 40S</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CDH12 caherin 12</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TMEM67  transmembrane protein 67, centriole migration</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ZNF780A, zinc finger protein 780A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STS steroid sulfatase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SERTAD4BP, SERTA Domain Containing 4B, Pseudogene, lncRNA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TMEM168  transmembrane protein 168, transport vesicles</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EIF1AX-AS1 EIF1AX antisense RNA 1,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PHTF1 putative homeodomain transcription factor 1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ZFX zinc finger protein X-linked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ZNF730 zinc finger protein 730</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LINC02028 long intergenic non-protein coding RNA 2028, lncRNA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MIR548B, microRNA 548b</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CA5B,  carbonic anhydrase 5B, Carbonic anh, ydrases (CAs) are a large family of zinc metalloenzymes that catalyze the reversible hydration of carbon dioxide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TSIX TSIX transcript, XIST antisense RNA,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highlight>
                  <a:srgbClr val="FFFF00"/>
                </a:highlight>
                <a:latin typeface="Roboto"/>
                <a:ea typeface="Roboto"/>
                <a:cs typeface="Roboto"/>
                <a:sym typeface="Roboto"/>
              </a:rPr>
              <a:t>NUDT10, is a phosphohydrolase and may regulate the turnover of diphosphoinositol polyphosphates. The turnover of these high-energy diphosphoinositol polyphosphates represents a molecular switching activity with important regulatory consequences. Molecular switching by diphosphoinositol polyphosphates may contribute to the regulation of intracellular trafficking</a:t>
            </a:r>
            <a:endParaRPr i="1" sz="1000">
              <a:solidFill>
                <a:schemeClr val="dk1"/>
              </a:solidFill>
              <a:highlight>
                <a:srgbClr val="FFFF00"/>
              </a:highlight>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TBC1D32, TBC1 domain family member 32</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ZNF300, zinc finger protein 300</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DDX3X, DEAD-box helicase 3 X-linked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highlight>
                  <a:srgbClr val="FFFF00"/>
                </a:highlight>
                <a:latin typeface="Roboto"/>
                <a:ea typeface="Roboto"/>
                <a:cs typeface="Roboto"/>
                <a:sym typeface="Roboto"/>
              </a:rPr>
              <a:t>NEU3</a:t>
            </a:r>
            <a:r>
              <a:rPr i="1" lang="es" sz="1000">
                <a:solidFill>
                  <a:schemeClr val="dk1"/>
                </a:solidFill>
                <a:latin typeface="Roboto"/>
                <a:ea typeface="Roboto"/>
                <a:cs typeface="Roboto"/>
                <a:sym typeface="Roboto"/>
              </a:rPr>
              <a:t>, neuraminidase 3, remove sialic acid residues from glycoproteins and glycolipids. It is localized in the plasma membrane, and its activity is specific for gangliosides. It may play a role in modulating the ganglioside content of the lipid bilayer.</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highlight>
                  <a:srgbClr val="FFFF00"/>
                </a:highlight>
                <a:latin typeface="Roboto"/>
                <a:ea typeface="Roboto"/>
                <a:cs typeface="Roboto"/>
                <a:sym typeface="Roboto"/>
              </a:rPr>
              <a:t>HDAC8,  histone deacetylase 8</a:t>
            </a:r>
            <a:endParaRPr i="1" sz="1000">
              <a:solidFill>
                <a:schemeClr val="dk1"/>
              </a:solidFill>
              <a:highlight>
                <a:srgbClr val="FFFF00"/>
              </a:highlight>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YIPF6, Yip1 domain family member 6</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RXFP4, relaxin family peptide/INSL5 receptor 4</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KDM5C-IT1, KDM5C intronic transcript 1.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IGFBP1, insulin like growth factor binding protein 1, IGFBP1 inhibits the invasion, migration, and apoptosis of HTR-8/SVneo trophoblast cells in preeclampsia. Increased Colocalization and Interaction Between Decidual Protein Kinase A and Insulin-like Growth Factor-Binding Protein-1 in Intrauterine Growth Restriction</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PUDP, pseudouridine 5'-phosphatase,  haloacid dehalogenase-like (HAD) hydrolase superfamily</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SMC1A, structural maintenance of chromosomes 1A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TRAPPC2, trafficking protein particle complex subunit 2</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LINC00630, long intergenic non-protein coding RNA 630, ncRNA. DDX23-Linc00630-HDAC1 axis activates the Notch pathway to promote metastasis. </a:t>
            </a:r>
            <a:r>
              <a:rPr b="1" i="1" lang="es" sz="1000">
                <a:solidFill>
                  <a:schemeClr val="dk1"/>
                </a:solidFill>
                <a:latin typeface="Roboto"/>
                <a:ea typeface="Roboto"/>
                <a:cs typeface="Roboto"/>
                <a:sym typeface="Roboto"/>
              </a:rPr>
              <a:t>Histone deacetylases 1 (HDAC1) and DEAD-box helicase 23 (DDX23) as the linc00630-binding protein that associated with mechanism of linc00630</a:t>
            </a:r>
            <a:r>
              <a:rPr i="1" lang="es" sz="1000">
                <a:solidFill>
                  <a:schemeClr val="dk1"/>
                </a:solidFill>
                <a:latin typeface="Roboto"/>
                <a:ea typeface="Roboto"/>
                <a:cs typeface="Roboto"/>
                <a:sym typeface="Roboto"/>
              </a:rPr>
              <a:t>. DDX23 can specific bind with the promoter of Linc00630 to up-regulate the RNA level and high level of linc00630 strength the protein stability of HDAC1 to regulate the downstream pathway. Long noncoding RNA LINC00630 promotes radio-resistance by regulating BEX1 gene methylation in colorectal cancer cells. LINC00630 to radio-resistance in CRC, which was predominately mediated by epigenetically repressed BEX1.</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EIF1AX, eukaryotic translation initiation factor 1A X-linked,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RPL10P6, ribosomal protein L10 pseudogene 6,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RPL10P9, ribosomal protein L10 pseudogene 9,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RASSF6, Ras association domain family member 6</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MIR6895, hsa-mir-6895</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ITGB8, integrin subunit beta 8, negative angiogenic in glioblastoma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KDM5C, lysine demethylase 5C</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KDM6A,  lysine demethylase 6A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OFD1, OFD1 centriole and centriolar satellite protein</a:t>
            </a:r>
            <a:endParaRPr i="1" sz="1800">
              <a:solidFill>
                <a:srgbClr val="434343"/>
              </a:solidFill>
              <a:latin typeface="Roboto"/>
              <a:ea typeface="Roboto"/>
              <a:cs typeface="Roboto"/>
              <a:sym typeface="Roboto"/>
            </a:endParaRPr>
          </a:p>
          <a:p>
            <a:pPr indent="0" lvl="0" marL="0" rtl="0" algn="l">
              <a:spcBef>
                <a:spcPts val="0"/>
              </a:spcBef>
              <a:spcAft>
                <a:spcPts val="0"/>
              </a:spcAft>
              <a:buNone/>
            </a:pPr>
            <a:r>
              <a:rPr lang="es"/>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ef8d46cc2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ef8d46cc2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PCDH11Y (cadherina)</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FE2F3"/>
                </a:highlight>
                <a:latin typeface="Roboto"/>
                <a:ea typeface="Roboto"/>
                <a:cs typeface="Roboto"/>
                <a:sym typeface="Roboto"/>
              </a:rPr>
              <a:t>TPTE2P4 (TPTE2 pseudogene 4 </a:t>
            </a:r>
            <a:r>
              <a:rPr i="1" lang="es" sz="1108">
                <a:solidFill>
                  <a:schemeClr val="dk1"/>
                </a:solidFill>
                <a:highlight>
                  <a:srgbClr val="EFEFEF"/>
                </a:highlight>
                <a:latin typeface="Roboto"/>
                <a:ea typeface="Roboto"/>
                <a:cs typeface="Roboto"/>
                <a:sym typeface="Roboto"/>
              </a:rPr>
              <a:t>)</a:t>
            </a:r>
            <a:endParaRPr i="1" sz="1108">
              <a:solidFill>
                <a:schemeClr val="dk1"/>
              </a:solidFill>
              <a:highlight>
                <a:srgbClr val="EFEFEF"/>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FE2F3"/>
                </a:highlight>
                <a:latin typeface="Roboto"/>
                <a:ea typeface="Roboto"/>
                <a:cs typeface="Roboto"/>
                <a:sym typeface="Roboto"/>
              </a:rPr>
              <a:t>ARSLP1 arylsulfatase L pseudogene 1</a:t>
            </a:r>
            <a:endParaRPr i="1" sz="1108">
              <a:solidFill>
                <a:schemeClr val="dk1"/>
              </a:solidFill>
              <a:highlight>
                <a:srgbClr val="CFE2F3"/>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FE2F3"/>
                </a:highlight>
                <a:latin typeface="Roboto"/>
                <a:ea typeface="Roboto"/>
                <a:cs typeface="Roboto"/>
                <a:sym typeface="Roboto"/>
              </a:rPr>
              <a:t>ANOS2P (anosmin 2, pseudogene)</a:t>
            </a:r>
            <a:endParaRPr i="1" sz="1108">
              <a:solidFill>
                <a:schemeClr val="dk1"/>
              </a:solidFill>
              <a:highlight>
                <a:srgbClr val="CFE2F3"/>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B4A7D6"/>
                </a:highlight>
                <a:latin typeface="Roboto"/>
                <a:ea typeface="Roboto"/>
                <a:cs typeface="Roboto"/>
                <a:sym typeface="Roboto"/>
              </a:rPr>
              <a:t>FAM224B family with sequence similarity 224 member B, ncRNA</a:t>
            </a:r>
            <a:endParaRPr i="1" sz="1108">
              <a:solidFill>
                <a:schemeClr val="dk1"/>
              </a:solidFill>
              <a:highlight>
                <a:srgbClr val="B4A7D6"/>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B4A7D6"/>
                </a:highlight>
                <a:latin typeface="Roboto"/>
                <a:ea typeface="Roboto"/>
                <a:cs typeface="Roboto"/>
                <a:sym typeface="Roboto"/>
              </a:rPr>
              <a:t>FAM228A family with sequence similarity 224 member A, ncRNA</a:t>
            </a:r>
            <a:endParaRPr i="1" sz="1108">
              <a:solidFill>
                <a:schemeClr val="dk1"/>
              </a:solidFill>
              <a:highlight>
                <a:srgbClr val="B4A7D6"/>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FE2F3"/>
                </a:highlight>
                <a:latin typeface="Roboto"/>
                <a:ea typeface="Roboto"/>
                <a:cs typeface="Roboto"/>
                <a:sym typeface="Roboto"/>
              </a:rPr>
              <a:t>PSMA6P1 proteasome subunit alpha 6 pseudogene 1</a:t>
            </a:r>
            <a:endParaRPr i="1" sz="1108">
              <a:solidFill>
                <a:schemeClr val="dk1"/>
              </a:solidFill>
              <a:highlight>
                <a:srgbClr val="CFE2F3"/>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FE2F3"/>
                </a:highlight>
                <a:latin typeface="Roboto"/>
                <a:ea typeface="Roboto"/>
                <a:cs typeface="Roboto"/>
                <a:sym typeface="Roboto"/>
              </a:rPr>
              <a:t>SEPTIN14P23 septin 14 pseudogene 23</a:t>
            </a:r>
            <a:endParaRPr i="1" sz="1108">
              <a:solidFill>
                <a:schemeClr val="dk1"/>
              </a:solidFill>
              <a:highlight>
                <a:srgbClr val="CFE2F3"/>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KIF6</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highlight>
                  <a:srgbClr val="C9DAF8"/>
                </a:highlight>
                <a:latin typeface="Roboto"/>
                <a:ea typeface="Roboto"/>
                <a:cs typeface="Roboto"/>
                <a:sym typeface="Roboto"/>
              </a:rPr>
              <a:t>GYG2P1 glycogenin 2 pseudogene 1</a:t>
            </a:r>
            <a:endParaRPr i="1" sz="1108">
              <a:solidFill>
                <a:schemeClr val="dk1"/>
              </a:solidFill>
              <a:highlight>
                <a:srgbClr val="C9DAF8"/>
              </a:highlight>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ARSDP1 arylsulfatase D pseudogene 1</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CACNG4 calcium voltage-gated channel auxiliary subunit gamma 4 </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SRY</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UTY</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TOMM22P2 TOMM22 pseudogene 2</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TMSB4Y  thymosin beta 4 Y-linked</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LINC00278</a:t>
            </a:r>
            <a:endParaRPr i="1" sz="1108">
              <a:solidFill>
                <a:schemeClr val="dk1"/>
              </a:solidFill>
              <a:latin typeface="Roboto"/>
              <a:ea typeface="Roboto"/>
              <a:cs typeface="Roboto"/>
              <a:sym typeface="Roboto"/>
            </a:endParaRPr>
          </a:p>
          <a:p>
            <a:pPr indent="-298965" lvl="0" marL="457200" rtl="0" algn="l">
              <a:lnSpc>
                <a:spcPct val="115000"/>
              </a:lnSpc>
              <a:spcBef>
                <a:spcPts val="0"/>
              </a:spcBef>
              <a:spcAft>
                <a:spcPts val="0"/>
              </a:spcAft>
              <a:buClr>
                <a:schemeClr val="dk1"/>
              </a:buClr>
              <a:buSzPts val="1108"/>
              <a:buFont typeface="Roboto"/>
              <a:buChar char="●"/>
            </a:pPr>
            <a:r>
              <a:rPr i="1" lang="es" sz="1108">
                <a:solidFill>
                  <a:schemeClr val="dk1"/>
                </a:solidFill>
                <a:latin typeface="Roboto"/>
                <a:ea typeface="Roboto"/>
                <a:cs typeface="Roboto"/>
                <a:sym typeface="Roboto"/>
              </a:rPr>
              <a:t>SNX18P1Y sorting nexin 18 pseudogene 1, Y-linked</a:t>
            </a:r>
            <a:endParaRPr i="1" sz="1108">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TLE2 TLE family member 2, transcriptional corepressor (WNT repressor)</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ZFY</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EBF2 EBF transcription factor 2</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highlight>
                  <a:srgbClr val="CFE2F3"/>
                </a:highlight>
                <a:latin typeface="Roboto"/>
                <a:ea typeface="Roboto"/>
                <a:cs typeface="Roboto"/>
                <a:sym typeface="Roboto"/>
              </a:rPr>
              <a:t>ZNF839P1 zinc finger protein 839 pseudogene 1</a:t>
            </a:r>
            <a:endParaRPr i="1" sz="1000">
              <a:solidFill>
                <a:schemeClr val="dk1"/>
              </a:solidFill>
              <a:highlight>
                <a:srgbClr val="CFE2F3"/>
              </a:highlight>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FAM8A4P family with sequence similarity 8 member A4,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AGKP1 AGK pseudogene 1</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CDY4P chromodomain Y-linked 4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ERICH5 glutamate rich 5</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TXLNGY taxilin gamma Y-linked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DDX3Y  DEAD-box helicase 3 Y-linked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DPPA2P1 developmental pluripotency associated 2 pseudogene 1</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highlight>
                  <a:srgbClr val="FF9900"/>
                </a:highlight>
                <a:latin typeface="Roboto"/>
                <a:ea typeface="Roboto"/>
                <a:cs typeface="Roboto"/>
                <a:sym typeface="Roboto"/>
              </a:rPr>
              <a:t>IL1RAPL1 interleukin 1 receptor accessory protein like 1</a:t>
            </a:r>
            <a:endParaRPr i="1" sz="1000">
              <a:solidFill>
                <a:schemeClr val="dk1"/>
              </a:solidFill>
              <a:highlight>
                <a:srgbClr val="FF9900"/>
              </a:highlight>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HSPB1 heat shock protein family B (small) member 1- environmental stress</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ANKRD20A6P ankyrin repeat domain 20 family member A6,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PRKY protein kinase Y-linked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VDAC1P6 voltage dependent anion channel 1 pseudogene 6</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PSG7 pregnancy specific beta-1-glycoprotein 7</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ARHGEF9 Cdc42 guanine nucleotide exchange factor 9</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KRT18P10 keratin 18 pseudogene 10</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SHROOM2P1 shroom family member 2 pseudogene 1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FRG1JP FSHD region gene 1 family member J,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USP9Y ubiquitin specific peptidase 9 Y-linked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ZFY-AS1 ZFY antisense RNA 1,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EIF4A1P2 eukaryotic translation initiation factor 4A1 pseudogene 2</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RNU2-57P RNA, U2 small nuclear 57,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HSFY3P  heat shock transcription factor Y-linked 3,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EIF1AY eukaryotic translation initiation factor 1A Y-linked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RPS4Y1 ribosomal protein S4 Y-linked 1</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TTTY14 testis expressed transcript, Y-linked 14,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TTTY10 testis expressed transcript, Y-linked 10, ncRNA</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TBL1Y transducin beta like 1 Y-linked</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NLGN4Y neuroligin 4 Y-linked, cell adhesion</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KDM5DP1  lysine demethylase 5D pseudogene 1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MXRA5Y  lysine demethylase 5D pseudogene 1 </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KDM5D matrix remodeling associated 5 Y-linked (pseudogene)</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ARMCX3  armadillo repeat containing X-linked 3</a:t>
            </a:r>
            <a:endParaRPr i="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i="1" lang="es" sz="1000">
                <a:solidFill>
                  <a:schemeClr val="dk1"/>
                </a:solidFill>
                <a:latin typeface="Roboto"/>
                <a:ea typeface="Roboto"/>
                <a:cs typeface="Roboto"/>
                <a:sym typeface="Roboto"/>
              </a:rPr>
              <a:t>ARMCX6  armadillo repeat containing X-linked 6</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ef8d46cc24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ef8d46cc2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ef8d46cc24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ef8d46cc2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ea8bda9b1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ea8bda9b1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latin typeface="Montserrat"/>
                <a:ea typeface="Montserrat"/>
                <a:cs typeface="Montserrat"/>
                <a:sym typeface="Montserrat"/>
              </a:rPr>
              <a:t>Análisis de expresión de genes de macrófagos</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311700" y="410000"/>
            <a:ext cx="8520600" cy="838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2444">
                <a:latin typeface="Montserrat"/>
                <a:ea typeface="Montserrat"/>
                <a:cs typeface="Montserrat"/>
                <a:sym typeface="Montserrat"/>
              </a:rPr>
              <a:t>Objetivo: Profundizar en las diferencias de expresión según el sexo encontradas experimentalmente</a:t>
            </a:r>
            <a:endParaRPr b="1" sz="1667">
              <a:latin typeface="Montserrat"/>
              <a:ea typeface="Montserrat"/>
              <a:cs typeface="Montserrat"/>
              <a:sym typeface="Montserrat"/>
            </a:endParaRPr>
          </a:p>
        </p:txBody>
      </p:sp>
      <p:sp>
        <p:nvSpPr>
          <p:cNvPr id="91" name="Google Shape;91;p14"/>
          <p:cNvSpPr txBox="1"/>
          <p:nvPr/>
        </p:nvSpPr>
        <p:spPr>
          <a:xfrm>
            <a:off x="311700" y="3865025"/>
            <a:ext cx="42567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Necesitábamos datos </a:t>
            </a:r>
            <a:endParaRPr sz="1800">
              <a:solidFill>
                <a:schemeClr val="dk1"/>
              </a:solidFill>
              <a:latin typeface="Merriweather"/>
              <a:ea typeface="Merriweather"/>
              <a:cs typeface="Merriweather"/>
              <a:sym typeface="Merriweather"/>
            </a:endParaRPr>
          </a:p>
        </p:txBody>
      </p:sp>
      <p:sp>
        <p:nvSpPr>
          <p:cNvPr id="92" name="Google Shape;92;p14"/>
          <p:cNvSpPr txBox="1"/>
          <p:nvPr/>
        </p:nvSpPr>
        <p:spPr>
          <a:xfrm>
            <a:off x="311700" y="2231800"/>
            <a:ext cx="58146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Pocas bases de datos que contaban con expresión de macrófagos humanos </a:t>
            </a:r>
            <a:endParaRPr sz="1800">
              <a:solidFill>
                <a:schemeClr val="dk1"/>
              </a:solidFill>
              <a:latin typeface="Merriweather"/>
              <a:ea typeface="Merriweather"/>
              <a:cs typeface="Merriweather"/>
              <a:sym typeface="Merriweather"/>
            </a:endParaRPr>
          </a:p>
        </p:txBody>
      </p:sp>
      <p:sp>
        <p:nvSpPr>
          <p:cNvPr id="93" name="Google Shape;93;p14"/>
          <p:cNvSpPr txBox="1"/>
          <p:nvPr/>
        </p:nvSpPr>
        <p:spPr>
          <a:xfrm>
            <a:off x="311700" y="3028125"/>
            <a:ext cx="42567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Pocas con muestras diferenciadas según el sexo</a:t>
            </a:r>
            <a:endParaRPr sz="1800">
              <a:solidFill>
                <a:schemeClr val="dk1"/>
              </a:solidFill>
              <a:latin typeface="Merriweather"/>
              <a:ea typeface="Merriweather"/>
              <a:cs typeface="Merriweather"/>
              <a:sym typeface="Merriweather"/>
            </a:endParaRPr>
          </a:p>
        </p:txBody>
      </p:sp>
      <p:pic>
        <p:nvPicPr>
          <p:cNvPr id="94" name="Google Shape;94;p14"/>
          <p:cNvPicPr preferRelativeResize="0"/>
          <p:nvPr/>
        </p:nvPicPr>
        <p:blipFill>
          <a:blip r:embed="rId3">
            <a:alphaModFix/>
          </a:blip>
          <a:stretch>
            <a:fillRect/>
          </a:stretch>
        </p:blipFill>
        <p:spPr>
          <a:xfrm>
            <a:off x="6872375" y="1893300"/>
            <a:ext cx="1278975" cy="1356900"/>
          </a:xfrm>
          <a:prstGeom prst="rect">
            <a:avLst/>
          </a:prstGeom>
          <a:noFill/>
          <a:ln>
            <a:noFill/>
          </a:ln>
        </p:spPr>
      </p:pic>
      <p:sp>
        <p:nvSpPr>
          <p:cNvPr id="95" name="Google Shape;95;p14"/>
          <p:cNvSpPr txBox="1"/>
          <p:nvPr/>
        </p:nvSpPr>
        <p:spPr>
          <a:xfrm>
            <a:off x="311700" y="1435475"/>
            <a:ext cx="53640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Los macrófagos deciduales se expresan diferencialmente segun el sexo del neonato</a:t>
            </a:r>
            <a:r>
              <a:rPr lang="es" sz="1800">
                <a:solidFill>
                  <a:schemeClr val="dk1"/>
                </a:solidFill>
                <a:latin typeface="Merriweather"/>
                <a:ea typeface="Merriweather"/>
                <a:cs typeface="Merriweather"/>
                <a:sym typeface="Merriweather"/>
              </a:rPr>
              <a:t> </a:t>
            </a:r>
            <a:endParaRPr sz="1800">
              <a:solidFill>
                <a:schemeClr val="dk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311700" y="121775"/>
            <a:ext cx="8520600" cy="1125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2444">
                <a:latin typeface="Montserrat"/>
                <a:ea typeface="Montserrat"/>
                <a:cs typeface="Montserrat"/>
                <a:sym typeface="Montserrat"/>
              </a:rPr>
              <a:t>GSE 30595</a:t>
            </a:r>
            <a:r>
              <a:rPr lang="es">
                <a:latin typeface="Montserrat"/>
                <a:ea typeface="Montserrat"/>
                <a:cs typeface="Montserrat"/>
                <a:sym typeface="Montserrat"/>
              </a:rPr>
              <a:t> - “</a:t>
            </a:r>
            <a:r>
              <a:rPr b="1" lang="es" sz="2222">
                <a:latin typeface="Montserrat"/>
                <a:ea typeface="Montserrat"/>
                <a:cs typeface="Montserrat"/>
                <a:sym typeface="Montserrat"/>
              </a:rPr>
              <a:t>Gene expression profile of decidual macrophages and different in vitro M1 and M2 macrophage populations</a:t>
            </a:r>
            <a:r>
              <a:rPr b="1" lang="es" sz="2111">
                <a:latin typeface="Montserrat"/>
                <a:ea typeface="Montserrat"/>
                <a:cs typeface="Montserrat"/>
                <a:sym typeface="Montserrat"/>
              </a:rPr>
              <a:t>”</a:t>
            </a:r>
            <a:endParaRPr b="1" sz="1667">
              <a:latin typeface="Montserrat"/>
              <a:ea typeface="Montserrat"/>
              <a:cs typeface="Montserrat"/>
              <a:sym typeface="Montserrat"/>
            </a:endParaRPr>
          </a:p>
        </p:txBody>
      </p:sp>
      <p:sp>
        <p:nvSpPr>
          <p:cNvPr id="101" name="Google Shape;101;p15"/>
          <p:cNvSpPr txBox="1"/>
          <p:nvPr>
            <p:ph idx="1" type="body"/>
          </p:nvPr>
        </p:nvSpPr>
        <p:spPr>
          <a:xfrm>
            <a:off x="3835450" y="1823850"/>
            <a:ext cx="1987800" cy="365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523"/>
              <a:buNone/>
            </a:pPr>
            <a:r>
              <a:rPr lang="es" sz="1455">
                <a:latin typeface="Montserrat"/>
                <a:ea typeface="Montserrat"/>
                <a:cs typeface="Montserrat"/>
                <a:sym typeface="Montserrat"/>
              </a:rPr>
              <a:t>75 muestras totales (células CD14+)</a:t>
            </a:r>
            <a:endParaRPr sz="1455">
              <a:latin typeface="Montserrat"/>
              <a:ea typeface="Montserrat"/>
              <a:cs typeface="Montserrat"/>
              <a:sym typeface="Montserrat"/>
            </a:endParaRPr>
          </a:p>
        </p:txBody>
      </p:sp>
      <p:sp>
        <p:nvSpPr>
          <p:cNvPr id="102" name="Google Shape;102;p15"/>
          <p:cNvSpPr txBox="1"/>
          <p:nvPr/>
        </p:nvSpPr>
        <p:spPr>
          <a:xfrm>
            <a:off x="6206537" y="2370135"/>
            <a:ext cx="1473900" cy="42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highlight>
                  <a:srgbClr val="EA9999"/>
                </a:highlight>
                <a:latin typeface="Montserrat"/>
                <a:ea typeface="Montserrat"/>
                <a:cs typeface="Montserrat"/>
                <a:sym typeface="Montserrat"/>
              </a:rPr>
              <a:t>3 de sangre</a:t>
            </a:r>
            <a:endParaRPr>
              <a:solidFill>
                <a:schemeClr val="dk2"/>
              </a:solidFill>
              <a:highlight>
                <a:srgbClr val="EA9999"/>
              </a:highlight>
              <a:latin typeface="Montserrat"/>
              <a:ea typeface="Montserrat"/>
              <a:cs typeface="Montserrat"/>
              <a:sym typeface="Montserrat"/>
            </a:endParaRPr>
          </a:p>
        </p:txBody>
      </p:sp>
      <p:cxnSp>
        <p:nvCxnSpPr>
          <p:cNvPr id="103" name="Google Shape;103;p15"/>
          <p:cNvCxnSpPr>
            <a:stCxn id="101" idx="3"/>
            <a:endCxn id="102" idx="1"/>
          </p:cNvCxnSpPr>
          <p:nvPr/>
        </p:nvCxnSpPr>
        <p:spPr>
          <a:xfrm>
            <a:off x="5823250" y="2006550"/>
            <a:ext cx="383400" cy="575100"/>
          </a:xfrm>
          <a:prstGeom prst="straightConnector1">
            <a:avLst/>
          </a:prstGeom>
          <a:noFill/>
          <a:ln cap="flat" cmpd="sng" w="9525">
            <a:solidFill>
              <a:schemeClr val="dk2"/>
            </a:solidFill>
            <a:prstDash val="solid"/>
            <a:round/>
            <a:headEnd len="med" w="med" type="none"/>
            <a:tailEnd len="med" w="med" type="stealth"/>
          </a:ln>
        </p:spPr>
      </p:cxnSp>
      <p:sp>
        <p:nvSpPr>
          <p:cNvPr id="104" name="Google Shape;104;p15"/>
          <p:cNvSpPr txBox="1"/>
          <p:nvPr/>
        </p:nvSpPr>
        <p:spPr>
          <a:xfrm>
            <a:off x="6206537" y="2127360"/>
            <a:ext cx="15387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highlight>
                  <a:srgbClr val="EA9999"/>
                </a:highlight>
                <a:latin typeface="Montserrat"/>
                <a:ea typeface="Montserrat"/>
                <a:cs typeface="Montserrat"/>
                <a:sym typeface="Montserrat"/>
              </a:rPr>
              <a:t>3 de decidua</a:t>
            </a:r>
            <a:endParaRPr>
              <a:solidFill>
                <a:schemeClr val="dk2"/>
              </a:solidFill>
              <a:highlight>
                <a:srgbClr val="EA9999"/>
              </a:highlight>
              <a:latin typeface="Montserrat"/>
              <a:ea typeface="Montserrat"/>
              <a:cs typeface="Montserrat"/>
              <a:sym typeface="Montserrat"/>
            </a:endParaRPr>
          </a:p>
        </p:txBody>
      </p:sp>
      <p:cxnSp>
        <p:nvCxnSpPr>
          <p:cNvPr id="105" name="Google Shape;105;p15"/>
          <p:cNvCxnSpPr>
            <a:stCxn id="101" idx="3"/>
            <a:endCxn id="104" idx="1"/>
          </p:cNvCxnSpPr>
          <p:nvPr/>
        </p:nvCxnSpPr>
        <p:spPr>
          <a:xfrm>
            <a:off x="5823250" y="2006550"/>
            <a:ext cx="383400" cy="260400"/>
          </a:xfrm>
          <a:prstGeom prst="straightConnector1">
            <a:avLst/>
          </a:prstGeom>
          <a:noFill/>
          <a:ln cap="flat" cmpd="sng" w="9525">
            <a:solidFill>
              <a:schemeClr val="dk2"/>
            </a:solidFill>
            <a:prstDash val="solid"/>
            <a:round/>
            <a:headEnd len="med" w="med" type="none"/>
            <a:tailEnd len="med" w="med" type="stealth"/>
          </a:ln>
        </p:spPr>
      </p:cxnSp>
      <p:sp>
        <p:nvSpPr>
          <p:cNvPr id="106" name="Google Shape;106;p15"/>
          <p:cNvSpPr txBox="1"/>
          <p:nvPr/>
        </p:nvSpPr>
        <p:spPr>
          <a:xfrm>
            <a:off x="6206653" y="1823839"/>
            <a:ext cx="30924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latin typeface="Montserrat"/>
                <a:ea typeface="Montserrat"/>
                <a:cs typeface="Montserrat"/>
                <a:sym typeface="Montserrat"/>
              </a:rPr>
              <a:t>14 de mujeres no embarazadas</a:t>
            </a:r>
            <a:endParaRPr>
              <a:solidFill>
                <a:schemeClr val="dk2"/>
              </a:solidFill>
              <a:latin typeface="Montserrat"/>
              <a:ea typeface="Montserrat"/>
              <a:cs typeface="Montserrat"/>
              <a:sym typeface="Montserrat"/>
            </a:endParaRPr>
          </a:p>
        </p:txBody>
      </p:sp>
      <p:cxnSp>
        <p:nvCxnSpPr>
          <p:cNvPr id="107" name="Google Shape;107;p15"/>
          <p:cNvCxnSpPr>
            <a:stCxn id="101" idx="3"/>
          </p:cNvCxnSpPr>
          <p:nvPr/>
        </p:nvCxnSpPr>
        <p:spPr>
          <a:xfrm>
            <a:off x="5823250" y="2006550"/>
            <a:ext cx="404100" cy="1800"/>
          </a:xfrm>
          <a:prstGeom prst="straightConnector1">
            <a:avLst/>
          </a:prstGeom>
          <a:noFill/>
          <a:ln cap="flat" cmpd="sng" w="9525">
            <a:solidFill>
              <a:schemeClr val="dk2"/>
            </a:solidFill>
            <a:prstDash val="solid"/>
            <a:round/>
            <a:headEnd len="med" w="med" type="none"/>
            <a:tailEnd len="med" w="med" type="stealth"/>
          </a:ln>
        </p:spPr>
      </p:cxnSp>
      <p:sp>
        <p:nvSpPr>
          <p:cNvPr id="108" name="Google Shape;108;p15"/>
          <p:cNvSpPr txBox="1"/>
          <p:nvPr/>
        </p:nvSpPr>
        <p:spPr>
          <a:xfrm>
            <a:off x="6186553" y="1588038"/>
            <a:ext cx="2781600" cy="27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500">
                <a:solidFill>
                  <a:schemeClr val="dk2"/>
                </a:solidFill>
                <a:highlight>
                  <a:srgbClr val="D9EAD3"/>
                </a:highlight>
                <a:latin typeface="Montserrat"/>
                <a:ea typeface="Montserrat"/>
                <a:cs typeface="Montserrat"/>
                <a:sym typeface="Montserrat"/>
              </a:rPr>
              <a:t>55 de macrofagos in vitro</a:t>
            </a:r>
            <a:endParaRPr b="1" sz="1500">
              <a:solidFill>
                <a:schemeClr val="dk2"/>
              </a:solidFill>
              <a:highlight>
                <a:srgbClr val="D9EAD3"/>
              </a:highlight>
              <a:latin typeface="Montserrat"/>
              <a:ea typeface="Montserrat"/>
              <a:cs typeface="Montserrat"/>
              <a:sym typeface="Montserrat"/>
            </a:endParaRPr>
          </a:p>
        </p:txBody>
      </p:sp>
      <p:cxnSp>
        <p:nvCxnSpPr>
          <p:cNvPr id="109" name="Google Shape;109;p15"/>
          <p:cNvCxnSpPr>
            <a:stCxn id="101" idx="3"/>
            <a:endCxn id="108" idx="1"/>
          </p:cNvCxnSpPr>
          <p:nvPr/>
        </p:nvCxnSpPr>
        <p:spPr>
          <a:xfrm flipH="1" rot="10800000">
            <a:off x="5823250" y="1727550"/>
            <a:ext cx="363300" cy="279000"/>
          </a:xfrm>
          <a:prstGeom prst="straightConnector1">
            <a:avLst/>
          </a:prstGeom>
          <a:noFill/>
          <a:ln cap="flat" cmpd="sng" w="9525">
            <a:solidFill>
              <a:schemeClr val="dk2"/>
            </a:solidFill>
            <a:prstDash val="solid"/>
            <a:round/>
            <a:headEnd len="med" w="med" type="none"/>
            <a:tailEnd len="med" w="med" type="stealth"/>
          </a:ln>
        </p:spPr>
      </p:cxnSp>
      <p:sp>
        <p:nvSpPr>
          <p:cNvPr id="110" name="Google Shape;110;p15"/>
          <p:cNvSpPr txBox="1"/>
          <p:nvPr/>
        </p:nvSpPr>
        <p:spPr>
          <a:xfrm>
            <a:off x="2918800" y="3026125"/>
            <a:ext cx="3821100" cy="112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2"/>
                </a:solidFill>
                <a:latin typeface="Montserrat"/>
                <a:ea typeface="Montserrat"/>
                <a:cs typeface="Montserrat"/>
                <a:sym typeface="Montserrat"/>
              </a:rPr>
              <a:t>Filtro: </a:t>
            </a:r>
            <a:r>
              <a:rPr lang="es">
                <a:solidFill>
                  <a:schemeClr val="dk2"/>
                </a:solidFill>
                <a:latin typeface="Montserrat"/>
                <a:ea typeface="Montserrat"/>
                <a:cs typeface="Montserrat"/>
                <a:sym typeface="Montserrat"/>
              </a:rPr>
              <a:t>Criterios de clasificación clásicos</a:t>
            </a:r>
            <a:endParaRPr>
              <a:solidFill>
                <a:schemeClr val="dk2"/>
              </a:solidFill>
              <a:latin typeface="Montserrat"/>
              <a:ea typeface="Montserrat"/>
              <a:cs typeface="Montserrat"/>
              <a:sym typeface="Montserrat"/>
            </a:endParaRPr>
          </a:p>
          <a:p>
            <a:pPr indent="0" lvl="0" marL="457200" rtl="0" algn="l">
              <a:spcBef>
                <a:spcPts val="0"/>
              </a:spcBef>
              <a:spcAft>
                <a:spcPts val="0"/>
              </a:spcAft>
              <a:buNone/>
            </a:pPr>
            <a:r>
              <a:t/>
            </a:r>
            <a:endParaRPr>
              <a:solidFill>
                <a:schemeClr val="dk2"/>
              </a:solidFill>
              <a:latin typeface="Montserrat"/>
              <a:ea typeface="Montserrat"/>
              <a:cs typeface="Montserrat"/>
              <a:sym typeface="Montserrat"/>
            </a:endParaRPr>
          </a:p>
          <a:p>
            <a:pPr indent="-317500" lvl="1" marL="9144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M-CSF + IL4/13 —&gt; M2</a:t>
            </a:r>
            <a:endParaRPr>
              <a:solidFill>
                <a:schemeClr val="dk2"/>
              </a:solidFill>
              <a:latin typeface="Montserrat"/>
              <a:ea typeface="Montserrat"/>
              <a:cs typeface="Montserrat"/>
              <a:sym typeface="Montserrat"/>
            </a:endParaRPr>
          </a:p>
          <a:p>
            <a:pPr indent="-317500" lvl="1" marL="9144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GM-CSF/LPS/IFN —&gt; M1</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p:txBody>
      </p:sp>
      <p:sp>
        <p:nvSpPr>
          <p:cNvPr id="111" name="Google Shape;111;p15"/>
          <p:cNvSpPr txBox="1"/>
          <p:nvPr/>
        </p:nvSpPr>
        <p:spPr>
          <a:xfrm>
            <a:off x="274750" y="1529450"/>
            <a:ext cx="3205500" cy="14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u="sng">
                <a:solidFill>
                  <a:schemeClr val="dk2"/>
                </a:solidFill>
                <a:latin typeface="Montserrat"/>
                <a:ea typeface="Montserrat"/>
                <a:cs typeface="Montserrat"/>
                <a:sym typeface="Montserrat"/>
              </a:rPr>
              <a:t>Técnica experimental</a:t>
            </a:r>
            <a:endParaRPr b="1" u="sng">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Microarray de un solo color</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rPr lang="es">
                <a:solidFill>
                  <a:schemeClr val="dk2"/>
                </a:solidFill>
                <a:latin typeface="Montserrat"/>
                <a:ea typeface="Montserrat"/>
                <a:cs typeface="Montserrat"/>
                <a:sym typeface="Montserrat"/>
              </a:rPr>
              <a:t>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Agilent-028100 HumanMacroTreg</a:t>
            </a:r>
            <a:endParaRPr>
              <a:solidFill>
                <a:schemeClr val="dk2"/>
              </a:solidFill>
              <a:latin typeface="Montserrat"/>
              <a:ea typeface="Montserrat"/>
              <a:cs typeface="Montserrat"/>
              <a:sym typeface="Montserrat"/>
            </a:endParaRPr>
          </a:p>
        </p:txBody>
      </p:sp>
      <p:cxnSp>
        <p:nvCxnSpPr>
          <p:cNvPr id="112" name="Google Shape;112;p15"/>
          <p:cNvCxnSpPr>
            <a:endCxn id="110" idx="0"/>
          </p:cNvCxnSpPr>
          <p:nvPr/>
        </p:nvCxnSpPr>
        <p:spPr>
          <a:xfrm>
            <a:off x="4826050" y="2574625"/>
            <a:ext cx="3300" cy="4515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311700" y="121775"/>
            <a:ext cx="8520600" cy="1125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2444">
                <a:latin typeface="Montserrat"/>
                <a:ea typeface="Montserrat"/>
                <a:cs typeface="Montserrat"/>
                <a:sym typeface="Montserrat"/>
              </a:rPr>
              <a:t>GSE 30595</a:t>
            </a:r>
            <a:r>
              <a:rPr lang="es">
                <a:latin typeface="Montserrat"/>
                <a:ea typeface="Montserrat"/>
                <a:cs typeface="Montserrat"/>
                <a:sym typeface="Montserrat"/>
              </a:rPr>
              <a:t> - “</a:t>
            </a:r>
            <a:r>
              <a:rPr b="1" lang="es" sz="2222">
                <a:latin typeface="Montserrat"/>
                <a:ea typeface="Montserrat"/>
                <a:cs typeface="Montserrat"/>
                <a:sym typeface="Montserrat"/>
              </a:rPr>
              <a:t>Gene expression profile of decidual macrophages and different in vitro M1 and M2 macrophage populations</a:t>
            </a:r>
            <a:r>
              <a:rPr b="1" lang="es" sz="2111">
                <a:latin typeface="Montserrat"/>
                <a:ea typeface="Montserrat"/>
                <a:cs typeface="Montserrat"/>
                <a:sym typeface="Montserrat"/>
              </a:rPr>
              <a:t>”</a:t>
            </a:r>
            <a:endParaRPr b="1" sz="1667">
              <a:latin typeface="Montserrat"/>
              <a:ea typeface="Montserrat"/>
              <a:cs typeface="Montserrat"/>
              <a:sym typeface="Montserrat"/>
            </a:endParaRPr>
          </a:p>
        </p:txBody>
      </p:sp>
      <p:sp>
        <p:nvSpPr>
          <p:cNvPr id="118" name="Google Shape;118;p16"/>
          <p:cNvSpPr txBox="1"/>
          <p:nvPr>
            <p:ph type="title"/>
          </p:nvPr>
        </p:nvSpPr>
        <p:spPr>
          <a:xfrm>
            <a:off x="311700" y="1685675"/>
            <a:ext cx="8520600" cy="331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sz="2444">
                <a:latin typeface="Montserrat"/>
                <a:ea typeface="Montserrat"/>
                <a:cs typeface="Montserrat"/>
                <a:sym typeface="Montserrat"/>
              </a:rPr>
              <a:t>Objetivo </a:t>
            </a:r>
            <a:r>
              <a:rPr lang="es" sz="2444">
                <a:latin typeface="Montserrat"/>
                <a:ea typeface="Montserrat"/>
                <a:cs typeface="Montserrat"/>
                <a:sym typeface="Montserrat"/>
              </a:rPr>
              <a:t>específico</a:t>
            </a:r>
            <a:r>
              <a:rPr lang="es" sz="2444">
                <a:latin typeface="Montserrat"/>
                <a:ea typeface="Montserrat"/>
                <a:cs typeface="Montserrat"/>
                <a:sym typeface="Montserrat"/>
              </a:rPr>
              <a:t>: Encontrar genes diferencialmente expresados según el sexo en las muestras de macrófagos inducidos.</a:t>
            </a:r>
            <a:endParaRPr sz="2444">
              <a:latin typeface="Montserrat"/>
              <a:ea typeface="Montserrat"/>
              <a:cs typeface="Montserrat"/>
              <a:sym typeface="Montserrat"/>
            </a:endParaRPr>
          </a:p>
          <a:p>
            <a:pPr indent="0" lvl="0" marL="0" rtl="0" algn="ctr">
              <a:spcBef>
                <a:spcPts val="0"/>
              </a:spcBef>
              <a:spcAft>
                <a:spcPts val="0"/>
              </a:spcAft>
              <a:buNone/>
            </a:pPr>
            <a:r>
              <a:t/>
            </a:r>
            <a:endParaRPr sz="2444">
              <a:latin typeface="Montserrat"/>
              <a:ea typeface="Montserrat"/>
              <a:cs typeface="Montserrat"/>
              <a:sym typeface="Montserrat"/>
            </a:endParaRPr>
          </a:p>
          <a:p>
            <a:pPr indent="0" lvl="0" marL="0" rtl="0" algn="l">
              <a:spcBef>
                <a:spcPts val="0"/>
              </a:spcBef>
              <a:spcAft>
                <a:spcPts val="0"/>
              </a:spcAft>
              <a:buNone/>
            </a:pPr>
            <a:r>
              <a:t/>
            </a:r>
            <a:endParaRPr sz="2444">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txBox="1"/>
          <p:nvPr>
            <p:ph type="title"/>
          </p:nvPr>
        </p:nvSpPr>
        <p:spPr>
          <a:xfrm>
            <a:off x="311700" y="410000"/>
            <a:ext cx="8520600" cy="838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sz="2444">
                <a:latin typeface="Montserrat"/>
                <a:ea typeface="Montserrat"/>
                <a:cs typeface="Montserrat"/>
                <a:sym typeface="Montserrat"/>
              </a:rPr>
              <a:t>Objetivo: Profundizar en las diferencias de expresión según el sexo encontradas experimentalmente</a:t>
            </a:r>
            <a:endParaRPr b="1" sz="1667">
              <a:latin typeface="Montserrat"/>
              <a:ea typeface="Montserrat"/>
              <a:cs typeface="Montserrat"/>
              <a:sym typeface="Montserrat"/>
            </a:endParaRPr>
          </a:p>
        </p:txBody>
      </p:sp>
      <p:sp>
        <p:nvSpPr>
          <p:cNvPr id="124" name="Google Shape;124;p17"/>
          <p:cNvSpPr txBox="1"/>
          <p:nvPr/>
        </p:nvSpPr>
        <p:spPr>
          <a:xfrm>
            <a:off x="311700" y="1441100"/>
            <a:ext cx="42567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Necesitábamos</a:t>
            </a:r>
            <a:r>
              <a:rPr lang="es" sz="1800">
                <a:solidFill>
                  <a:schemeClr val="dk1"/>
                </a:solidFill>
                <a:latin typeface="Merriweather"/>
                <a:ea typeface="Merriweather"/>
                <a:cs typeface="Merriweather"/>
                <a:sym typeface="Merriweather"/>
              </a:rPr>
              <a:t> datos </a:t>
            </a:r>
            <a:endParaRPr sz="1800">
              <a:solidFill>
                <a:schemeClr val="dk1"/>
              </a:solidFill>
              <a:latin typeface="Merriweather"/>
              <a:ea typeface="Merriweather"/>
              <a:cs typeface="Merriweather"/>
              <a:sym typeface="Merriweather"/>
            </a:endParaRPr>
          </a:p>
        </p:txBody>
      </p:sp>
      <p:sp>
        <p:nvSpPr>
          <p:cNvPr id="125" name="Google Shape;125;p17"/>
          <p:cNvSpPr txBox="1"/>
          <p:nvPr/>
        </p:nvSpPr>
        <p:spPr>
          <a:xfrm>
            <a:off x="311700" y="2083850"/>
            <a:ext cx="58146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Pocas bases de datos que contaban con expresión de macrófagos humanos </a:t>
            </a:r>
            <a:endParaRPr sz="1800">
              <a:solidFill>
                <a:schemeClr val="dk1"/>
              </a:solidFill>
              <a:latin typeface="Merriweather"/>
              <a:ea typeface="Merriweather"/>
              <a:cs typeface="Merriweather"/>
              <a:sym typeface="Merriweather"/>
            </a:endParaRPr>
          </a:p>
        </p:txBody>
      </p:sp>
      <p:sp>
        <p:nvSpPr>
          <p:cNvPr id="126" name="Google Shape;126;p17"/>
          <p:cNvSpPr txBox="1"/>
          <p:nvPr/>
        </p:nvSpPr>
        <p:spPr>
          <a:xfrm>
            <a:off x="311700" y="3003800"/>
            <a:ext cx="42567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Merriweather"/>
              <a:buChar char="●"/>
            </a:pPr>
            <a:r>
              <a:rPr lang="es" sz="1800">
                <a:solidFill>
                  <a:schemeClr val="dk1"/>
                </a:solidFill>
                <a:latin typeface="Merriweather"/>
                <a:ea typeface="Merriweather"/>
                <a:cs typeface="Merriweather"/>
                <a:sym typeface="Merriweather"/>
              </a:rPr>
              <a:t>Pocas con muestras diferenciadas según el sexo</a:t>
            </a:r>
            <a:endParaRPr sz="1800">
              <a:solidFill>
                <a:schemeClr val="dk1"/>
              </a:solidFill>
              <a:latin typeface="Merriweather"/>
              <a:ea typeface="Merriweather"/>
              <a:cs typeface="Merriweather"/>
              <a:sym typeface="Merriweather"/>
            </a:endParaRPr>
          </a:p>
        </p:txBody>
      </p:sp>
      <p:pic>
        <p:nvPicPr>
          <p:cNvPr id="127" name="Google Shape;127;p17"/>
          <p:cNvPicPr preferRelativeResize="0"/>
          <p:nvPr/>
        </p:nvPicPr>
        <p:blipFill>
          <a:blip r:embed="rId3">
            <a:alphaModFix/>
          </a:blip>
          <a:stretch>
            <a:fillRect/>
          </a:stretch>
        </p:blipFill>
        <p:spPr>
          <a:xfrm>
            <a:off x="6458525" y="1769100"/>
            <a:ext cx="1415575" cy="1501801"/>
          </a:xfrm>
          <a:prstGeom prst="rect">
            <a:avLst/>
          </a:prstGeom>
          <a:noFill/>
          <a:ln>
            <a:noFill/>
          </a:ln>
        </p:spPr>
      </p:pic>
      <p:sp>
        <p:nvSpPr>
          <p:cNvPr id="128" name="Google Shape;128;p17"/>
          <p:cNvSpPr/>
          <p:nvPr/>
        </p:nvSpPr>
        <p:spPr>
          <a:xfrm>
            <a:off x="311700" y="2795600"/>
            <a:ext cx="3739500" cy="1155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9" name="Google Shape;129;p17"/>
          <p:cNvCxnSpPr/>
          <p:nvPr/>
        </p:nvCxnSpPr>
        <p:spPr>
          <a:xfrm rot="10800000">
            <a:off x="3901875" y="3872475"/>
            <a:ext cx="1034700" cy="702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275675"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S</a:t>
            </a:r>
            <a:r>
              <a:rPr lang="es" u="sng">
                <a:latin typeface="Montserrat"/>
                <a:ea typeface="Montserrat"/>
                <a:cs typeface="Montserrat"/>
                <a:sym typeface="Montserrat"/>
              </a:rPr>
              <a:t>exos de las muestras M1</a:t>
            </a:r>
            <a:endParaRPr u="sng">
              <a:latin typeface="Montserrat"/>
              <a:ea typeface="Montserrat"/>
              <a:cs typeface="Montserrat"/>
              <a:sym typeface="Montserrat"/>
            </a:endParaRPr>
          </a:p>
        </p:txBody>
      </p:sp>
      <p:sp>
        <p:nvSpPr>
          <p:cNvPr id="135" name="Google Shape;135;p18"/>
          <p:cNvSpPr txBox="1"/>
          <p:nvPr/>
        </p:nvSpPr>
        <p:spPr>
          <a:xfrm>
            <a:off x="6562650" y="1199500"/>
            <a:ext cx="2377200" cy="27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Se determinó el sexo de cada muestra realizando un </a:t>
            </a:r>
            <a:r>
              <a:rPr lang="es" sz="1200">
                <a:solidFill>
                  <a:schemeClr val="dk2"/>
                </a:solidFill>
                <a:latin typeface="Montserrat"/>
                <a:ea typeface="Montserrat"/>
                <a:cs typeface="Montserrat"/>
                <a:sym typeface="Montserrat"/>
              </a:rPr>
              <a:t>heatmap para la expresión de 5 genes del cromosoma Y, además de un </a:t>
            </a:r>
            <a:r>
              <a:rPr lang="es" sz="1200">
                <a:solidFill>
                  <a:schemeClr val="dk2"/>
                </a:solidFill>
                <a:latin typeface="Montserrat"/>
                <a:ea typeface="Montserrat"/>
                <a:cs typeface="Montserrat"/>
                <a:sym typeface="Montserrat"/>
              </a:rPr>
              <a:t>PCA plot en R.</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rPr lang="es" sz="1200">
                <a:solidFill>
                  <a:schemeClr val="dk2"/>
                </a:solidFill>
                <a:latin typeface="Montserrat"/>
                <a:ea typeface="Montserrat"/>
                <a:cs typeface="Montserrat"/>
                <a:sym typeface="Montserrat"/>
              </a:rPr>
              <a:t>Con estos datos pasamos a realizar los contrastes de expresión diferencial </a:t>
            </a:r>
            <a:endParaRPr sz="1200">
              <a:solidFill>
                <a:schemeClr val="dk2"/>
              </a:solidFill>
              <a:latin typeface="Montserrat"/>
              <a:ea typeface="Montserrat"/>
              <a:cs typeface="Montserrat"/>
              <a:sym typeface="Montserrat"/>
            </a:endParaRPr>
          </a:p>
        </p:txBody>
      </p:sp>
      <p:sp>
        <p:nvSpPr>
          <p:cNvPr id="136" name="Google Shape;136;p18"/>
          <p:cNvSpPr txBox="1"/>
          <p:nvPr/>
        </p:nvSpPr>
        <p:spPr>
          <a:xfrm>
            <a:off x="275675" y="4185925"/>
            <a:ext cx="28866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 Heatmap de la expresión de genes del cromosoma Y para las muestras M1, generado con la función pheatmap en R. </a:t>
            </a:r>
            <a:endParaRPr i="1" sz="1000">
              <a:solidFill>
                <a:schemeClr val="dk2"/>
              </a:solidFill>
              <a:latin typeface="Roboto"/>
              <a:ea typeface="Roboto"/>
              <a:cs typeface="Roboto"/>
              <a:sym typeface="Roboto"/>
            </a:endParaRPr>
          </a:p>
        </p:txBody>
      </p:sp>
      <p:sp>
        <p:nvSpPr>
          <p:cNvPr id="137" name="Google Shape;137;p18"/>
          <p:cNvSpPr txBox="1"/>
          <p:nvPr/>
        </p:nvSpPr>
        <p:spPr>
          <a:xfrm>
            <a:off x="3551575" y="4149725"/>
            <a:ext cx="28071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2. PCA plot para las muestras M1 teniendo en cuenta la expresión de genes del cromosoma Y. En rojo muestras femeninas y en azul masculinas</a:t>
            </a:r>
            <a:endParaRPr i="1" sz="1000">
              <a:solidFill>
                <a:schemeClr val="dk2"/>
              </a:solidFill>
              <a:latin typeface="Roboto"/>
              <a:ea typeface="Roboto"/>
              <a:cs typeface="Roboto"/>
              <a:sym typeface="Roboto"/>
            </a:endParaRPr>
          </a:p>
        </p:txBody>
      </p:sp>
      <p:pic>
        <p:nvPicPr>
          <p:cNvPr id="138" name="Google Shape;138;p18"/>
          <p:cNvPicPr preferRelativeResize="0"/>
          <p:nvPr/>
        </p:nvPicPr>
        <p:blipFill>
          <a:blip r:embed="rId3">
            <a:alphaModFix/>
          </a:blip>
          <a:stretch>
            <a:fillRect/>
          </a:stretch>
        </p:blipFill>
        <p:spPr>
          <a:xfrm>
            <a:off x="355525" y="1252425"/>
            <a:ext cx="2899575" cy="2899575"/>
          </a:xfrm>
          <a:prstGeom prst="rect">
            <a:avLst/>
          </a:prstGeom>
          <a:noFill/>
          <a:ln>
            <a:noFill/>
          </a:ln>
        </p:spPr>
      </p:pic>
      <p:pic>
        <p:nvPicPr>
          <p:cNvPr id="139" name="Google Shape;139;p18"/>
          <p:cNvPicPr preferRelativeResize="0"/>
          <p:nvPr/>
        </p:nvPicPr>
        <p:blipFill>
          <a:blip r:embed="rId4">
            <a:alphaModFix/>
          </a:blip>
          <a:stretch>
            <a:fillRect/>
          </a:stretch>
        </p:blipFill>
        <p:spPr>
          <a:xfrm>
            <a:off x="3459088" y="1252425"/>
            <a:ext cx="2899575" cy="2899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275675"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Sexos de las muestras M2</a:t>
            </a:r>
            <a:endParaRPr u="sng">
              <a:latin typeface="Montserrat"/>
              <a:ea typeface="Montserrat"/>
              <a:cs typeface="Montserrat"/>
              <a:sym typeface="Montserrat"/>
            </a:endParaRPr>
          </a:p>
        </p:txBody>
      </p:sp>
      <p:sp>
        <p:nvSpPr>
          <p:cNvPr id="145" name="Google Shape;145;p19"/>
          <p:cNvSpPr txBox="1"/>
          <p:nvPr/>
        </p:nvSpPr>
        <p:spPr>
          <a:xfrm>
            <a:off x="6562650" y="1199500"/>
            <a:ext cx="2377200" cy="27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Se determinó el sexo de cada muestra realizando un heatmap para la expresión de 5 genes del cromosoma Y un PCA plot en R-</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rPr lang="es" sz="1200">
                <a:solidFill>
                  <a:schemeClr val="dk2"/>
                </a:solidFill>
                <a:latin typeface="Montserrat"/>
                <a:ea typeface="Montserrat"/>
                <a:cs typeface="Montserrat"/>
                <a:sym typeface="Montserrat"/>
              </a:rPr>
              <a:t>Con estos datos pasamos a realizar los contrastes de expresión diferencial </a:t>
            </a:r>
            <a:endParaRPr sz="1200">
              <a:solidFill>
                <a:schemeClr val="dk2"/>
              </a:solidFill>
              <a:latin typeface="Montserrat"/>
              <a:ea typeface="Montserrat"/>
              <a:cs typeface="Montserrat"/>
              <a:sym typeface="Montserrat"/>
            </a:endParaRPr>
          </a:p>
        </p:txBody>
      </p:sp>
      <p:sp>
        <p:nvSpPr>
          <p:cNvPr id="146" name="Google Shape;146;p19"/>
          <p:cNvSpPr txBox="1"/>
          <p:nvPr/>
        </p:nvSpPr>
        <p:spPr>
          <a:xfrm>
            <a:off x="207575" y="4193150"/>
            <a:ext cx="30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3. Heatmap de la expresión de genes del cromosoma Y para las muestras M2, generado con la función pheatmap en R. </a:t>
            </a:r>
            <a:endParaRPr i="1" sz="1000">
              <a:solidFill>
                <a:schemeClr val="dk2"/>
              </a:solidFill>
              <a:latin typeface="Roboto"/>
              <a:ea typeface="Roboto"/>
              <a:cs typeface="Roboto"/>
              <a:sym typeface="Roboto"/>
            </a:endParaRPr>
          </a:p>
        </p:txBody>
      </p:sp>
      <p:sp>
        <p:nvSpPr>
          <p:cNvPr id="147" name="Google Shape;147;p19"/>
          <p:cNvSpPr txBox="1"/>
          <p:nvPr/>
        </p:nvSpPr>
        <p:spPr>
          <a:xfrm>
            <a:off x="3417838" y="4193150"/>
            <a:ext cx="30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4. PCA plot para las muestras M2 teniendo en cuenta la expresión de genes del cromosoma Y. En rojo muestras femeninas y en azul masculinas.</a:t>
            </a:r>
            <a:endParaRPr i="1" sz="1000">
              <a:solidFill>
                <a:schemeClr val="dk2"/>
              </a:solidFill>
              <a:latin typeface="Roboto"/>
              <a:ea typeface="Roboto"/>
              <a:cs typeface="Roboto"/>
              <a:sym typeface="Roboto"/>
            </a:endParaRPr>
          </a:p>
        </p:txBody>
      </p:sp>
      <p:pic>
        <p:nvPicPr>
          <p:cNvPr id="148" name="Google Shape;148;p19"/>
          <p:cNvPicPr preferRelativeResize="0"/>
          <p:nvPr/>
        </p:nvPicPr>
        <p:blipFill>
          <a:blip r:embed="rId3">
            <a:alphaModFix/>
          </a:blip>
          <a:stretch>
            <a:fillRect/>
          </a:stretch>
        </p:blipFill>
        <p:spPr>
          <a:xfrm>
            <a:off x="233825" y="1131725"/>
            <a:ext cx="2947501" cy="2947501"/>
          </a:xfrm>
          <a:prstGeom prst="rect">
            <a:avLst/>
          </a:prstGeom>
          <a:noFill/>
          <a:ln>
            <a:noFill/>
          </a:ln>
        </p:spPr>
      </p:pic>
      <p:pic>
        <p:nvPicPr>
          <p:cNvPr id="149" name="Google Shape;149;p19"/>
          <p:cNvPicPr preferRelativeResize="0"/>
          <p:nvPr/>
        </p:nvPicPr>
        <p:blipFill>
          <a:blip r:embed="rId4">
            <a:alphaModFix/>
          </a:blip>
          <a:stretch>
            <a:fillRect/>
          </a:stretch>
        </p:blipFill>
        <p:spPr>
          <a:xfrm>
            <a:off x="3359975" y="1170200"/>
            <a:ext cx="2947501" cy="2947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sz="3111">
                <a:latin typeface="Montserrat"/>
                <a:ea typeface="Montserrat"/>
                <a:cs typeface="Montserrat"/>
                <a:sym typeface="Montserrat"/>
              </a:rPr>
              <a:t>Workflow </a:t>
            </a:r>
            <a:endParaRPr b="1" sz="3111">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p:txBody>
      </p:sp>
      <p:sp>
        <p:nvSpPr>
          <p:cNvPr id="155" name="Google Shape;155;p20"/>
          <p:cNvSpPr txBox="1"/>
          <p:nvPr/>
        </p:nvSpPr>
        <p:spPr>
          <a:xfrm>
            <a:off x="3519000" y="1061575"/>
            <a:ext cx="19860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Muestras </a:t>
            </a:r>
            <a:r>
              <a:rPr lang="es">
                <a:solidFill>
                  <a:schemeClr val="dk1"/>
                </a:solidFill>
                <a:latin typeface="Montserrat"/>
                <a:ea typeface="Montserrat"/>
                <a:cs typeface="Montserrat"/>
                <a:sym typeface="Montserrat"/>
              </a:rPr>
              <a:t>GSE 30595</a:t>
            </a:r>
            <a:endParaRPr>
              <a:solidFill>
                <a:schemeClr val="dk1"/>
              </a:solidFill>
              <a:latin typeface="Montserrat"/>
              <a:ea typeface="Montserrat"/>
              <a:cs typeface="Montserrat"/>
              <a:sym typeface="Montserrat"/>
            </a:endParaRPr>
          </a:p>
        </p:txBody>
      </p:sp>
      <p:sp>
        <p:nvSpPr>
          <p:cNvPr id="156" name="Google Shape;156;p20"/>
          <p:cNvSpPr txBox="1"/>
          <p:nvPr/>
        </p:nvSpPr>
        <p:spPr>
          <a:xfrm>
            <a:off x="3482400" y="1766275"/>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División en M1 y M2</a:t>
            </a:r>
            <a:endParaRPr>
              <a:solidFill>
                <a:schemeClr val="dk1"/>
              </a:solidFill>
              <a:latin typeface="Montserrat"/>
              <a:ea typeface="Montserrat"/>
              <a:cs typeface="Montserrat"/>
              <a:sym typeface="Montserrat"/>
            </a:endParaRPr>
          </a:p>
        </p:txBody>
      </p:sp>
      <p:cxnSp>
        <p:nvCxnSpPr>
          <p:cNvPr id="157" name="Google Shape;157;p20"/>
          <p:cNvCxnSpPr>
            <a:stCxn id="155" idx="2"/>
          </p:cNvCxnSpPr>
          <p:nvPr/>
        </p:nvCxnSpPr>
        <p:spPr>
          <a:xfrm>
            <a:off x="4512000" y="1479175"/>
            <a:ext cx="3300" cy="287100"/>
          </a:xfrm>
          <a:prstGeom prst="straightConnector1">
            <a:avLst/>
          </a:prstGeom>
          <a:noFill/>
          <a:ln cap="flat" cmpd="sng" w="9525">
            <a:solidFill>
              <a:schemeClr val="dk2"/>
            </a:solidFill>
            <a:prstDash val="solid"/>
            <a:round/>
            <a:headEnd len="med" w="med" type="none"/>
            <a:tailEnd len="med" w="med" type="triangle"/>
          </a:ln>
        </p:spPr>
      </p:cxnSp>
      <p:sp>
        <p:nvSpPr>
          <p:cNvPr id="158" name="Google Shape;158;p20"/>
          <p:cNvSpPr txBox="1"/>
          <p:nvPr/>
        </p:nvSpPr>
        <p:spPr>
          <a:xfrm>
            <a:off x="3480750" y="2416675"/>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Separación por sexo</a:t>
            </a:r>
            <a:endParaRPr>
              <a:solidFill>
                <a:schemeClr val="dk1"/>
              </a:solidFill>
              <a:latin typeface="Montserrat"/>
              <a:ea typeface="Montserrat"/>
              <a:cs typeface="Montserrat"/>
              <a:sym typeface="Montserrat"/>
            </a:endParaRPr>
          </a:p>
        </p:txBody>
      </p:sp>
      <p:cxnSp>
        <p:nvCxnSpPr>
          <p:cNvPr id="159" name="Google Shape;159;p20"/>
          <p:cNvCxnSpPr>
            <a:stCxn id="156" idx="2"/>
          </p:cNvCxnSpPr>
          <p:nvPr/>
        </p:nvCxnSpPr>
        <p:spPr>
          <a:xfrm>
            <a:off x="4513650" y="2183875"/>
            <a:ext cx="1800" cy="232800"/>
          </a:xfrm>
          <a:prstGeom prst="straightConnector1">
            <a:avLst/>
          </a:prstGeom>
          <a:noFill/>
          <a:ln cap="flat" cmpd="sng" w="9525">
            <a:solidFill>
              <a:schemeClr val="dk2"/>
            </a:solidFill>
            <a:prstDash val="solid"/>
            <a:round/>
            <a:headEnd len="med" w="med" type="none"/>
            <a:tailEnd len="med" w="med" type="triangle"/>
          </a:ln>
        </p:spPr>
      </p:cxnSp>
      <p:cxnSp>
        <p:nvCxnSpPr>
          <p:cNvPr id="160" name="Google Shape;160;p20"/>
          <p:cNvCxnSpPr>
            <a:stCxn id="158" idx="2"/>
          </p:cNvCxnSpPr>
          <p:nvPr/>
        </p:nvCxnSpPr>
        <p:spPr>
          <a:xfrm flipH="1">
            <a:off x="4508700" y="2834275"/>
            <a:ext cx="3300" cy="427500"/>
          </a:xfrm>
          <a:prstGeom prst="straightConnector1">
            <a:avLst/>
          </a:prstGeom>
          <a:noFill/>
          <a:ln cap="flat" cmpd="sng" w="9525">
            <a:solidFill>
              <a:schemeClr val="dk2"/>
            </a:solidFill>
            <a:prstDash val="solid"/>
            <a:round/>
            <a:headEnd len="med" w="med" type="none"/>
            <a:tailEnd len="med" w="med" type="triangle"/>
          </a:ln>
        </p:spPr>
      </p:cxnSp>
      <p:sp>
        <p:nvSpPr>
          <p:cNvPr id="161" name="Google Shape;161;p20"/>
          <p:cNvSpPr txBox="1"/>
          <p:nvPr/>
        </p:nvSpPr>
        <p:spPr>
          <a:xfrm>
            <a:off x="3050550" y="3306050"/>
            <a:ext cx="3607800" cy="4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Muestras listas para el contraste</a:t>
            </a:r>
            <a:endParaRPr>
              <a:solidFill>
                <a:schemeClr val="dk1"/>
              </a:solidFill>
              <a:latin typeface="Montserrat"/>
              <a:ea typeface="Montserrat"/>
              <a:cs typeface="Montserrat"/>
              <a:sym typeface="Montserrat"/>
            </a:endParaRPr>
          </a:p>
        </p:txBody>
      </p:sp>
      <p:cxnSp>
        <p:nvCxnSpPr>
          <p:cNvPr id="162" name="Google Shape;162;p20"/>
          <p:cNvCxnSpPr/>
          <p:nvPr/>
        </p:nvCxnSpPr>
        <p:spPr>
          <a:xfrm>
            <a:off x="4507950" y="3695050"/>
            <a:ext cx="0" cy="347400"/>
          </a:xfrm>
          <a:prstGeom prst="straightConnector1">
            <a:avLst/>
          </a:prstGeom>
          <a:noFill/>
          <a:ln cap="flat" cmpd="sng" w="9525">
            <a:solidFill>
              <a:schemeClr val="dk2"/>
            </a:solidFill>
            <a:prstDash val="solid"/>
            <a:round/>
            <a:headEnd len="med" w="med" type="none"/>
            <a:tailEnd len="med" w="med" type="triangle"/>
          </a:ln>
        </p:spPr>
      </p:cxnSp>
      <p:sp>
        <p:nvSpPr>
          <p:cNvPr id="163" name="Google Shape;163;p20"/>
          <p:cNvSpPr txBox="1"/>
          <p:nvPr/>
        </p:nvSpPr>
        <p:spPr>
          <a:xfrm>
            <a:off x="3476700" y="4080388"/>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Expresión diferencial </a:t>
            </a:r>
            <a:endParaRPr>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sz="3111">
                <a:latin typeface="Montserrat"/>
                <a:ea typeface="Montserrat"/>
                <a:cs typeface="Montserrat"/>
                <a:sym typeface="Montserrat"/>
              </a:rPr>
              <a:t>Workflow </a:t>
            </a:r>
            <a:endParaRPr b="1" sz="3111">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 name="Google Shape;169;p21"/>
          <p:cNvSpPr txBox="1"/>
          <p:nvPr/>
        </p:nvSpPr>
        <p:spPr>
          <a:xfrm>
            <a:off x="3540750" y="1165075"/>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Expresión diferencial </a:t>
            </a:r>
            <a:endParaRPr>
              <a:solidFill>
                <a:schemeClr val="dk1"/>
              </a:solidFill>
              <a:latin typeface="Montserrat"/>
              <a:ea typeface="Montserrat"/>
              <a:cs typeface="Montserrat"/>
              <a:sym typeface="Montserrat"/>
            </a:endParaRPr>
          </a:p>
        </p:txBody>
      </p:sp>
      <p:sp>
        <p:nvSpPr>
          <p:cNvPr id="170" name="Google Shape;170;p21"/>
          <p:cNvSpPr txBox="1"/>
          <p:nvPr/>
        </p:nvSpPr>
        <p:spPr>
          <a:xfrm>
            <a:off x="1937100" y="2508925"/>
            <a:ext cx="2062500" cy="90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LFC = 0</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p-valor &lt; 1</a:t>
            </a:r>
            <a:endParaRPr>
              <a:solidFill>
                <a:schemeClr val="dk1"/>
              </a:solidFill>
              <a:latin typeface="Roboto"/>
              <a:ea typeface="Roboto"/>
              <a:cs typeface="Roboto"/>
              <a:sym typeface="Roboto"/>
            </a:endParaRPr>
          </a:p>
        </p:txBody>
      </p:sp>
      <p:sp>
        <p:nvSpPr>
          <p:cNvPr id="171" name="Google Shape;171;p21"/>
          <p:cNvSpPr txBox="1"/>
          <p:nvPr/>
        </p:nvSpPr>
        <p:spPr>
          <a:xfrm>
            <a:off x="2505250" y="1582675"/>
            <a:ext cx="45228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Diferentes parámetros para diferentes análisis</a:t>
            </a:r>
            <a:endParaRPr>
              <a:solidFill>
                <a:schemeClr val="dk1"/>
              </a:solidFill>
              <a:latin typeface="Montserrat"/>
              <a:ea typeface="Montserrat"/>
              <a:cs typeface="Montserrat"/>
              <a:sym typeface="Montserrat"/>
            </a:endParaRPr>
          </a:p>
        </p:txBody>
      </p:sp>
      <p:sp>
        <p:nvSpPr>
          <p:cNvPr id="172" name="Google Shape;172;p21"/>
          <p:cNvSpPr txBox="1"/>
          <p:nvPr/>
        </p:nvSpPr>
        <p:spPr>
          <a:xfrm>
            <a:off x="2262250" y="2045800"/>
            <a:ext cx="1197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Para GSEA</a:t>
            </a:r>
            <a:endParaRPr>
              <a:solidFill>
                <a:schemeClr val="dk1"/>
              </a:solidFill>
              <a:latin typeface="Montserrat"/>
              <a:ea typeface="Montserrat"/>
              <a:cs typeface="Montserrat"/>
              <a:sym typeface="Montserrat"/>
            </a:endParaRPr>
          </a:p>
        </p:txBody>
      </p:sp>
      <p:sp>
        <p:nvSpPr>
          <p:cNvPr id="173" name="Google Shape;173;p21"/>
          <p:cNvSpPr txBox="1"/>
          <p:nvPr/>
        </p:nvSpPr>
        <p:spPr>
          <a:xfrm>
            <a:off x="1364700" y="3158900"/>
            <a:ext cx="32073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1"/>
                </a:solidFill>
                <a:latin typeface="Montserrat"/>
                <a:ea typeface="Montserrat"/>
                <a:cs typeface="Montserrat"/>
                <a:sym typeface="Montserrat"/>
              </a:rPr>
              <a:t>Obtenemos la expresión diferencial de TODOS los genes</a:t>
            </a:r>
            <a:endParaRPr>
              <a:solidFill>
                <a:schemeClr val="dk1"/>
              </a:solidFill>
              <a:latin typeface="Montserrat"/>
              <a:ea typeface="Montserrat"/>
              <a:cs typeface="Montserrat"/>
              <a:sym typeface="Montserrat"/>
            </a:endParaRPr>
          </a:p>
        </p:txBody>
      </p:sp>
      <p:sp>
        <p:nvSpPr>
          <p:cNvPr id="174" name="Google Shape;174;p21"/>
          <p:cNvSpPr txBox="1"/>
          <p:nvPr/>
        </p:nvSpPr>
        <p:spPr>
          <a:xfrm>
            <a:off x="5362175" y="2045800"/>
            <a:ext cx="1197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Para DEGs</a:t>
            </a:r>
            <a:endParaRPr>
              <a:solidFill>
                <a:schemeClr val="dk1"/>
              </a:solidFill>
              <a:latin typeface="Montserrat"/>
              <a:ea typeface="Montserrat"/>
              <a:cs typeface="Montserrat"/>
              <a:sym typeface="Montserrat"/>
            </a:endParaRPr>
          </a:p>
        </p:txBody>
      </p:sp>
      <p:sp>
        <p:nvSpPr>
          <p:cNvPr id="175" name="Google Shape;175;p21"/>
          <p:cNvSpPr txBox="1"/>
          <p:nvPr/>
        </p:nvSpPr>
        <p:spPr>
          <a:xfrm>
            <a:off x="4929575" y="2508925"/>
            <a:ext cx="2062500" cy="90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LFC &lt; 0.58</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p-valor &lt; 0.05</a:t>
            </a:r>
            <a:endParaRPr>
              <a:solidFill>
                <a:schemeClr val="dk1"/>
              </a:solidFill>
              <a:latin typeface="Roboto"/>
              <a:ea typeface="Roboto"/>
              <a:cs typeface="Roboto"/>
              <a:sym typeface="Roboto"/>
            </a:endParaRPr>
          </a:p>
        </p:txBody>
      </p:sp>
      <p:sp>
        <p:nvSpPr>
          <p:cNvPr id="176" name="Google Shape;176;p21"/>
          <p:cNvSpPr txBox="1"/>
          <p:nvPr/>
        </p:nvSpPr>
        <p:spPr>
          <a:xfrm>
            <a:off x="4452850" y="3158900"/>
            <a:ext cx="32073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1"/>
                </a:solidFill>
                <a:latin typeface="Montserrat"/>
                <a:ea typeface="Montserrat"/>
                <a:cs typeface="Montserrat"/>
                <a:sym typeface="Montserrat"/>
              </a:rPr>
              <a:t>Obtenemos los genes diferencialmente expresados entre condiciones</a:t>
            </a:r>
            <a:endParaRPr>
              <a:solidFill>
                <a:schemeClr val="dk1"/>
              </a:solidFill>
              <a:latin typeface="Montserrat"/>
              <a:ea typeface="Montserrat"/>
              <a:cs typeface="Montserrat"/>
              <a:sym typeface="Montserrat"/>
            </a:endParaRPr>
          </a:p>
        </p:txBody>
      </p:sp>
      <p:sp>
        <p:nvSpPr>
          <p:cNvPr id="177" name="Google Shape;177;p21"/>
          <p:cNvSpPr/>
          <p:nvPr/>
        </p:nvSpPr>
        <p:spPr>
          <a:xfrm>
            <a:off x="2446125" y="1593400"/>
            <a:ext cx="4345500" cy="356100"/>
          </a:xfrm>
          <a:prstGeom prst="rect">
            <a:avLst/>
          </a:prstGeom>
          <a:noFill/>
          <a:ln cap="flat" cmpd="sng" w="1905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sz="3111">
                <a:latin typeface="Montserrat"/>
                <a:ea typeface="Montserrat"/>
                <a:cs typeface="Montserrat"/>
                <a:sym typeface="Montserrat"/>
              </a:rPr>
              <a:t>Workflow </a:t>
            </a:r>
            <a:endParaRPr b="1" sz="3111">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p:txBody>
      </p:sp>
      <p:sp>
        <p:nvSpPr>
          <p:cNvPr id="183" name="Google Shape;183;p22"/>
          <p:cNvSpPr txBox="1"/>
          <p:nvPr/>
        </p:nvSpPr>
        <p:spPr>
          <a:xfrm>
            <a:off x="3540750" y="1165075"/>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Expresión diferencial </a:t>
            </a:r>
            <a:endParaRPr>
              <a:solidFill>
                <a:schemeClr val="dk1"/>
              </a:solidFill>
              <a:latin typeface="Montserrat"/>
              <a:ea typeface="Montserrat"/>
              <a:cs typeface="Montserrat"/>
              <a:sym typeface="Montserrat"/>
            </a:endParaRPr>
          </a:p>
        </p:txBody>
      </p:sp>
      <p:sp>
        <p:nvSpPr>
          <p:cNvPr id="184" name="Google Shape;184;p22"/>
          <p:cNvSpPr txBox="1"/>
          <p:nvPr/>
        </p:nvSpPr>
        <p:spPr>
          <a:xfrm>
            <a:off x="1937100" y="2508925"/>
            <a:ext cx="2062500" cy="90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LFC = 0</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p-valor &lt; 1</a:t>
            </a:r>
            <a:endParaRPr>
              <a:solidFill>
                <a:schemeClr val="dk1"/>
              </a:solidFill>
              <a:latin typeface="Roboto"/>
              <a:ea typeface="Roboto"/>
              <a:cs typeface="Roboto"/>
              <a:sym typeface="Roboto"/>
            </a:endParaRPr>
          </a:p>
        </p:txBody>
      </p:sp>
      <p:sp>
        <p:nvSpPr>
          <p:cNvPr id="185" name="Google Shape;185;p22"/>
          <p:cNvSpPr txBox="1"/>
          <p:nvPr/>
        </p:nvSpPr>
        <p:spPr>
          <a:xfrm>
            <a:off x="2505250" y="1582675"/>
            <a:ext cx="45228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Diferentes parámetros para diferentes análisis</a:t>
            </a:r>
            <a:endParaRPr>
              <a:solidFill>
                <a:schemeClr val="dk1"/>
              </a:solidFill>
              <a:latin typeface="Montserrat"/>
              <a:ea typeface="Montserrat"/>
              <a:cs typeface="Montserrat"/>
              <a:sym typeface="Montserrat"/>
            </a:endParaRPr>
          </a:p>
        </p:txBody>
      </p:sp>
      <p:sp>
        <p:nvSpPr>
          <p:cNvPr id="186" name="Google Shape;186;p22"/>
          <p:cNvSpPr txBox="1"/>
          <p:nvPr/>
        </p:nvSpPr>
        <p:spPr>
          <a:xfrm>
            <a:off x="2262250" y="2045800"/>
            <a:ext cx="1197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Para GSEA</a:t>
            </a:r>
            <a:endParaRPr>
              <a:solidFill>
                <a:schemeClr val="dk1"/>
              </a:solidFill>
              <a:latin typeface="Montserrat"/>
              <a:ea typeface="Montserrat"/>
              <a:cs typeface="Montserrat"/>
              <a:sym typeface="Montserrat"/>
            </a:endParaRPr>
          </a:p>
        </p:txBody>
      </p:sp>
      <p:sp>
        <p:nvSpPr>
          <p:cNvPr id="187" name="Google Shape;187;p22"/>
          <p:cNvSpPr txBox="1"/>
          <p:nvPr/>
        </p:nvSpPr>
        <p:spPr>
          <a:xfrm>
            <a:off x="1364700" y="3158900"/>
            <a:ext cx="32073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1"/>
                </a:solidFill>
                <a:latin typeface="Montserrat"/>
                <a:ea typeface="Montserrat"/>
                <a:cs typeface="Montserrat"/>
                <a:sym typeface="Montserrat"/>
              </a:rPr>
              <a:t>Obtenemos la expresión diferencial de TODOS los genes</a:t>
            </a:r>
            <a:endParaRPr>
              <a:solidFill>
                <a:schemeClr val="dk1"/>
              </a:solidFill>
              <a:latin typeface="Montserrat"/>
              <a:ea typeface="Montserrat"/>
              <a:cs typeface="Montserrat"/>
              <a:sym typeface="Montserrat"/>
            </a:endParaRPr>
          </a:p>
        </p:txBody>
      </p:sp>
      <p:sp>
        <p:nvSpPr>
          <p:cNvPr id="188" name="Google Shape;188;p22"/>
          <p:cNvSpPr txBox="1"/>
          <p:nvPr/>
        </p:nvSpPr>
        <p:spPr>
          <a:xfrm>
            <a:off x="5362175" y="2045800"/>
            <a:ext cx="11973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1"/>
                </a:solidFill>
                <a:latin typeface="Montserrat"/>
                <a:ea typeface="Montserrat"/>
                <a:cs typeface="Montserrat"/>
                <a:sym typeface="Montserrat"/>
              </a:rPr>
              <a:t>Para DEGs</a:t>
            </a:r>
            <a:endParaRPr>
              <a:solidFill>
                <a:schemeClr val="dk1"/>
              </a:solidFill>
              <a:latin typeface="Montserrat"/>
              <a:ea typeface="Montserrat"/>
              <a:cs typeface="Montserrat"/>
              <a:sym typeface="Montserrat"/>
            </a:endParaRPr>
          </a:p>
        </p:txBody>
      </p:sp>
      <p:sp>
        <p:nvSpPr>
          <p:cNvPr id="189" name="Google Shape;189;p22"/>
          <p:cNvSpPr txBox="1"/>
          <p:nvPr/>
        </p:nvSpPr>
        <p:spPr>
          <a:xfrm>
            <a:off x="4929575" y="2508925"/>
            <a:ext cx="2062500" cy="90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LFC &lt; 0.58</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s">
                <a:solidFill>
                  <a:schemeClr val="dk1"/>
                </a:solidFill>
                <a:latin typeface="Roboto"/>
                <a:ea typeface="Roboto"/>
                <a:cs typeface="Roboto"/>
                <a:sym typeface="Roboto"/>
              </a:rPr>
              <a:t>p-valor &lt; 0.05</a:t>
            </a:r>
            <a:endParaRPr>
              <a:solidFill>
                <a:schemeClr val="dk1"/>
              </a:solidFill>
              <a:latin typeface="Roboto"/>
              <a:ea typeface="Roboto"/>
              <a:cs typeface="Roboto"/>
              <a:sym typeface="Roboto"/>
            </a:endParaRPr>
          </a:p>
        </p:txBody>
      </p:sp>
      <p:sp>
        <p:nvSpPr>
          <p:cNvPr id="190" name="Google Shape;190;p22"/>
          <p:cNvSpPr txBox="1"/>
          <p:nvPr/>
        </p:nvSpPr>
        <p:spPr>
          <a:xfrm>
            <a:off x="4452850" y="3158900"/>
            <a:ext cx="3207300" cy="41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1"/>
                </a:solidFill>
                <a:latin typeface="Montserrat"/>
                <a:ea typeface="Montserrat"/>
                <a:cs typeface="Montserrat"/>
                <a:sym typeface="Montserrat"/>
              </a:rPr>
              <a:t>Obtenemos los genes diferencialmente expresados entre condiciones</a:t>
            </a:r>
            <a:endParaRPr>
              <a:solidFill>
                <a:schemeClr val="dk1"/>
              </a:solidFill>
              <a:latin typeface="Montserrat"/>
              <a:ea typeface="Montserrat"/>
              <a:cs typeface="Montserrat"/>
              <a:sym typeface="Montserrat"/>
            </a:endParaRPr>
          </a:p>
        </p:txBody>
      </p:sp>
      <p:sp>
        <p:nvSpPr>
          <p:cNvPr id="191" name="Google Shape;191;p22"/>
          <p:cNvSpPr/>
          <p:nvPr/>
        </p:nvSpPr>
        <p:spPr>
          <a:xfrm>
            <a:off x="2446125" y="1593400"/>
            <a:ext cx="4345500" cy="356100"/>
          </a:xfrm>
          <a:prstGeom prst="rect">
            <a:avLst/>
          </a:prstGeom>
          <a:noFill/>
          <a:ln cap="flat" cmpd="sng" w="1905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2" name="Google Shape;192;p22"/>
          <p:cNvSpPr txBox="1"/>
          <p:nvPr/>
        </p:nvSpPr>
        <p:spPr>
          <a:xfrm>
            <a:off x="311700" y="4075025"/>
            <a:ext cx="6110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s">
                <a:solidFill>
                  <a:schemeClr val="dk2"/>
                </a:solidFill>
                <a:latin typeface="Montserrat"/>
                <a:ea typeface="Montserrat"/>
                <a:cs typeface="Montserrat"/>
                <a:sym typeface="Montserrat"/>
              </a:rPr>
              <a:t>logFC’s positivos indican sobre expresión en muestras male y lo opuesto para female.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Análisis de enriquecimiento (GSEA)</a:t>
            </a:r>
            <a:endParaRPr u="sng">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8" name="Google Shape;198;p23"/>
          <p:cNvSpPr txBox="1"/>
          <p:nvPr>
            <p:ph idx="1" type="body"/>
          </p:nvPr>
        </p:nvSpPr>
        <p:spPr>
          <a:xfrm>
            <a:off x="5592650" y="1539675"/>
            <a:ext cx="3347700" cy="2314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s">
                <a:latin typeface="Montserrat"/>
                <a:ea typeface="Montserrat"/>
                <a:cs typeface="Montserrat"/>
                <a:sym typeface="Montserrat"/>
              </a:rPr>
              <a:t>Macrófagos M1.</a:t>
            </a:r>
            <a:endParaRPr>
              <a:latin typeface="Montserrat"/>
              <a:ea typeface="Montserrat"/>
              <a:cs typeface="Montserrat"/>
              <a:sym typeface="Montserrat"/>
            </a:endParaRPr>
          </a:p>
          <a:p>
            <a:pPr indent="0" lvl="0" marL="0" rtl="0" algn="r">
              <a:spcBef>
                <a:spcPts val="1200"/>
              </a:spcBef>
              <a:spcAft>
                <a:spcPts val="1200"/>
              </a:spcAft>
              <a:buNone/>
            </a:pPr>
            <a:r>
              <a:rPr lang="es">
                <a:latin typeface="Montserrat"/>
                <a:ea typeface="Montserrat"/>
                <a:cs typeface="Montserrat"/>
                <a:sym typeface="Montserrat"/>
              </a:rPr>
              <a:t>Contraste: Female vs Male.</a:t>
            </a:r>
            <a:endParaRPr>
              <a:latin typeface="Montserrat"/>
              <a:ea typeface="Montserrat"/>
              <a:cs typeface="Montserrat"/>
              <a:sym typeface="Montserrat"/>
            </a:endParaRPr>
          </a:p>
        </p:txBody>
      </p:sp>
      <p:sp>
        <p:nvSpPr>
          <p:cNvPr id="199" name="Google Shape;199;p23"/>
          <p:cNvSpPr txBox="1"/>
          <p:nvPr/>
        </p:nvSpPr>
        <p:spPr>
          <a:xfrm>
            <a:off x="816875" y="3623500"/>
            <a:ext cx="4855500" cy="9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100">
                <a:latin typeface="Montserrat"/>
                <a:ea typeface="Montserrat"/>
                <a:cs typeface="Montserrat"/>
                <a:sym typeface="Montserrat"/>
              </a:rPr>
              <a:t>Figura 5. Gráfico dotplot del GSEA de las vías significativamente enriquecidas (1.5 &lt; log10FC &lt; -1.5, p-valor ajustado &lt; 0.05, FDR q-val &lt; 0.05. El relleno de los círculos indica el porcentaje de los genes que están presentes en la vía. El color indica el nivel de significancia de ese enriquecimiento. </a:t>
            </a:r>
            <a:endParaRPr i="1" sz="1100">
              <a:latin typeface="Montserrat"/>
              <a:ea typeface="Montserrat"/>
              <a:cs typeface="Montserrat"/>
              <a:sym typeface="Montserrat"/>
            </a:endParaRPr>
          </a:p>
        </p:txBody>
      </p:sp>
      <p:pic>
        <p:nvPicPr>
          <p:cNvPr id="200" name="Google Shape;200;p23"/>
          <p:cNvPicPr preferRelativeResize="0"/>
          <p:nvPr/>
        </p:nvPicPr>
        <p:blipFill>
          <a:blip r:embed="rId3">
            <a:alphaModFix/>
          </a:blip>
          <a:stretch>
            <a:fillRect/>
          </a:stretch>
        </p:blipFill>
        <p:spPr>
          <a:xfrm>
            <a:off x="844926" y="1106437"/>
            <a:ext cx="4799406" cy="2428424"/>
          </a:xfrm>
          <a:prstGeom prst="rect">
            <a:avLst/>
          </a:prstGeom>
          <a:noFill/>
          <a:ln>
            <a:noFill/>
          </a:ln>
        </p:spPr>
      </p:pic>
      <p:sp>
        <p:nvSpPr>
          <p:cNvPr id="201" name="Google Shape;201;p23"/>
          <p:cNvSpPr/>
          <p:nvPr/>
        </p:nvSpPr>
        <p:spPr>
          <a:xfrm>
            <a:off x="1571320" y="2029911"/>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2" name="Google Shape;202;p23"/>
          <p:cNvSpPr txBox="1"/>
          <p:nvPr/>
        </p:nvSpPr>
        <p:spPr>
          <a:xfrm>
            <a:off x="1243375" y="1295600"/>
            <a:ext cx="256200" cy="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03" name="Google Shape;203;p23"/>
          <p:cNvSpPr/>
          <p:nvPr/>
        </p:nvSpPr>
        <p:spPr>
          <a:xfrm>
            <a:off x="2209383" y="1311542"/>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4" name="Google Shape;204;p23"/>
          <p:cNvSpPr/>
          <p:nvPr/>
        </p:nvSpPr>
        <p:spPr>
          <a:xfrm>
            <a:off x="2143425" y="1438337"/>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 name="Google Shape;205;p23"/>
          <p:cNvSpPr/>
          <p:nvPr/>
        </p:nvSpPr>
        <p:spPr>
          <a:xfrm>
            <a:off x="2270220" y="1503681"/>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 name="Google Shape;206;p23"/>
          <p:cNvSpPr/>
          <p:nvPr/>
        </p:nvSpPr>
        <p:spPr>
          <a:xfrm>
            <a:off x="1509449" y="1641332"/>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7" name="Google Shape;207;p23"/>
          <p:cNvSpPr/>
          <p:nvPr/>
        </p:nvSpPr>
        <p:spPr>
          <a:xfrm>
            <a:off x="1958865" y="1702784"/>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8" name="Google Shape;208;p23"/>
          <p:cNvSpPr/>
          <p:nvPr/>
        </p:nvSpPr>
        <p:spPr>
          <a:xfrm>
            <a:off x="1418920" y="1973581"/>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9" name="Google Shape;209;p23"/>
          <p:cNvSpPr/>
          <p:nvPr/>
        </p:nvSpPr>
        <p:spPr>
          <a:xfrm>
            <a:off x="2522595" y="2479311"/>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Análisis de enriquecimiento (GSEA)</a:t>
            </a:r>
            <a:endParaRPr u="sng">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15" name="Google Shape;215;p24"/>
          <p:cNvSpPr txBox="1"/>
          <p:nvPr>
            <p:ph idx="1" type="body"/>
          </p:nvPr>
        </p:nvSpPr>
        <p:spPr>
          <a:xfrm>
            <a:off x="5592650" y="1539675"/>
            <a:ext cx="3347700" cy="2314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s">
                <a:latin typeface="Montserrat"/>
                <a:ea typeface="Montserrat"/>
                <a:cs typeface="Montserrat"/>
                <a:sym typeface="Montserrat"/>
              </a:rPr>
              <a:t>Macrófagos M2.</a:t>
            </a:r>
            <a:endParaRPr>
              <a:latin typeface="Montserrat"/>
              <a:ea typeface="Montserrat"/>
              <a:cs typeface="Montserrat"/>
              <a:sym typeface="Montserrat"/>
            </a:endParaRPr>
          </a:p>
          <a:p>
            <a:pPr indent="0" lvl="0" marL="0" rtl="0" algn="r">
              <a:spcBef>
                <a:spcPts val="1200"/>
              </a:spcBef>
              <a:spcAft>
                <a:spcPts val="1200"/>
              </a:spcAft>
              <a:buNone/>
            </a:pPr>
            <a:r>
              <a:rPr lang="es">
                <a:latin typeface="Montserrat"/>
                <a:ea typeface="Montserrat"/>
                <a:cs typeface="Montserrat"/>
                <a:sym typeface="Montserrat"/>
              </a:rPr>
              <a:t>Contraste: Female vs Male.</a:t>
            </a:r>
            <a:endParaRPr>
              <a:latin typeface="Montserrat"/>
              <a:ea typeface="Montserrat"/>
              <a:cs typeface="Montserrat"/>
              <a:sym typeface="Montserrat"/>
            </a:endParaRPr>
          </a:p>
        </p:txBody>
      </p:sp>
      <p:sp>
        <p:nvSpPr>
          <p:cNvPr id="216" name="Google Shape;216;p24"/>
          <p:cNvSpPr txBox="1"/>
          <p:nvPr/>
        </p:nvSpPr>
        <p:spPr>
          <a:xfrm>
            <a:off x="737150" y="3534850"/>
            <a:ext cx="4855500" cy="95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100">
                <a:latin typeface="Montserrat"/>
                <a:ea typeface="Montserrat"/>
                <a:cs typeface="Montserrat"/>
                <a:sym typeface="Montserrat"/>
              </a:rPr>
              <a:t>Figura 7. Gráfico dotplot del GSEA de las vías significativamente enriquecidas (1.5 &lt; log10FC &lt; -1.5, p-valor ajustado &lt; 0.05, FDR q-val &lt; 0.05. El relleno de los círculos indica el porcentaje de los genes que están presentes en la vía. El color indica la significancia de ese enriquecimiento. </a:t>
            </a:r>
            <a:endParaRPr i="1" sz="1100">
              <a:latin typeface="Montserrat"/>
              <a:ea typeface="Montserrat"/>
              <a:cs typeface="Montserrat"/>
              <a:sym typeface="Montserrat"/>
            </a:endParaRPr>
          </a:p>
        </p:txBody>
      </p:sp>
      <p:pic>
        <p:nvPicPr>
          <p:cNvPr id="217" name="Google Shape;217;p24"/>
          <p:cNvPicPr preferRelativeResize="0"/>
          <p:nvPr/>
        </p:nvPicPr>
        <p:blipFill>
          <a:blip r:embed="rId3">
            <a:alphaModFix/>
          </a:blip>
          <a:stretch>
            <a:fillRect/>
          </a:stretch>
        </p:blipFill>
        <p:spPr>
          <a:xfrm>
            <a:off x="311699" y="1137876"/>
            <a:ext cx="5337374" cy="2396977"/>
          </a:xfrm>
          <a:prstGeom prst="rect">
            <a:avLst/>
          </a:prstGeom>
          <a:noFill/>
          <a:ln>
            <a:noFill/>
          </a:ln>
        </p:spPr>
      </p:pic>
      <p:sp>
        <p:nvSpPr>
          <p:cNvPr id="218" name="Google Shape;218;p24"/>
          <p:cNvSpPr/>
          <p:nvPr/>
        </p:nvSpPr>
        <p:spPr>
          <a:xfrm>
            <a:off x="1851755" y="1318099"/>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 name="Google Shape;219;p24"/>
          <p:cNvSpPr/>
          <p:nvPr/>
        </p:nvSpPr>
        <p:spPr>
          <a:xfrm>
            <a:off x="2543704" y="1482569"/>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0" name="Google Shape;220;p24"/>
          <p:cNvSpPr/>
          <p:nvPr/>
        </p:nvSpPr>
        <p:spPr>
          <a:xfrm>
            <a:off x="1344988" y="1961481"/>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1" name="Google Shape;221;p24"/>
          <p:cNvSpPr/>
          <p:nvPr/>
        </p:nvSpPr>
        <p:spPr>
          <a:xfrm>
            <a:off x="1131751" y="2037067"/>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2" name="Google Shape;222;p24"/>
          <p:cNvSpPr/>
          <p:nvPr/>
        </p:nvSpPr>
        <p:spPr>
          <a:xfrm>
            <a:off x="1750978" y="2118388"/>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 name="Google Shape;223;p24"/>
          <p:cNvSpPr/>
          <p:nvPr/>
        </p:nvSpPr>
        <p:spPr>
          <a:xfrm>
            <a:off x="2010919" y="2905993"/>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4" name="Google Shape;224;p24"/>
          <p:cNvSpPr/>
          <p:nvPr/>
        </p:nvSpPr>
        <p:spPr>
          <a:xfrm>
            <a:off x="1172719" y="2448793"/>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5" name="Google Shape;225;p24"/>
          <p:cNvSpPr/>
          <p:nvPr/>
        </p:nvSpPr>
        <p:spPr>
          <a:xfrm>
            <a:off x="1660030" y="2270788"/>
            <a:ext cx="174000" cy="50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latin typeface="Montserrat"/>
                <a:ea typeface="Montserrat"/>
                <a:cs typeface="Montserrat"/>
                <a:sym typeface="Montserrat"/>
              </a:rPr>
              <a:t>Workflow de expresión diferencial</a:t>
            </a:r>
            <a:endParaRPr b="1">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p:txBody>
      </p:sp>
      <p:sp>
        <p:nvSpPr>
          <p:cNvPr id="231" name="Google Shape;231;p25"/>
          <p:cNvSpPr txBox="1"/>
          <p:nvPr/>
        </p:nvSpPr>
        <p:spPr>
          <a:xfrm>
            <a:off x="1944600" y="1203625"/>
            <a:ext cx="5254800" cy="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Expresión diferencial (logFC = 0.58 y p-valor = 0.05)</a:t>
            </a:r>
            <a:endParaRPr>
              <a:solidFill>
                <a:srgbClr val="674EA7"/>
              </a:solidFill>
              <a:latin typeface="Montserrat"/>
              <a:ea typeface="Montserrat"/>
              <a:cs typeface="Montserrat"/>
              <a:sym typeface="Montserrat"/>
            </a:endParaRPr>
          </a:p>
        </p:txBody>
      </p:sp>
      <p:cxnSp>
        <p:nvCxnSpPr>
          <p:cNvPr id="232" name="Google Shape;232;p25"/>
          <p:cNvCxnSpPr/>
          <p:nvPr/>
        </p:nvCxnSpPr>
        <p:spPr>
          <a:xfrm rot="5400000">
            <a:off x="3993500" y="1805850"/>
            <a:ext cx="275700" cy="1800"/>
          </a:xfrm>
          <a:prstGeom prst="curvedConnector3">
            <a:avLst>
              <a:gd fmla="val -23667" name="adj1"/>
            </a:avLst>
          </a:prstGeom>
          <a:noFill/>
          <a:ln cap="flat" cmpd="sng" w="9525">
            <a:solidFill>
              <a:schemeClr val="dk2"/>
            </a:solidFill>
            <a:prstDash val="solid"/>
            <a:round/>
            <a:headEnd len="med" w="med" type="none"/>
            <a:tailEnd len="med" w="med" type="triangle"/>
          </a:ln>
        </p:spPr>
      </p:cxnSp>
      <p:sp>
        <p:nvSpPr>
          <p:cNvPr id="233" name="Google Shape;233;p25"/>
          <p:cNvSpPr txBox="1"/>
          <p:nvPr/>
        </p:nvSpPr>
        <p:spPr>
          <a:xfrm>
            <a:off x="2852925" y="2622300"/>
            <a:ext cx="13470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34" name="Google Shape;234;p25"/>
          <p:cNvSpPr txBox="1"/>
          <p:nvPr/>
        </p:nvSpPr>
        <p:spPr>
          <a:xfrm>
            <a:off x="3624050" y="2034250"/>
            <a:ext cx="1014600" cy="6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DEG M2</a:t>
            </a:r>
            <a:endParaRPr>
              <a:solidFill>
                <a:srgbClr val="674EA7"/>
              </a:solidFill>
              <a:latin typeface="Montserrat"/>
              <a:ea typeface="Montserrat"/>
              <a:cs typeface="Montserrat"/>
              <a:sym typeface="Montserrat"/>
            </a:endParaRPr>
          </a:p>
          <a:p>
            <a:pPr indent="0" lvl="0" marL="0" rtl="0" algn="l">
              <a:spcBef>
                <a:spcPts val="0"/>
              </a:spcBef>
              <a:spcAft>
                <a:spcPts val="0"/>
              </a:spcAft>
              <a:buNone/>
            </a:pPr>
            <a:r>
              <a:rPr lang="es">
                <a:solidFill>
                  <a:srgbClr val="674EA7"/>
                </a:solidFill>
                <a:latin typeface="Montserrat"/>
                <a:ea typeface="Montserrat"/>
                <a:cs typeface="Montserrat"/>
                <a:sym typeface="Montserrat"/>
              </a:rPr>
              <a:t>DEG M1 </a:t>
            </a:r>
            <a:endParaRPr>
              <a:solidFill>
                <a:srgbClr val="674EA7"/>
              </a:solidFill>
              <a:latin typeface="Montserrat"/>
              <a:ea typeface="Montserrat"/>
              <a:cs typeface="Montserrat"/>
              <a:sym typeface="Montserrat"/>
            </a:endParaRPr>
          </a:p>
        </p:txBody>
      </p:sp>
      <p:sp>
        <p:nvSpPr>
          <p:cNvPr id="235" name="Google Shape;235;p25"/>
          <p:cNvSpPr txBox="1"/>
          <p:nvPr/>
        </p:nvSpPr>
        <p:spPr>
          <a:xfrm>
            <a:off x="1079200" y="2582850"/>
            <a:ext cx="13818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8E7CC3"/>
                </a:solidFill>
                <a:latin typeface="Montserrat"/>
                <a:ea typeface="Montserrat"/>
                <a:cs typeface="Montserrat"/>
                <a:sym typeface="Montserrat"/>
              </a:rPr>
              <a:t>Volcano plots</a:t>
            </a:r>
            <a:endParaRPr>
              <a:solidFill>
                <a:srgbClr val="8E7CC3"/>
              </a:solidFill>
              <a:latin typeface="Montserrat"/>
              <a:ea typeface="Montserrat"/>
              <a:cs typeface="Montserrat"/>
              <a:sym typeface="Montserrat"/>
            </a:endParaRPr>
          </a:p>
        </p:txBody>
      </p:sp>
      <p:sp>
        <p:nvSpPr>
          <p:cNvPr id="236" name="Google Shape;236;p25"/>
          <p:cNvSpPr txBox="1"/>
          <p:nvPr/>
        </p:nvSpPr>
        <p:spPr>
          <a:xfrm>
            <a:off x="4557300" y="2765000"/>
            <a:ext cx="29352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8E7CC3"/>
                </a:solidFill>
                <a:latin typeface="Montserrat"/>
                <a:ea typeface="Montserrat"/>
                <a:cs typeface="Montserrat"/>
                <a:sym typeface="Montserrat"/>
              </a:rPr>
              <a:t>Contraste con pathways</a:t>
            </a:r>
            <a:endParaRPr>
              <a:solidFill>
                <a:srgbClr val="8E7CC3"/>
              </a:solidFill>
              <a:latin typeface="Montserrat"/>
              <a:ea typeface="Montserrat"/>
              <a:cs typeface="Montserrat"/>
              <a:sym typeface="Montserrat"/>
            </a:endParaRPr>
          </a:p>
        </p:txBody>
      </p:sp>
      <p:cxnSp>
        <p:nvCxnSpPr>
          <p:cNvPr id="237" name="Google Shape;237;p25"/>
          <p:cNvCxnSpPr>
            <a:endCxn id="235" idx="3"/>
          </p:cNvCxnSpPr>
          <p:nvPr/>
        </p:nvCxnSpPr>
        <p:spPr>
          <a:xfrm flipH="1">
            <a:off x="2461000" y="2409150"/>
            <a:ext cx="1019700" cy="382500"/>
          </a:xfrm>
          <a:prstGeom prst="straightConnector1">
            <a:avLst/>
          </a:prstGeom>
          <a:noFill/>
          <a:ln cap="flat" cmpd="sng" w="9525">
            <a:solidFill>
              <a:schemeClr val="dk2"/>
            </a:solidFill>
            <a:prstDash val="solid"/>
            <a:round/>
            <a:headEnd len="med" w="med" type="none"/>
            <a:tailEnd len="med" w="med" type="triangle"/>
          </a:ln>
        </p:spPr>
      </p:cxnSp>
      <p:sp>
        <p:nvSpPr>
          <p:cNvPr id="238" name="Google Shape;238;p25"/>
          <p:cNvSpPr txBox="1"/>
          <p:nvPr/>
        </p:nvSpPr>
        <p:spPr>
          <a:xfrm>
            <a:off x="4482875" y="3665525"/>
            <a:ext cx="26034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8E7CC3"/>
                </a:solidFill>
                <a:latin typeface="Montserrat"/>
                <a:ea typeface="Montserrat"/>
                <a:cs typeface="Montserrat"/>
                <a:sym typeface="Montserrat"/>
              </a:rPr>
              <a:t>Diagramas de Venn</a:t>
            </a:r>
            <a:endParaRPr>
              <a:solidFill>
                <a:srgbClr val="8E7CC3"/>
              </a:solidFill>
              <a:latin typeface="Montserrat"/>
              <a:ea typeface="Montserrat"/>
              <a:cs typeface="Montserrat"/>
              <a:sym typeface="Montserrat"/>
            </a:endParaRPr>
          </a:p>
        </p:txBody>
      </p:sp>
      <p:cxnSp>
        <p:nvCxnSpPr>
          <p:cNvPr id="239" name="Google Shape;239;p25"/>
          <p:cNvCxnSpPr/>
          <p:nvPr/>
        </p:nvCxnSpPr>
        <p:spPr>
          <a:xfrm>
            <a:off x="4700100" y="2497850"/>
            <a:ext cx="460200" cy="265500"/>
          </a:xfrm>
          <a:prstGeom prst="straightConnector1">
            <a:avLst/>
          </a:prstGeom>
          <a:noFill/>
          <a:ln cap="flat" cmpd="sng" w="9525">
            <a:solidFill>
              <a:schemeClr val="dk2"/>
            </a:solidFill>
            <a:prstDash val="solid"/>
            <a:round/>
            <a:headEnd len="med" w="med" type="none"/>
            <a:tailEnd len="med" w="med" type="triangle"/>
          </a:ln>
        </p:spPr>
      </p:cxnSp>
      <p:cxnSp>
        <p:nvCxnSpPr>
          <p:cNvPr id="240" name="Google Shape;240;p25"/>
          <p:cNvCxnSpPr/>
          <p:nvPr/>
        </p:nvCxnSpPr>
        <p:spPr>
          <a:xfrm>
            <a:off x="5629400" y="3182588"/>
            <a:ext cx="1800" cy="449700"/>
          </a:xfrm>
          <a:prstGeom prst="straightConnector1">
            <a:avLst/>
          </a:prstGeom>
          <a:noFill/>
          <a:ln cap="flat" cmpd="sng" w="9525">
            <a:solidFill>
              <a:schemeClr val="dk2"/>
            </a:solidFill>
            <a:prstDash val="solid"/>
            <a:round/>
            <a:headEnd len="med" w="med" type="none"/>
            <a:tailEnd len="med" w="med" type="triangle"/>
          </a:ln>
        </p:spPr>
      </p:cxnSp>
      <p:sp>
        <p:nvSpPr>
          <p:cNvPr id="241" name="Google Shape;241;p25"/>
          <p:cNvSpPr txBox="1"/>
          <p:nvPr/>
        </p:nvSpPr>
        <p:spPr>
          <a:xfrm>
            <a:off x="1781750" y="3540075"/>
            <a:ext cx="2348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8E7CC3"/>
                </a:solidFill>
                <a:latin typeface="Montserrat"/>
                <a:ea typeface="Montserrat"/>
                <a:cs typeface="Montserrat"/>
                <a:sym typeface="Montserrat"/>
              </a:rPr>
              <a:t>Componentes celulares</a:t>
            </a:r>
            <a:endParaRPr>
              <a:solidFill>
                <a:srgbClr val="8E7CC3"/>
              </a:solidFill>
              <a:latin typeface="Montserrat"/>
              <a:ea typeface="Montserrat"/>
              <a:cs typeface="Montserrat"/>
              <a:sym typeface="Montserrat"/>
            </a:endParaRPr>
          </a:p>
        </p:txBody>
      </p:sp>
      <p:cxnSp>
        <p:nvCxnSpPr>
          <p:cNvPr id="242" name="Google Shape;242;p25"/>
          <p:cNvCxnSpPr/>
          <p:nvPr/>
        </p:nvCxnSpPr>
        <p:spPr>
          <a:xfrm flipH="1">
            <a:off x="3709775" y="2741725"/>
            <a:ext cx="266100" cy="790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nvSpPr>
        <p:spPr>
          <a:xfrm>
            <a:off x="4963725" y="1960800"/>
            <a:ext cx="4133400" cy="12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latin typeface="Montserrat"/>
                <a:ea typeface="Montserrat"/>
                <a:cs typeface="Montserrat"/>
                <a:sym typeface="Montserrat"/>
              </a:rPr>
              <a:t>Utilizamos la información del gráfico para identificar en que sexo se encontraban sobre expresados genes caracteristicos del inmunometabolismo de los macrófagos. </a:t>
            </a:r>
            <a:endParaRPr>
              <a:latin typeface="Montserrat"/>
              <a:ea typeface="Montserrat"/>
              <a:cs typeface="Montserrat"/>
              <a:sym typeface="Montserrat"/>
            </a:endParaRPr>
          </a:p>
          <a:p>
            <a:pPr indent="0" lvl="0" marL="0" rtl="0" algn="l">
              <a:spcBef>
                <a:spcPts val="0"/>
              </a:spcBef>
              <a:spcAft>
                <a:spcPts val="0"/>
              </a:spcAft>
              <a:buNone/>
            </a:pPr>
            <a:r>
              <a:t/>
            </a:r>
            <a:endParaRPr sz="1200">
              <a:solidFill>
                <a:schemeClr val="lt2"/>
              </a:solidFill>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1200">
              <a:solidFill>
                <a:schemeClr val="lt2"/>
              </a:solidFill>
              <a:latin typeface="Montserrat SemiBold"/>
              <a:ea typeface="Montserrat SemiBold"/>
              <a:cs typeface="Montserrat SemiBold"/>
              <a:sym typeface="Montserrat SemiBold"/>
            </a:endParaRPr>
          </a:p>
        </p:txBody>
      </p:sp>
      <p:pic>
        <p:nvPicPr>
          <p:cNvPr id="248" name="Google Shape;248;p26"/>
          <p:cNvPicPr preferRelativeResize="0"/>
          <p:nvPr/>
        </p:nvPicPr>
        <p:blipFill rotWithShape="1">
          <a:blip r:embed="rId3">
            <a:alphaModFix/>
          </a:blip>
          <a:srcRect b="6046" l="0" r="0" t="11466"/>
          <a:stretch/>
        </p:blipFill>
        <p:spPr>
          <a:xfrm>
            <a:off x="1307875" y="1262300"/>
            <a:ext cx="3336650" cy="2778499"/>
          </a:xfrm>
          <a:prstGeom prst="rect">
            <a:avLst/>
          </a:prstGeom>
          <a:noFill/>
          <a:ln>
            <a:noFill/>
          </a:ln>
        </p:spPr>
      </p:pic>
      <p:sp>
        <p:nvSpPr>
          <p:cNvPr id="249" name="Google Shape;249;p26"/>
          <p:cNvSpPr txBox="1"/>
          <p:nvPr/>
        </p:nvSpPr>
        <p:spPr>
          <a:xfrm>
            <a:off x="319200" y="406225"/>
            <a:ext cx="9144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700" u="sng">
                <a:solidFill>
                  <a:schemeClr val="dk1"/>
                </a:solidFill>
                <a:latin typeface="Montserrat"/>
                <a:ea typeface="Montserrat"/>
                <a:cs typeface="Montserrat"/>
                <a:sym typeface="Montserrat"/>
              </a:rPr>
              <a:t>Volcano plot</a:t>
            </a:r>
            <a:endParaRPr sz="2700" u="sng">
              <a:solidFill>
                <a:schemeClr val="dk1"/>
              </a:solidFill>
              <a:latin typeface="Montserrat"/>
              <a:ea typeface="Montserrat"/>
              <a:cs typeface="Montserrat"/>
              <a:sym typeface="Montserrat"/>
            </a:endParaRPr>
          </a:p>
        </p:txBody>
      </p:sp>
      <p:sp>
        <p:nvSpPr>
          <p:cNvPr id="250" name="Google Shape;250;p26"/>
          <p:cNvSpPr txBox="1"/>
          <p:nvPr/>
        </p:nvSpPr>
        <p:spPr>
          <a:xfrm>
            <a:off x="783500" y="4040800"/>
            <a:ext cx="4069800" cy="5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9. Volcano plot de genes pertenecientes a muestras M1. En rojo genes sobreexpresados en muestras femeninas, mientras que en azul en muestras masculinas. (-0.58 &lt; log2 FC &lt; 0.58, p-adj &lt; 0.01) Generado con el paquete EnhancedVolcano en R. </a:t>
            </a:r>
            <a:endParaRPr i="1" sz="10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Diagramas de Venn</a:t>
            </a:r>
            <a:endParaRPr u="sng">
              <a:latin typeface="Montserrat"/>
              <a:ea typeface="Montserrat"/>
              <a:cs typeface="Montserrat"/>
              <a:sym typeface="Montserrat"/>
            </a:endParaRPr>
          </a:p>
        </p:txBody>
      </p:sp>
      <p:sp>
        <p:nvSpPr>
          <p:cNvPr id="256" name="Google Shape;256;p27"/>
          <p:cNvSpPr txBox="1"/>
          <p:nvPr>
            <p:ph idx="1" type="body"/>
          </p:nvPr>
        </p:nvSpPr>
        <p:spPr>
          <a:xfrm>
            <a:off x="311700" y="1129025"/>
            <a:ext cx="8520600" cy="744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s">
                <a:latin typeface="Montserrat"/>
                <a:ea typeface="Montserrat"/>
                <a:cs typeface="Montserrat"/>
                <a:sym typeface="Montserrat"/>
              </a:rPr>
              <a:t>Utilizamos casi la totalidad de los pathways de reactome para obtener las listas de genes de cada uno que estuviese disponible en la página de GSEA. </a:t>
            </a:r>
            <a:endParaRPr>
              <a:latin typeface="Montserrat"/>
              <a:ea typeface="Montserrat"/>
              <a:cs typeface="Montserrat"/>
              <a:sym typeface="Montserrat"/>
            </a:endParaRPr>
          </a:p>
        </p:txBody>
      </p:sp>
      <p:pic>
        <p:nvPicPr>
          <p:cNvPr id="257" name="Google Shape;257;p27"/>
          <p:cNvPicPr preferRelativeResize="0"/>
          <p:nvPr/>
        </p:nvPicPr>
        <p:blipFill rotWithShape="1">
          <a:blip r:embed="rId3">
            <a:alphaModFix/>
          </a:blip>
          <a:srcRect b="0" l="0" r="4698" t="0"/>
          <a:stretch/>
        </p:blipFill>
        <p:spPr>
          <a:xfrm>
            <a:off x="1592050" y="1984249"/>
            <a:ext cx="847759" cy="2500211"/>
          </a:xfrm>
          <a:prstGeom prst="rect">
            <a:avLst/>
          </a:prstGeom>
          <a:noFill/>
          <a:ln>
            <a:noFill/>
          </a:ln>
        </p:spPr>
      </p:pic>
      <p:cxnSp>
        <p:nvCxnSpPr>
          <p:cNvPr id="258" name="Google Shape;258;p27"/>
          <p:cNvCxnSpPr/>
          <p:nvPr/>
        </p:nvCxnSpPr>
        <p:spPr>
          <a:xfrm flipH="1" rot="10800000">
            <a:off x="2439801" y="3233296"/>
            <a:ext cx="538200" cy="2100"/>
          </a:xfrm>
          <a:prstGeom prst="straightConnector1">
            <a:avLst/>
          </a:prstGeom>
          <a:noFill/>
          <a:ln cap="flat" cmpd="sng" w="9525">
            <a:solidFill>
              <a:schemeClr val="dk2"/>
            </a:solidFill>
            <a:prstDash val="solid"/>
            <a:round/>
            <a:headEnd len="med" w="med" type="none"/>
            <a:tailEnd len="med" w="med" type="triangle"/>
          </a:ln>
        </p:spPr>
      </p:cxnSp>
      <p:pic>
        <p:nvPicPr>
          <p:cNvPr id="259" name="Google Shape;259;p27"/>
          <p:cNvPicPr preferRelativeResize="0"/>
          <p:nvPr/>
        </p:nvPicPr>
        <p:blipFill>
          <a:blip r:embed="rId4">
            <a:alphaModFix/>
          </a:blip>
          <a:stretch>
            <a:fillRect/>
          </a:stretch>
        </p:blipFill>
        <p:spPr>
          <a:xfrm>
            <a:off x="3113425" y="2333747"/>
            <a:ext cx="753864" cy="1801202"/>
          </a:xfrm>
          <a:prstGeom prst="rect">
            <a:avLst/>
          </a:prstGeom>
          <a:noFill/>
          <a:ln>
            <a:noFill/>
          </a:ln>
        </p:spPr>
      </p:pic>
      <p:cxnSp>
        <p:nvCxnSpPr>
          <p:cNvPr id="260" name="Google Shape;260;p27"/>
          <p:cNvCxnSpPr>
            <a:stCxn id="259" idx="3"/>
            <a:endCxn id="261" idx="1"/>
          </p:cNvCxnSpPr>
          <p:nvPr/>
        </p:nvCxnSpPr>
        <p:spPr>
          <a:xfrm>
            <a:off x="3867289" y="3234348"/>
            <a:ext cx="891600" cy="0"/>
          </a:xfrm>
          <a:prstGeom prst="straightConnector1">
            <a:avLst/>
          </a:prstGeom>
          <a:noFill/>
          <a:ln cap="flat" cmpd="sng" w="9525">
            <a:solidFill>
              <a:schemeClr val="dk2"/>
            </a:solidFill>
            <a:prstDash val="solid"/>
            <a:round/>
            <a:headEnd len="med" w="med" type="none"/>
            <a:tailEnd len="med" w="med" type="triangle"/>
          </a:ln>
        </p:spPr>
      </p:cxnSp>
      <p:sp>
        <p:nvSpPr>
          <p:cNvPr id="261" name="Google Shape;261;p27"/>
          <p:cNvSpPr txBox="1"/>
          <p:nvPr/>
        </p:nvSpPr>
        <p:spPr>
          <a:xfrm>
            <a:off x="4758900" y="3042050"/>
            <a:ext cx="27930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800">
                <a:solidFill>
                  <a:schemeClr val="dk2"/>
                </a:solidFill>
                <a:latin typeface="Montserrat"/>
                <a:ea typeface="Montserrat"/>
                <a:cs typeface="Montserrat"/>
                <a:sym typeface="Montserrat"/>
              </a:rPr>
              <a:t>Lista para contrastar</a:t>
            </a:r>
            <a:endParaRPr i="1" sz="1800">
              <a:solidFill>
                <a:schemeClr val="dk2"/>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Diagramas de Venn</a:t>
            </a:r>
            <a:endParaRPr u="sng">
              <a:latin typeface="Montserrat"/>
              <a:ea typeface="Montserrat"/>
              <a:cs typeface="Montserrat"/>
              <a:sym typeface="Montserrat"/>
            </a:endParaRPr>
          </a:p>
        </p:txBody>
      </p:sp>
      <p:sp>
        <p:nvSpPr>
          <p:cNvPr id="267" name="Google Shape;267;p28"/>
          <p:cNvSpPr txBox="1"/>
          <p:nvPr>
            <p:ph idx="1" type="body"/>
          </p:nvPr>
        </p:nvSpPr>
        <p:spPr>
          <a:xfrm>
            <a:off x="311700" y="1129025"/>
            <a:ext cx="8520600" cy="7440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1200"/>
              </a:spcAft>
              <a:buNone/>
            </a:pPr>
            <a:r>
              <a:rPr lang="es">
                <a:latin typeface="Montserrat"/>
                <a:ea typeface="Montserrat"/>
                <a:cs typeface="Montserrat"/>
                <a:sym typeface="Montserrat"/>
              </a:rPr>
              <a:t>Una vez obtenidas las listas, pudimos contrastar los genes </a:t>
            </a:r>
            <a:r>
              <a:rPr lang="es">
                <a:latin typeface="Montserrat"/>
                <a:ea typeface="Montserrat"/>
                <a:cs typeface="Montserrat"/>
                <a:sym typeface="Montserrat"/>
              </a:rPr>
              <a:t>sobreexpresados</a:t>
            </a:r>
            <a:r>
              <a:rPr lang="es">
                <a:latin typeface="Montserrat"/>
                <a:ea typeface="Montserrat"/>
                <a:cs typeface="Montserrat"/>
                <a:sym typeface="Montserrat"/>
              </a:rPr>
              <a:t> en cada condición. Esto nos permitió realizar diagramas de Venn para cada uno de los pathways disponibles. </a:t>
            </a:r>
            <a:endParaRPr>
              <a:latin typeface="Montserrat"/>
              <a:ea typeface="Montserrat"/>
              <a:cs typeface="Montserrat"/>
              <a:sym typeface="Montserrat"/>
            </a:endParaRPr>
          </a:p>
        </p:txBody>
      </p:sp>
      <p:sp>
        <p:nvSpPr>
          <p:cNvPr id="268" name="Google Shape;268;p28"/>
          <p:cNvSpPr txBox="1"/>
          <p:nvPr/>
        </p:nvSpPr>
        <p:spPr>
          <a:xfrm>
            <a:off x="4387200" y="1776650"/>
            <a:ext cx="47568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Lista de diagramas de Venn relevantes:</a:t>
            </a:r>
            <a:endParaRPr sz="1800">
              <a:solidFill>
                <a:schemeClr val="dk2"/>
              </a:solidFill>
              <a:latin typeface="Montserrat"/>
              <a:ea typeface="Montserrat"/>
              <a:cs typeface="Montserrat"/>
              <a:sym typeface="Montserrat"/>
            </a:endParaRPr>
          </a:p>
        </p:txBody>
      </p:sp>
      <p:sp>
        <p:nvSpPr>
          <p:cNvPr id="269" name="Google Shape;269;p28"/>
          <p:cNvSpPr txBox="1"/>
          <p:nvPr/>
        </p:nvSpPr>
        <p:spPr>
          <a:xfrm>
            <a:off x="4286250" y="2189950"/>
            <a:ext cx="4718400" cy="2340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Metabolismo de poliaminas</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Glicolisis</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TCA Cycle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Cell Junction Organization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Cellular Response to hypoxia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Cellular Response to chemical stress</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DNA Replication </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Cytokine signaling</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Cell death</a:t>
            </a:r>
            <a:endParaRPr>
              <a:solidFill>
                <a:schemeClr val="dk2"/>
              </a:solidFill>
              <a:latin typeface="Montserrat"/>
              <a:ea typeface="Montserrat"/>
              <a:cs typeface="Montserrat"/>
              <a:sym typeface="Montserrat"/>
            </a:endParaRPr>
          </a:p>
          <a:p>
            <a:pPr indent="-317500" lvl="0" marL="457200" rtl="0" algn="l">
              <a:spcBef>
                <a:spcPts val="0"/>
              </a:spcBef>
              <a:spcAft>
                <a:spcPts val="0"/>
              </a:spcAft>
              <a:buClr>
                <a:schemeClr val="dk2"/>
              </a:buClr>
              <a:buSzPts val="1400"/>
              <a:buFont typeface="Montserrat"/>
              <a:buChar char="●"/>
            </a:pPr>
            <a:r>
              <a:rPr lang="es">
                <a:solidFill>
                  <a:schemeClr val="dk2"/>
                </a:solidFill>
                <a:latin typeface="Montserrat"/>
                <a:ea typeface="Montserrat"/>
                <a:cs typeface="Montserrat"/>
                <a:sym typeface="Montserrat"/>
              </a:rPr>
              <a:t>Oxphos</a:t>
            </a:r>
            <a:endParaRPr>
              <a:solidFill>
                <a:schemeClr val="dk2"/>
              </a:solidFill>
              <a:latin typeface="Montserrat"/>
              <a:ea typeface="Montserrat"/>
              <a:cs typeface="Montserrat"/>
              <a:sym typeface="Montserrat"/>
            </a:endParaRPr>
          </a:p>
        </p:txBody>
      </p:sp>
      <p:sp>
        <p:nvSpPr>
          <p:cNvPr id="270" name="Google Shape;270;p28"/>
          <p:cNvSpPr txBox="1"/>
          <p:nvPr/>
        </p:nvSpPr>
        <p:spPr>
          <a:xfrm>
            <a:off x="72200" y="4378600"/>
            <a:ext cx="4452000" cy="39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s" sz="1100">
                <a:solidFill>
                  <a:schemeClr val="dk2"/>
                </a:solidFill>
                <a:latin typeface="Montserrat"/>
                <a:ea typeface="Montserrat"/>
                <a:cs typeface="Montserrat"/>
                <a:sym typeface="Montserrat"/>
              </a:rPr>
              <a:t>Figura 10. Diagrama de Venn para el pathway de metabolismo de poliaminas. Generado con venn2 en python.  </a:t>
            </a:r>
            <a:endParaRPr i="1" sz="1100">
              <a:solidFill>
                <a:schemeClr val="dk2"/>
              </a:solidFill>
              <a:latin typeface="Montserrat"/>
              <a:ea typeface="Montserrat"/>
              <a:cs typeface="Montserrat"/>
              <a:sym typeface="Montserrat"/>
            </a:endParaRPr>
          </a:p>
        </p:txBody>
      </p:sp>
      <p:pic>
        <p:nvPicPr>
          <p:cNvPr id="271" name="Google Shape;271;p28"/>
          <p:cNvPicPr preferRelativeResize="0"/>
          <p:nvPr/>
        </p:nvPicPr>
        <p:blipFill rotWithShape="1">
          <a:blip r:embed="rId3">
            <a:alphaModFix/>
          </a:blip>
          <a:srcRect b="19328" l="6199" r="3303" t="17858"/>
          <a:stretch/>
        </p:blipFill>
        <p:spPr>
          <a:xfrm>
            <a:off x="529600" y="1741375"/>
            <a:ext cx="3663550" cy="254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Diagramas de Venn</a:t>
            </a:r>
            <a:endParaRPr u="sng">
              <a:latin typeface="Montserrat"/>
              <a:ea typeface="Montserrat"/>
              <a:cs typeface="Montserrat"/>
              <a:sym typeface="Montserrat"/>
            </a:endParaRPr>
          </a:p>
        </p:txBody>
      </p:sp>
      <p:pic>
        <p:nvPicPr>
          <p:cNvPr id="277" name="Google Shape;277;p29"/>
          <p:cNvPicPr preferRelativeResize="0"/>
          <p:nvPr/>
        </p:nvPicPr>
        <p:blipFill rotWithShape="1">
          <a:blip r:embed="rId3">
            <a:alphaModFix/>
          </a:blip>
          <a:srcRect b="19849" l="2884" r="0" t="15664"/>
          <a:stretch/>
        </p:blipFill>
        <p:spPr>
          <a:xfrm>
            <a:off x="50550" y="1748200"/>
            <a:ext cx="2927305" cy="1943825"/>
          </a:xfrm>
          <a:prstGeom prst="rect">
            <a:avLst/>
          </a:prstGeom>
          <a:noFill/>
          <a:ln>
            <a:noFill/>
          </a:ln>
        </p:spPr>
      </p:pic>
      <p:pic>
        <p:nvPicPr>
          <p:cNvPr id="278" name="Google Shape;278;p29"/>
          <p:cNvPicPr preferRelativeResize="0"/>
          <p:nvPr/>
        </p:nvPicPr>
        <p:blipFill rotWithShape="1">
          <a:blip r:embed="rId4">
            <a:alphaModFix/>
          </a:blip>
          <a:srcRect b="18799" l="3800" r="0" t="14752"/>
          <a:stretch/>
        </p:blipFill>
        <p:spPr>
          <a:xfrm>
            <a:off x="2977850" y="1636625"/>
            <a:ext cx="3023500" cy="2088628"/>
          </a:xfrm>
          <a:prstGeom prst="rect">
            <a:avLst/>
          </a:prstGeom>
          <a:noFill/>
          <a:ln>
            <a:noFill/>
          </a:ln>
        </p:spPr>
      </p:pic>
      <p:pic>
        <p:nvPicPr>
          <p:cNvPr id="279" name="Google Shape;279;p29"/>
          <p:cNvPicPr preferRelativeResize="0"/>
          <p:nvPr/>
        </p:nvPicPr>
        <p:blipFill rotWithShape="1">
          <a:blip r:embed="rId5">
            <a:alphaModFix/>
          </a:blip>
          <a:srcRect b="16905" l="0" r="0" t="14597"/>
          <a:stretch/>
        </p:blipFill>
        <p:spPr>
          <a:xfrm>
            <a:off x="5950600" y="1675800"/>
            <a:ext cx="3049250" cy="2088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Diagramas de Venn</a:t>
            </a:r>
            <a:endParaRPr u="sng">
              <a:latin typeface="Montserrat"/>
              <a:ea typeface="Montserrat"/>
              <a:cs typeface="Montserrat"/>
              <a:sym typeface="Montserrat"/>
            </a:endParaRPr>
          </a:p>
        </p:txBody>
      </p:sp>
      <p:pic>
        <p:nvPicPr>
          <p:cNvPr id="285" name="Google Shape;285;p30"/>
          <p:cNvPicPr preferRelativeResize="0"/>
          <p:nvPr/>
        </p:nvPicPr>
        <p:blipFill rotWithShape="1">
          <a:blip r:embed="rId3">
            <a:alphaModFix/>
          </a:blip>
          <a:srcRect b="18500" l="0" r="0" t="17083"/>
          <a:stretch/>
        </p:blipFill>
        <p:spPr>
          <a:xfrm>
            <a:off x="37725" y="1760276"/>
            <a:ext cx="3016525" cy="1943175"/>
          </a:xfrm>
          <a:prstGeom prst="rect">
            <a:avLst/>
          </a:prstGeom>
          <a:noFill/>
          <a:ln>
            <a:noFill/>
          </a:ln>
        </p:spPr>
      </p:pic>
      <p:pic>
        <p:nvPicPr>
          <p:cNvPr id="286" name="Google Shape;286;p30"/>
          <p:cNvPicPr preferRelativeResize="0"/>
          <p:nvPr/>
        </p:nvPicPr>
        <p:blipFill rotWithShape="1">
          <a:blip r:embed="rId4">
            <a:alphaModFix/>
          </a:blip>
          <a:srcRect b="18986" l="0" r="0" t="17409"/>
          <a:stretch/>
        </p:blipFill>
        <p:spPr>
          <a:xfrm>
            <a:off x="2960000" y="1734863"/>
            <a:ext cx="3134950" cy="1994000"/>
          </a:xfrm>
          <a:prstGeom prst="rect">
            <a:avLst/>
          </a:prstGeom>
          <a:noFill/>
          <a:ln>
            <a:noFill/>
          </a:ln>
        </p:spPr>
      </p:pic>
      <p:pic>
        <p:nvPicPr>
          <p:cNvPr id="287" name="Google Shape;287;p30"/>
          <p:cNvPicPr preferRelativeResize="0"/>
          <p:nvPr/>
        </p:nvPicPr>
        <p:blipFill rotWithShape="1">
          <a:blip r:embed="rId5">
            <a:alphaModFix/>
          </a:blip>
          <a:srcRect b="17682" l="0" r="0" t="15793"/>
          <a:stretch/>
        </p:blipFill>
        <p:spPr>
          <a:xfrm>
            <a:off x="5977775" y="1603275"/>
            <a:ext cx="3195257" cy="2125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Finalmente …</a:t>
            </a:r>
            <a:endParaRPr u="sng">
              <a:latin typeface="Montserrat"/>
              <a:ea typeface="Montserrat"/>
              <a:cs typeface="Montserrat"/>
              <a:sym typeface="Montserrat"/>
            </a:endParaRPr>
          </a:p>
        </p:txBody>
      </p:sp>
      <p:sp>
        <p:nvSpPr>
          <p:cNvPr id="293" name="Google Shape;293;p31"/>
          <p:cNvSpPr txBox="1"/>
          <p:nvPr/>
        </p:nvSpPr>
        <p:spPr>
          <a:xfrm>
            <a:off x="450800" y="1152850"/>
            <a:ext cx="8381400" cy="88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800">
                <a:solidFill>
                  <a:schemeClr val="dk2"/>
                </a:solidFill>
                <a:latin typeface="Montserrat SemiBold"/>
                <a:ea typeface="Montserrat SemiBold"/>
                <a:cs typeface="Montserrat SemiBold"/>
                <a:sym typeface="Montserrat SemiBold"/>
              </a:rPr>
              <a:t>Se replicaron los análisis para la tesis, pero utilizando otra base de datos (</a:t>
            </a:r>
            <a:r>
              <a:rPr lang="es" sz="1800">
                <a:highlight>
                  <a:srgbClr val="FFFFFF"/>
                </a:highlight>
                <a:latin typeface="Montserrat SemiBold"/>
                <a:ea typeface="Montserrat SemiBold"/>
                <a:cs typeface="Montserrat SemiBold"/>
                <a:sym typeface="Montserrat SemiBold"/>
              </a:rPr>
              <a:t>Pisarska RNA-seq</a:t>
            </a:r>
            <a:r>
              <a:rPr lang="es" sz="1800">
                <a:solidFill>
                  <a:schemeClr val="dk2"/>
                </a:solidFill>
                <a:latin typeface="Montserrat SemiBold"/>
                <a:ea typeface="Montserrat SemiBold"/>
                <a:cs typeface="Montserrat SemiBold"/>
                <a:sym typeface="Montserrat SemiBold"/>
              </a:rPr>
              <a:t>)</a:t>
            </a:r>
            <a:endParaRPr sz="1800">
              <a:solidFill>
                <a:schemeClr val="dk2"/>
              </a:solidFill>
              <a:latin typeface="Montserrat SemiBold"/>
              <a:ea typeface="Montserrat SemiBold"/>
              <a:cs typeface="Montserrat SemiBold"/>
              <a:sym typeface="Montserrat SemiBold"/>
            </a:endParaRPr>
          </a:p>
        </p:txBody>
      </p:sp>
      <p:pic>
        <p:nvPicPr>
          <p:cNvPr id="294" name="Google Shape;294;p31"/>
          <p:cNvPicPr preferRelativeResize="0"/>
          <p:nvPr/>
        </p:nvPicPr>
        <p:blipFill>
          <a:blip r:embed="rId3">
            <a:alphaModFix/>
          </a:blip>
          <a:stretch>
            <a:fillRect/>
          </a:stretch>
        </p:blipFill>
        <p:spPr>
          <a:xfrm>
            <a:off x="4955975" y="2106150"/>
            <a:ext cx="1883525" cy="2060024"/>
          </a:xfrm>
          <a:prstGeom prst="rect">
            <a:avLst/>
          </a:prstGeom>
          <a:noFill/>
          <a:ln>
            <a:noFill/>
          </a:ln>
        </p:spPr>
      </p:pic>
      <p:pic>
        <p:nvPicPr>
          <p:cNvPr id="295" name="Google Shape;295;p31"/>
          <p:cNvPicPr preferRelativeResize="0"/>
          <p:nvPr/>
        </p:nvPicPr>
        <p:blipFill>
          <a:blip r:embed="rId4">
            <a:alphaModFix/>
          </a:blip>
          <a:stretch>
            <a:fillRect/>
          </a:stretch>
        </p:blipFill>
        <p:spPr>
          <a:xfrm>
            <a:off x="1867550" y="2174700"/>
            <a:ext cx="2810374" cy="1857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2"/>
          <p:cNvSpPr txBox="1"/>
          <p:nvPr>
            <p:ph type="title"/>
          </p:nvPr>
        </p:nvSpPr>
        <p:spPr>
          <a:xfrm>
            <a:off x="275675"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Sexos de las muestras GM</a:t>
            </a:r>
            <a:endParaRPr u="sng">
              <a:latin typeface="Montserrat"/>
              <a:ea typeface="Montserrat"/>
              <a:cs typeface="Montserrat"/>
              <a:sym typeface="Montserrat"/>
            </a:endParaRPr>
          </a:p>
        </p:txBody>
      </p:sp>
      <p:sp>
        <p:nvSpPr>
          <p:cNvPr id="301" name="Google Shape;301;p32"/>
          <p:cNvSpPr txBox="1"/>
          <p:nvPr/>
        </p:nvSpPr>
        <p:spPr>
          <a:xfrm>
            <a:off x="6562650" y="1199500"/>
            <a:ext cx="2377200" cy="27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Se determinó el sexo de cada muestra realizando un heatmap para la expresión de 5 genes del cromosoma Y, además de un PCA plot en R.</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200">
              <a:solidFill>
                <a:schemeClr val="dk2"/>
              </a:solidFill>
              <a:latin typeface="Montserrat"/>
              <a:ea typeface="Montserrat"/>
              <a:cs typeface="Montserrat"/>
              <a:sym typeface="Montserrat"/>
            </a:endParaRPr>
          </a:p>
          <a:p>
            <a:pPr indent="0" lvl="0" marL="0" rtl="0" algn="l">
              <a:spcBef>
                <a:spcPts val="0"/>
              </a:spcBef>
              <a:spcAft>
                <a:spcPts val="0"/>
              </a:spcAft>
              <a:buNone/>
            </a:pPr>
            <a:r>
              <a:rPr lang="es" sz="1200">
                <a:solidFill>
                  <a:schemeClr val="dk2"/>
                </a:solidFill>
                <a:latin typeface="Montserrat"/>
                <a:ea typeface="Montserrat"/>
                <a:cs typeface="Montserrat"/>
                <a:sym typeface="Montserrat"/>
              </a:rPr>
              <a:t>Con estos datos pasamos a realizar los contrastes de expresión diferencial </a:t>
            </a:r>
            <a:endParaRPr sz="1200">
              <a:solidFill>
                <a:schemeClr val="dk2"/>
              </a:solidFill>
              <a:latin typeface="Montserrat"/>
              <a:ea typeface="Montserrat"/>
              <a:cs typeface="Montserrat"/>
              <a:sym typeface="Montserrat"/>
            </a:endParaRPr>
          </a:p>
        </p:txBody>
      </p:sp>
      <p:sp>
        <p:nvSpPr>
          <p:cNvPr id="302" name="Google Shape;302;p32"/>
          <p:cNvSpPr txBox="1"/>
          <p:nvPr/>
        </p:nvSpPr>
        <p:spPr>
          <a:xfrm>
            <a:off x="275675" y="4185925"/>
            <a:ext cx="28866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13. Heatmap de la expresión de genes del cromosoma Y para las muestras GM, generado con la función pheatmap en R. </a:t>
            </a:r>
            <a:endParaRPr i="1" sz="1000">
              <a:solidFill>
                <a:schemeClr val="dk2"/>
              </a:solidFill>
              <a:latin typeface="Roboto"/>
              <a:ea typeface="Roboto"/>
              <a:cs typeface="Roboto"/>
              <a:sym typeface="Roboto"/>
            </a:endParaRPr>
          </a:p>
        </p:txBody>
      </p:sp>
      <p:sp>
        <p:nvSpPr>
          <p:cNvPr id="303" name="Google Shape;303;p32"/>
          <p:cNvSpPr txBox="1"/>
          <p:nvPr/>
        </p:nvSpPr>
        <p:spPr>
          <a:xfrm>
            <a:off x="3551575" y="4149725"/>
            <a:ext cx="2807100" cy="49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14. PCA plot para las muestras GM teniendo en cuenta la expresión de genes del cromosoma Y. En rojo muestras femeninas y en azul masculinas</a:t>
            </a:r>
            <a:endParaRPr i="1" sz="1000">
              <a:solidFill>
                <a:schemeClr val="dk2"/>
              </a:solidFill>
              <a:latin typeface="Roboto"/>
              <a:ea typeface="Roboto"/>
              <a:cs typeface="Roboto"/>
              <a:sym typeface="Roboto"/>
            </a:endParaRPr>
          </a:p>
        </p:txBody>
      </p:sp>
      <p:pic>
        <p:nvPicPr>
          <p:cNvPr id="304" name="Google Shape;304;p32"/>
          <p:cNvPicPr preferRelativeResize="0"/>
          <p:nvPr/>
        </p:nvPicPr>
        <p:blipFill>
          <a:blip r:embed="rId3">
            <a:alphaModFix/>
          </a:blip>
          <a:stretch>
            <a:fillRect/>
          </a:stretch>
        </p:blipFill>
        <p:spPr>
          <a:xfrm>
            <a:off x="152400" y="1170200"/>
            <a:ext cx="2863325" cy="2863325"/>
          </a:xfrm>
          <a:prstGeom prst="rect">
            <a:avLst/>
          </a:prstGeom>
          <a:noFill/>
          <a:ln>
            <a:noFill/>
          </a:ln>
        </p:spPr>
      </p:pic>
      <p:pic>
        <p:nvPicPr>
          <p:cNvPr id="305" name="Google Shape;305;p32"/>
          <p:cNvPicPr preferRelativeResize="0"/>
          <p:nvPr/>
        </p:nvPicPr>
        <p:blipFill>
          <a:blip r:embed="rId4">
            <a:alphaModFix/>
          </a:blip>
          <a:stretch>
            <a:fillRect/>
          </a:stretch>
        </p:blipFill>
        <p:spPr>
          <a:xfrm>
            <a:off x="3541562" y="1170200"/>
            <a:ext cx="2827125" cy="2827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Análisis de enriquecimiento (GSEA)</a:t>
            </a:r>
            <a:endParaRPr u="sng">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11" name="Google Shape;311;p33"/>
          <p:cNvSpPr txBox="1"/>
          <p:nvPr>
            <p:ph idx="1" type="body"/>
          </p:nvPr>
        </p:nvSpPr>
        <p:spPr>
          <a:xfrm>
            <a:off x="5592650" y="1539675"/>
            <a:ext cx="3347700" cy="939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es">
                <a:latin typeface="Montserrat"/>
                <a:ea typeface="Montserrat"/>
                <a:cs typeface="Montserrat"/>
                <a:sym typeface="Montserrat"/>
              </a:rPr>
              <a:t>Muestras GM.</a:t>
            </a:r>
            <a:endParaRPr>
              <a:latin typeface="Montserrat"/>
              <a:ea typeface="Montserrat"/>
              <a:cs typeface="Montserrat"/>
              <a:sym typeface="Montserrat"/>
            </a:endParaRPr>
          </a:p>
          <a:p>
            <a:pPr indent="0" lvl="0" marL="0" rtl="0" algn="r">
              <a:spcBef>
                <a:spcPts val="1200"/>
              </a:spcBef>
              <a:spcAft>
                <a:spcPts val="1200"/>
              </a:spcAft>
              <a:buNone/>
            </a:pPr>
            <a:r>
              <a:rPr lang="es">
                <a:latin typeface="Montserrat"/>
                <a:ea typeface="Montserrat"/>
                <a:cs typeface="Montserrat"/>
                <a:sym typeface="Montserrat"/>
              </a:rPr>
              <a:t>Contraste: Female vs Male.</a:t>
            </a:r>
            <a:endParaRPr>
              <a:latin typeface="Montserrat"/>
              <a:ea typeface="Montserrat"/>
              <a:cs typeface="Montserrat"/>
              <a:sym typeface="Montserrat"/>
            </a:endParaRPr>
          </a:p>
        </p:txBody>
      </p:sp>
      <p:sp>
        <p:nvSpPr>
          <p:cNvPr id="312" name="Google Shape;312;p33"/>
          <p:cNvSpPr txBox="1"/>
          <p:nvPr/>
        </p:nvSpPr>
        <p:spPr>
          <a:xfrm>
            <a:off x="816875" y="3623500"/>
            <a:ext cx="4855500" cy="98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100">
                <a:latin typeface="Montserrat"/>
                <a:ea typeface="Montserrat"/>
                <a:cs typeface="Montserrat"/>
                <a:sym typeface="Montserrat"/>
              </a:rPr>
              <a:t>Figura 15. Gráfico dotplot del GSEA de las vías significativamente enriquecidas (1.5 &lt; log10FC &lt; -1.5, p-valor ajustado &lt; 0.05, FDR q-val &lt; 0.05. El relleno de los círculos indica el porcentaje de los genes que están presentes en la vía. El color indica el nivel de significancia de ese enriquecimiento. </a:t>
            </a:r>
            <a:endParaRPr i="1" sz="1100">
              <a:latin typeface="Montserrat"/>
              <a:ea typeface="Montserrat"/>
              <a:cs typeface="Montserrat"/>
              <a:sym typeface="Montserrat"/>
            </a:endParaRPr>
          </a:p>
        </p:txBody>
      </p:sp>
      <p:pic>
        <p:nvPicPr>
          <p:cNvPr id="313" name="Google Shape;313;p33"/>
          <p:cNvPicPr preferRelativeResize="0"/>
          <p:nvPr/>
        </p:nvPicPr>
        <p:blipFill>
          <a:blip r:embed="rId3">
            <a:alphaModFix/>
          </a:blip>
          <a:stretch>
            <a:fillRect/>
          </a:stretch>
        </p:blipFill>
        <p:spPr>
          <a:xfrm>
            <a:off x="845900" y="1143325"/>
            <a:ext cx="4529750" cy="2534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4"/>
          <p:cNvSpPr txBox="1"/>
          <p:nvPr/>
        </p:nvSpPr>
        <p:spPr>
          <a:xfrm>
            <a:off x="319200" y="406225"/>
            <a:ext cx="9144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700" u="sng">
                <a:solidFill>
                  <a:schemeClr val="dk1"/>
                </a:solidFill>
                <a:latin typeface="Montserrat"/>
                <a:ea typeface="Montserrat"/>
                <a:cs typeface="Montserrat"/>
                <a:sym typeface="Montserrat"/>
              </a:rPr>
              <a:t>Volcano plot</a:t>
            </a:r>
            <a:endParaRPr sz="2700" u="sng">
              <a:solidFill>
                <a:schemeClr val="dk1"/>
              </a:solidFill>
              <a:latin typeface="Montserrat"/>
              <a:ea typeface="Montserrat"/>
              <a:cs typeface="Montserrat"/>
              <a:sym typeface="Montserrat"/>
            </a:endParaRPr>
          </a:p>
        </p:txBody>
      </p:sp>
      <p:sp>
        <p:nvSpPr>
          <p:cNvPr id="319" name="Google Shape;319;p34"/>
          <p:cNvSpPr txBox="1"/>
          <p:nvPr/>
        </p:nvSpPr>
        <p:spPr>
          <a:xfrm>
            <a:off x="4715500" y="2169100"/>
            <a:ext cx="4069800" cy="5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16. Volcano plot de genes pertenecientes a muestras GM. En rojo genes sobreexpresados en muestras femeninas, mientras que en azul en muestras masculinas. (-0.58 &lt; log2 FC &lt; 0.58, p-adj &lt; 0.01) Generado con el paquete EnhancedVolcano en R. </a:t>
            </a:r>
            <a:endParaRPr i="1" sz="1000">
              <a:solidFill>
                <a:schemeClr val="dk2"/>
              </a:solidFill>
              <a:latin typeface="Roboto"/>
              <a:ea typeface="Roboto"/>
              <a:cs typeface="Roboto"/>
              <a:sym typeface="Roboto"/>
            </a:endParaRPr>
          </a:p>
        </p:txBody>
      </p:sp>
      <p:pic>
        <p:nvPicPr>
          <p:cNvPr id="320" name="Google Shape;320;p34"/>
          <p:cNvPicPr preferRelativeResize="0"/>
          <p:nvPr/>
        </p:nvPicPr>
        <p:blipFill rotWithShape="1">
          <a:blip r:embed="rId3">
            <a:alphaModFix/>
          </a:blip>
          <a:srcRect b="0" l="0" r="0" t="6568"/>
          <a:stretch/>
        </p:blipFill>
        <p:spPr>
          <a:xfrm>
            <a:off x="938550" y="1102700"/>
            <a:ext cx="3675351" cy="34341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Enriquecimiento y GO-Figure!</a:t>
            </a:r>
            <a:endParaRPr u="sng">
              <a:latin typeface="Montserrat"/>
              <a:ea typeface="Montserrat"/>
              <a:cs typeface="Montserrat"/>
              <a:sym typeface="Montserrat"/>
            </a:endParaRPr>
          </a:p>
        </p:txBody>
      </p:sp>
      <p:sp>
        <p:nvSpPr>
          <p:cNvPr id="326" name="Google Shape;326;p35"/>
          <p:cNvSpPr txBox="1"/>
          <p:nvPr>
            <p:ph idx="1" type="body"/>
          </p:nvPr>
        </p:nvSpPr>
        <p:spPr>
          <a:xfrm>
            <a:off x="311700" y="1129025"/>
            <a:ext cx="8520600" cy="74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200">
                <a:latin typeface="Montserrat"/>
                <a:ea typeface="Montserrat"/>
                <a:cs typeface="Montserrat"/>
                <a:sym typeface="Montserrat"/>
              </a:rPr>
              <a:t>Realizamos un enriquecimiento de las vías de la base de datos “Cellular component 2023” y analizamos qué vías tienen similaridad semántica según los genes sobre expresados en femenino o masculino. </a:t>
            </a:r>
            <a:endParaRPr sz="1200">
              <a:latin typeface="Montserrat"/>
              <a:ea typeface="Montserrat"/>
              <a:cs typeface="Montserrat"/>
              <a:sym typeface="Montserrat"/>
            </a:endParaRPr>
          </a:p>
        </p:txBody>
      </p:sp>
      <p:sp>
        <p:nvSpPr>
          <p:cNvPr id="327" name="Google Shape;327;p35"/>
          <p:cNvSpPr txBox="1"/>
          <p:nvPr/>
        </p:nvSpPr>
        <p:spPr>
          <a:xfrm>
            <a:off x="168500" y="4033500"/>
            <a:ext cx="3271800" cy="69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17. Gráfico de GO-Figure para el resultado de análisis de enriquecimiento de la base de datos Cellular component 2023 con genes sobre expresados en muestras masculinas. </a:t>
            </a:r>
            <a:endParaRPr i="1" sz="1000">
              <a:solidFill>
                <a:schemeClr val="dk2"/>
              </a:solidFill>
              <a:latin typeface="Roboto"/>
              <a:ea typeface="Roboto"/>
              <a:cs typeface="Roboto"/>
              <a:sym typeface="Roboto"/>
            </a:endParaRPr>
          </a:p>
        </p:txBody>
      </p:sp>
      <p:sp>
        <p:nvSpPr>
          <p:cNvPr id="328" name="Google Shape;328;p35"/>
          <p:cNvSpPr txBox="1"/>
          <p:nvPr/>
        </p:nvSpPr>
        <p:spPr>
          <a:xfrm>
            <a:off x="3612775" y="4033500"/>
            <a:ext cx="2975400" cy="69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s" sz="1000">
                <a:solidFill>
                  <a:schemeClr val="dk2"/>
                </a:solidFill>
                <a:latin typeface="Roboto"/>
                <a:ea typeface="Roboto"/>
                <a:cs typeface="Roboto"/>
                <a:sym typeface="Roboto"/>
              </a:rPr>
              <a:t>Figura 18. Gráfico de GO-Figure para el resultado de análisis de enriquecimiento de la base de datos Cellular component 2023 con genes sobre expresados en muestras femeninas </a:t>
            </a:r>
            <a:endParaRPr i="1" sz="10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329" name="Google Shape;329;p35"/>
          <p:cNvPicPr preferRelativeResize="0"/>
          <p:nvPr/>
        </p:nvPicPr>
        <p:blipFill>
          <a:blip r:embed="rId3">
            <a:alphaModFix/>
          </a:blip>
          <a:stretch>
            <a:fillRect/>
          </a:stretch>
        </p:blipFill>
        <p:spPr>
          <a:xfrm>
            <a:off x="893375" y="1800550"/>
            <a:ext cx="2251028" cy="2193873"/>
          </a:xfrm>
          <a:prstGeom prst="rect">
            <a:avLst/>
          </a:prstGeom>
          <a:noFill/>
          <a:ln>
            <a:noFill/>
          </a:ln>
        </p:spPr>
      </p:pic>
      <p:pic>
        <p:nvPicPr>
          <p:cNvPr id="330" name="Google Shape;330;p35"/>
          <p:cNvPicPr preferRelativeResize="0"/>
          <p:nvPr/>
        </p:nvPicPr>
        <p:blipFill>
          <a:blip r:embed="rId4">
            <a:alphaModFix/>
          </a:blip>
          <a:stretch>
            <a:fillRect/>
          </a:stretch>
        </p:blipFill>
        <p:spPr>
          <a:xfrm>
            <a:off x="3974963" y="1793963"/>
            <a:ext cx="2251023" cy="220705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ph type="title"/>
          </p:nvPr>
        </p:nvSpPr>
        <p:spPr>
          <a:xfrm>
            <a:off x="136525" y="424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36" name="Google Shape;336;p36"/>
          <p:cNvSpPr txBox="1"/>
          <p:nvPr>
            <p:ph idx="1" type="body"/>
          </p:nvPr>
        </p:nvSpPr>
        <p:spPr>
          <a:xfrm>
            <a:off x="136525" y="10827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100">
                <a:latin typeface="Montserrat"/>
                <a:ea typeface="Montserrat"/>
                <a:cs typeface="Montserrat"/>
                <a:sym typeface="Montserrat"/>
              </a:rPr>
              <a:t>Se realizó un contraste de los genes DE, de cada condición, contra la lista de genes de los siguientes pathways de interés, utilizando los gene sets de reactome</a:t>
            </a:r>
            <a:r>
              <a:rPr lang="es" sz="1100"/>
              <a:t>:</a:t>
            </a:r>
            <a:endParaRPr sz="1100"/>
          </a:p>
          <a:p>
            <a:pPr indent="-292100" lvl="0" marL="457200" rtl="0" algn="l">
              <a:spcBef>
                <a:spcPts val="1200"/>
              </a:spcBef>
              <a:spcAft>
                <a:spcPts val="0"/>
              </a:spcAft>
              <a:buSzPts val="1000"/>
              <a:buChar char="●"/>
            </a:pPr>
            <a:r>
              <a:rPr i="1" lang="es" sz="1000"/>
              <a:t>Toll Like Receptor 4 (TLR4) Cascade</a:t>
            </a:r>
            <a:endParaRPr i="1" sz="1000"/>
          </a:p>
          <a:p>
            <a:pPr indent="-292100" lvl="0" marL="457200" rtl="0" algn="l">
              <a:spcBef>
                <a:spcPts val="0"/>
              </a:spcBef>
              <a:spcAft>
                <a:spcPts val="0"/>
              </a:spcAft>
              <a:buSzPts val="1000"/>
              <a:buChar char="●"/>
            </a:pPr>
            <a:r>
              <a:rPr i="1" lang="es" sz="1000"/>
              <a:t>Interleukin-1 processing</a:t>
            </a:r>
            <a:endParaRPr i="1" sz="1000"/>
          </a:p>
          <a:p>
            <a:pPr indent="-292100" lvl="0" marL="457200" rtl="0" algn="l">
              <a:spcBef>
                <a:spcPts val="0"/>
              </a:spcBef>
              <a:spcAft>
                <a:spcPts val="0"/>
              </a:spcAft>
              <a:buSzPts val="1000"/>
              <a:buChar char="●"/>
            </a:pPr>
            <a:r>
              <a:rPr i="1" lang="es" sz="1000"/>
              <a:t>Interleukin-1 signaling</a:t>
            </a:r>
            <a:endParaRPr i="1" sz="1000"/>
          </a:p>
          <a:p>
            <a:pPr indent="-292100" lvl="0" marL="457200" rtl="0" algn="l">
              <a:spcBef>
                <a:spcPts val="0"/>
              </a:spcBef>
              <a:spcAft>
                <a:spcPts val="0"/>
              </a:spcAft>
              <a:buSzPts val="1000"/>
              <a:buChar char="●"/>
            </a:pPr>
            <a:r>
              <a:rPr i="1" lang="es" sz="1000"/>
              <a:t>Interleuking</a:t>
            </a:r>
            <a:r>
              <a:rPr i="1" lang="es" sz="1000"/>
              <a:t>-10 signaling</a:t>
            </a:r>
            <a:endParaRPr i="1" sz="1000"/>
          </a:p>
          <a:p>
            <a:pPr indent="-292100" lvl="0" marL="457200" rtl="0" algn="l">
              <a:spcBef>
                <a:spcPts val="0"/>
              </a:spcBef>
              <a:spcAft>
                <a:spcPts val="0"/>
              </a:spcAft>
              <a:buSzPts val="1000"/>
              <a:buChar char="●"/>
            </a:pPr>
            <a:r>
              <a:rPr i="1" lang="es" sz="1000"/>
              <a:t>Signaling by TGF-beta Receptor Complex</a:t>
            </a:r>
            <a:endParaRPr i="1" sz="1000"/>
          </a:p>
          <a:p>
            <a:pPr indent="-292100" lvl="0" marL="457200" rtl="0" algn="l">
              <a:spcBef>
                <a:spcPts val="0"/>
              </a:spcBef>
              <a:spcAft>
                <a:spcPts val="0"/>
              </a:spcAft>
              <a:buSzPts val="1000"/>
              <a:buChar char="●"/>
            </a:pPr>
            <a:r>
              <a:rPr i="1" lang="es" sz="1000"/>
              <a:t>Glycolysis</a:t>
            </a:r>
            <a:endParaRPr i="1" sz="1000"/>
          </a:p>
          <a:p>
            <a:pPr indent="-292100" lvl="0" marL="457200" rtl="0" algn="l">
              <a:spcBef>
                <a:spcPts val="0"/>
              </a:spcBef>
              <a:spcAft>
                <a:spcPts val="0"/>
              </a:spcAft>
              <a:buSzPts val="1000"/>
              <a:buChar char="●"/>
            </a:pPr>
            <a:r>
              <a:rPr i="1" lang="es" sz="1000"/>
              <a:t>Regulation of lipid metabolism by PPARalpha</a:t>
            </a:r>
            <a:endParaRPr i="1" sz="1000"/>
          </a:p>
          <a:p>
            <a:pPr indent="-292100" lvl="0" marL="457200" rtl="0" algn="l">
              <a:spcBef>
                <a:spcPts val="0"/>
              </a:spcBef>
              <a:spcAft>
                <a:spcPts val="0"/>
              </a:spcAft>
              <a:buSzPts val="1000"/>
              <a:buChar char="●"/>
            </a:pPr>
            <a:r>
              <a:rPr i="1" lang="es" sz="1000"/>
              <a:t>Mitochondrial Fatty Acid Beta-Oxidation</a:t>
            </a:r>
            <a:endParaRPr i="1" sz="1000"/>
          </a:p>
          <a:p>
            <a:pPr indent="-292100" lvl="0" marL="457200" rtl="0" algn="l">
              <a:spcBef>
                <a:spcPts val="0"/>
              </a:spcBef>
              <a:spcAft>
                <a:spcPts val="0"/>
              </a:spcAft>
              <a:buSzPts val="1000"/>
              <a:buChar char="●"/>
            </a:pPr>
            <a:r>
              <a:rPr i="1" lang="es" sz="1000"/>
              <a:t>Transport of fatty acids</a:t>
            </a:r>
            <a:endParaRPr i="1" sz="1000"/>
          </a:p>
          <a:p>
            <a:pPr indent="-292100" lvl="0" marL="457200" rtl="0" algn="l">
              <a:spcBef>
                <a:spcPts val="0"/>
              </a:spcBef>
              <a:spcAft>
                <a:spcPts val="0"/>
              </a:spcAft>
              <a:buSzPts val="1000"/>
              <a:buChar char="●"/>
            </a:pPr>
            <a:r>
              <a:rPr i="1" lang="es" sz="1000"/>
              <a:t>Binding and uptake of ligands by scavenger receptors</a:t>
            </a:r>
            <a:endParaRPr i="1" sz="1000"/>
          </a:p>
          <a:p>
            <a:pPr indent="-292100" lvl="0" marL="457200" rtl="0" algn="l">
              <a:spcBef>
                <a:spcPts val="0"/>
              </a:spcBef>
              <a:spcAft>
                <a:spcPts val="0"/>
              </a:spcAft>
              <a:buSzPts val="1000"/>
              <a:buChar char="●"/>
            </a:pPr>
            <a:r>
              <a:rPr i="1" lang="es" sz="1000"/>
              <a:t>Unfolded Protein Response (UPR)</a:t>
            </a:r>
            <a:endParaRPr i="1" sz="1000"/>
          </a:p>
          <a:p>
            <a:pPr indent="-292100" lvl="0" marL="457200" rtl="0" algn="l">
              <a:spcBef>
                <a:spcPts val="0"/>
              </a:spcBef>
              <a:spcAft>
                <a:spcPts val="0"/>
              </a:spcAft>
              <a:buSzPts val="1000"/>
              <a:buChar char="●"/>
            </a:pPr>
            <a:r>
              <a:rPr i="1" lang="es" sz="1000"/>
              <a:t>Cellular Senescence</a:t>
            </a:r>
            <a:endParaRPr i="1" sz="1000"/>
          </a:p>
          <a:p>
            <a:pPr indent="0" lvl="0" marL="0" rtl="0" algn="l">
              <a:spcBef>
                <a:spcPts val="0"/>
              </a:spcBef>
              <a:spcAft>
                <a:spcPts val="1200"/>
              </a:spcAft>
              <a:buNone/>
            </a:pPr>
            <a:r>
              <a:t/>
            </a:r>
            <a:endParaRPr/>
          </a:p>
        </p:txBody>
      </p:sp>
      <p:sp>
        <p:nvSpPr>
          <p:cNvPr id="337" name="Google Shape;337;p36"/>
          <p:cNvSpPr txBox="1"/>
          <p:nvPr/>
        </p:nvSpPr>
        <p:spPr>
          <a:xfrm>
            <a:off x="3836200" y="1226350"/>
            <a:ext cx="2162100" cy="3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Glycogen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Gluconeogenesis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Glycolysis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Fructose biosynthesis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Fructose catabolism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Lactose synthesis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Galactose catabolism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PPP</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Glycosaminoglycan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Inositol phosphate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Fatty AcylCoA biosynthesis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Arachidonic</a:t>
            </a:r>
            <a:r>
              <a:rPr i="1" lang="es" sz="800">
                <a:solidFill>
                  <a:schemeClr val="dk2"/>
                </a:solidFill>
                <a:latin typeface="Roboto"/>
                <a:ea typeface="Roboto"/>
                <a:cs typeface="Roboto"/>
                <a:sym typeface="Roboto"/>
              </a:rPr>
              <a:t> Acid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O3 O6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Carnitine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B oxidation</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Peroxisomal lipid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Triglyceride biosynthesis</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Triglyceride catabolism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Phospholipid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Sphingolipid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Steroids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Ketone Body metabolism</a:t>
            </a:r>
            <a:endParaRPr i="1" sz="800">
              <a:solidFill>
                <a:schemeClr val="dk2"/>
              </a:solidFill>
              <a:latin typeface="Roboto"/>
              <a:ea typeface="Roboto"/>
              <a:cs typeface="Roboto"/>
              <a:sym typeface="Roboto"/>
            </a:endParaRPr>
          </a:p>
          <a:p>
            <a:pPr indent="-279400" lvl="0" marL="457200" rtl="0" algn="l">
              <a:lnSpc>
                <a:spcPct val="115000"/>
              </a:lnSpc>
              <a:spcBef>
                <a:spcPts val="0"/>
              </a:spcBef>
              <a:spcAft>
                <a:spcPts val="0"/>
              </a:spcAft>
              <a:buClr>
                <a:schemeClr val="dk2"/>
              </a:buClr>
              <a:buSzPts val="800"/>
              <a:buFont typeface="Roboto"/>
              <a:buChar char="●"/>
            </a:pPr>
            <a:r>
              <a:rPr i="1" lang="es" sz="800">
                <a:solidFill>
                  <a:schemeClr val="dk2"/>
                </a:solidFill>
                <a:latin typeface="Roboto"/>
                <a:ea typeface="Roboto"/>
                <a:cs typeface="Roboto"/>
                <a:sym typeface="Roboto"/>
              </a:rPr>
              <a:t>Nitric oxide metabolism</a:t>
            </a:r>
            <a:endParaRPr i="1" sz="8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
        <p:nvSpPr>
          <p:cNvPr id="338" name="Google Shape;338;p36"/>
          <p:cNvSpPr txBox="1"/>
          <p:nvPr/>
        </p:nvSpPr>
        <p:spPr>
          <a:xfrm>
            <a:off x="5998300" y="1226350"/>
            <a:ext cx="2162100" cy="3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Negative epigenetic regulation of rRNA expression</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DNA methylation</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HATs acetylate histones</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HDACs deacetylate histones</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HDMs demethylate histones</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PKMTs methylate histone lysine</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RMTs methylate histone arginine</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Cellular response to hypoxia</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Detoxification of Reactive Oxygen Species</a:t>
            </a:r>
            <a:endParaRPr i="1" sz="900">
              <a:solidFill>
                <a:schemeClr val="dk2"/>
              </a:solidFill>
              <a:latin typeface="Roboto"/>
              <a:ea typeface="Roboto"/>
              <a:cs typeface="Roboto"/>
              <a:sym typeface="Roboto"/>
            </a:endParaRPr>
          </a:p>
          <a:p>
            <a:pPr indent="-285750" lvl="0" marL="457200" rtl="0" algn="l">
              <a:lnSpc>
                <a:spcPct val="115000"/>
              </a:lnSpc>
              <a:spcBef>
                <a:spcPts val="0"/>
              </a:spcBef>
              <a:spcAft>
                <a:spcPts val="0"/>
              </a:spcAft>
              <a:buClr>
                <a:schemeClr val="dk2"/>
              </a:buClr>
              <a:buSzPts val="900"/>
              <a:buFont typeface="Roboto"/>
              <a:buChar char="●"/>
            </a:pPr>
            <a:r>
              <a:rPr i="1" lang="es" sz="900">
                <a:solidFill>
                  <a:schemeClr val="dk2"/>
                </a:solidFill>
                <a:latin typeface="Roboto"/>
                <a:ea typeface="Roboto"/>
                <a:cs typeface="Roboto"/>
                <a:sym typeface="Roboto"/>
              </a:rPr>
              <a:t>Cristae formation</a:t>
            </a:r>
            <a:endParaRPr i="1" sz="9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i="1" sz="9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7"/>
          <p:cNvSpPr txBox="1"/>
          <p:nvPr>
            <p:ph type="title"/>
          </p:nvPr>
        </p:nvSpPr>
        <p:spPr>
          <a:xfrm>
            <a:off x="136525" y="424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44" name="Google Shape;344;p37"/>
          <p:cNvSpPr txBox="1"/>
          <p:nvPr>
            <p:ph idx="1" type="body"/>
          </p:nvPr>
        </p:nvSpPr>
        <p:spPr>
          <a:xfrm>
            <a:off x="136525" y="10056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900">
                <a:latin typeface="Montserrat"/>
                <a:ea typeface="Montserrat"/>
                <a:cs typeface="Montserrat"/>
                <a:sym typeface="Montserrat"/>
              </a:rPr>
              <a:t>Se realizó un contraste de los genes DE, de cada condición, contra la lista de genes de los siguientes pathways de interés, utilizando los gene sets de reactome</a:t>
            </a:r>
            <a:r>
              <a:rPr lang="es" sz="900"/>
              <a:t>:</a:t>
            </a:r>
            <a:endParaRPr sz="900"/>
          </a:p>
          <a:p>
            <a:pPr indent="0" lvl="0" marL="457200" rtl="0" algn="l">
              <a:spcBef>
                <a:spcPts val="1200"/>
              </a:spcBef>
              <a:spcAft>
                <a:spcPts val="0"/>
              </a:spcAft>
              <a:buNone/>
            </a:pPr>
            <a:r>
              <a:t/>
            </a:r>
            <a:endParaRPr/>
          </a:p>
        </p:txBody>
      </p:sp>
      <p:sp>
        <p:nvSpPr>
          <p:cNvPr id="345" name="Google Shape;345;p37"/>
          <p:cNvSpPr txBox="1"/>
          <p:nvPr/>
        </p:nvSpPr>
        <p:spPr>
          <a:xfrm>
            <a:off x="383800" y="1122900"/>
            <a:ext cx="1695900" cy="29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Pyruvate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TCA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ETC</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Nucleotides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Ascorbate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Thiamin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Riboflavin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Panthotenate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Cobalamin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Biotin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Nicotinate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Folate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Vitamin K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Retinoid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Vitamin 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CoFactors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Aspartate asparigine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Glutamate glutamine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Alanine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Branched chain aa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Histidine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Lysine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Phenylalanine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Tyrosine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Proline catabolism</a:t>
            </a:r>
            <a:endParaRPr i="1"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
        <p:nvSpPr>
          <p:cNvPr id="346" name="Google Shape;346;p37"/>
          <p:cNvSpPr txBox="1"/>
          <p:nvPr/>
        </p:nvSpPr>
        <p:spPr>
          <a:xfrm>
            <a:off x="1932525" y="1031800"/>
            <a:ext cx="1695900" cy="29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Serine biosynthesis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Threonine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Tryptophan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Methionine salvage pathway</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Sulfur aa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Selenoamino acid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Glyoxylate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Urea cycle</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Carnitine synthesis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Creatine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Choline catabolism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Polyamines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Melanin biosynthesis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Amine derived hormones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Mitochondria iron sulfur biogenesis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Reversible hydration of CO2</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tRNA Aminoacylation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Eukaryotic Translation Initiation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SRP-dependent co translational protein targeting to membrane</a:t>
            </a:r>
            <a:endParaRPr i="1"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
        <p:nvSpPr>
          <p:cNvPr id="347" name="Google Shape;347;p37"/>
          <p:cNvSpPr txBox="1"/>
          <p:nvPr/>
        </p:nvSpPr>
        <p:spPr>
          <a:xfrm>
            <a:off x="3518263" y="1031800"/>
            <a:ext cx="1757100" cy="29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Eukaryotic Translation Elongation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Eukaryotic Translation Termination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Mitochondrial translation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protein folding</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Gamma carboxylation hypusine formation and arylsulfatase activation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Post-translational modification: synthesis of GPI-anchored proteins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Asparagine N-linked glycosylation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O-linked glycosylation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SUMOylation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Deubiquitination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Protein ubiquitination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RAB geranylgeranylation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Protein methylation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Carboxyterminal post-translational modifications of tubulin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Neddylation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Post-translational protein phosphorylation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Peptide hormone metabolism</a:t>
            </a:r>
            <a:endParaRPr i="1"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
        <p:nvSpPr>
          <p:cNvPr id="348" name="Google Shape;348;p37"/>
          <p:cNvSpPr txBox="1"/>
          <p:nvPr/>
        </p:nvSpPr>
        <p:spPr>
          <a:xfrm>
            <a:off x="5024475" y="1031800"/>
            <a:ext cx="1757100" cy="29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Regulation of Insulin-like Growth Factor (IGF) transport and uptake by Insulin-like Growth Factor Binding Proteins (IGFBPs)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Unfolded Protein Response (UPR)</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Protein repair</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Surfactant metabolism</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Amyloid fiber formation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mRNA Capping</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Processing of Capped Intron-Containing Pre-mRNA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Processing of Capped Intronless Pre-mRNA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mRNA Editing</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Regulation of mRNA stability by proteins that bind AU-rich elements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Insulin-like Growth Factor-2 mRNA Binding Proteins (IGF2BPs/IMPs/VICK</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Deadenylation-dependent mRNA decay</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Nonsense-Mediated Decay (NMD)</a:t>
            </a:r>
            <a:endParaRPr i="1"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
        <p:nvSpPr>
          <p:cNvPr id="349" name="Google Shape;349;p37"/>
          <p:cNvSpPr txBox="1"/>
          <p:nvPr/>
        </p:nvSpPr>
        <p:spPr>
          <a:xfrm>
            <a:off x="6713950" y="1031800"/>
            <a:ext cx="2024400" cy="29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rRNA processing in the nucleus and cytosol</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rRNA processing in the mitochondrion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tRNA processing in the nucleus</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tRNA modification in the nucleus and cytosol</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tRNA processing in the mitochondrion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tRNA modification in the mitochondrion</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Metabolism of non-coding RNA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PRC2 methylates histones and DNA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TET1/2/3 and TDG demethylate DNA</a:t>
            </a:r>
            <a:endParaRPr i="1" sz="700">
              <a:solidFill>
                <a:schemeClr val="dk2"/>
              </a:solidFill>
              <a:latin typeface="Roboto"/>
              <a:ea typeface="Roboto"/>
              <a:cs typeface="Roboto"/>
              <a:sym typeface="Roboto"/>
            </a:endParaRPr>
          </a:p>
          <a:p>
            <a:pPr indent="-273050" lvl="0" marL="457200" rtl="0" algn="l">
              <a:lnSpc>
                <a:spcPct val="115000"/>
              </a:lnSpc>
              <a:spcBef>
                <a:spcPts val="0"/>
              </a:spcBef>
              <a:spcAft>
                <a:spcPts val="0"/>
              </a:spcAft>
              <a:buClr>
                <a:schemeClr val="dk2"/>
              </a:buClr>
              <a:buSzPts val="700"/>
              <a:buFont typeface="Roboto"/>
              <a:buChar char="●"/>
            </a:pPr>
            <a:r>
              <a:rPr i="1" lang="es" sz="700">
                <a:solidFill>
                  <a:schemeClr val="dk2"/>
                </a:solidFill>
                <a:latin typeface="Roboto"/>
                <a:ea typeface="Roboto"/>
                <a:cs typeface="Roboto"/>
                <a:sym typeface="Roboto"/>
              </a:rPr>
              <a:t>Positive epigenetic regulation of rRNA expression</a:t>
            </a:r>
            <a:endParaRPr i="1"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457200" rtl="0" algn="l">
              <a:lnSpc>
                <a:spcPct val="115000"/>
              </a:lnSpc>
              <a:spcBef>
                <a:spcPts val="0"/>
              </a:spcBef>
              <a:spcAft>
                <a:spcPts val="0"/>
              </a:spcAft>
              <a:buNone/>
            </a:pPr>
            <a:r>
              <a:t/>
            </a:r>
            <a:endParaRPr sz="700">
              <a:solidFill>
                <a:schemeClr val="dk2"/>
              </a:solidFill>
              <a:latin typeface="Roboto"/>
              <a:ea typeface="Roboto"/>
              <a:cs typeface="Roboto"/>
              <a:sym typeface="Roboto"/>
            </a:endParaRPr>
          </a:p>
          <a:p>
            <a:pPr indent="0" lvl="0" marL="0" rtl="0" algn="l">
              <a:spcBef>
                <a:spcPts val="0"/>
              </a:spcBef>
              <a:spcAft>
                <a:spcPts val="0"/>
              </a:spcAft>
              <a:buNone/>
            </a:pPr>
            <a:r>
              <a:t/>
            </a:r>
            <a:endParaRPr sz="700">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8"/>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55" name="Google Shape;355;p38"/>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femeninas (lfc &lt; -0.58), y que se encuentran en las listas deseadas:</a:t>
            </a:r>
            <a:endParaRPr>
              <a:latin typeface="Montserrat"/>
              <a:ea typeface="Montserrat"/>
              <a:cs typeface="Montserrat"/>
              <a:sym typeface="Montserrat"/>
            </a:endParaRPr>
          </a:p>
          <a:p>
            <a:pPr indent="-306072" lvl="0" marL="457200" rtl="0" algn="l">
              <a:spcBef>
                <a:spcPts val="1200"/>
              </a:spcBef>
              <a:spcAft>
                <a:spcPts val="0"/>
              </a:spcAft>
              <a:buSzPct val="100000"/>
              <a:buChar char="●"/>
            </a:pPr>
            <a:r>
              <a:rPr i="1" lang="es" sz="1574"/>
              <a:t>Toll Like Receptor 4 (TLR4) Cascade: </a:t>
            </a:r>
            <a:r>
              <a:rPr b="1" i="1" lang="es" sz="1574"/>
              <a:t>TLR4</a:t>
            </a:r>
            <a:endParaRPr b="1" i="1" sz="1574"/>
          </a:p>
          <a:p>
            <a:pPr indent="-306072" lvl="0" marL="457200" rtl="0" algn="l">
              <a:spcBef>
                <a:spcPts val="0"/>
              </a:spcBef>
              <a:spcAft>
                <a:spcPts val="0"/>
              </a:spcAft>
              <a:buSzPct val="100000"/>
              <a:buChar char="●"/>
            </a:pPr>
            <a:r>
              <a:rPr i="1" lang="es" sz="1574"/>
              <a:t>Interleukin-1 processing: </a:t>
            </a:r>
            <a:r>
              <a:rPr b="1" i="1" lang="es" sz="1574"/>
              <a:t>CTSG</a:t>
            </a:r>
            <a:endParaRPr b="1" i="1" sz="1574"/>
          </a:p>
          <a:p>
            <a:pPr indent="-306072" lvl="0" marL="457200" rtl="0" algn="l">
              <a:spcBef>
                <a:spcPts val="0"/>
              </a:spcBef>
              <a:spcAft>
                <a:spcPts val="0"/>
              </a:spcAft>
              <a:buSzPct val="100000"/>
              <a:buChar char="●"/>
            </a:pPr>
            <a:r>
              <a:rPr i="1" lang="es" sz="1574"/>
              <a:t>Interleukin-1 signaling: </a:t>
            </a:r>
            <a:r>
              <a:rPr b="1" i="1" lang="es" sz="1574"/>
              <a:t>MAP2K6, IL1R1</a:t>
            </a:r>
            <a:endParaRPr b="1" i="1" sz="1574"/>
          </a:p>
          <a:p>
            <a:pPr indent="-306072" lvl="0" marL="457200" rtl="0" algn="l">
              <a:spcBef>
                <a:spcPts val="0"/>
              </a:spcBef>
              <a:spcAft>
                <a:spcPts val="0"/>
              </a:spcAft>
              <a:buSzPct val="100000"/>
              <a:buChar char="●"/>
            </a:pPr>
            <a:r>
              <a:rPr i="1" lang="es" sz="1574"/>
              <a:t>Interleuking-10 signaling: </a:t>
            </a:r>
            <a:r>
              <a:rPr b="1" i="1" lang="es" sz="1574"/>
              <a:t>IL1R1, </a:t>
            </a:r>
            <a:r>
              <a:rPr b="1" i="1" lang="es" sz="1574"/>
              <a:t>CCR2</a:t>
            </a:r>
            <a:r>
              <a:rPr i="1" lang="es" sz="1574"/>
              <a:t>, </a:t>
            </a:r>
            <a:r>
              <a:rPr b="1" i="1" lang="es" sz="1574"/>
              <a:t>IL10</a:t>
            </a:r>
            <a:r>
              <a:rPr i="1" lang="es" sz="1574"/>
              <a:t>, </a:t>
            </a:r>
            <a:r>
              <a:rPr b="1" i="1" lang="es" sz="1574"/>
              <a:t>TIMP1 </a:t>
            </a:r>
            <a:endParaRPr b="1" i="1" sz="1574"/>
          </a:p>
          <a:p>
            <a:pPr indent="-306072" lvl="0" marL="457200" rtl="0" algn="l">
              <a:spcBef>
                <a:spcPts val="0"/>
              </a:spcBef>
              <a:spcAft>
                <a:spcPts val="0"/>
              </a:spcAft>
              <a:buSzPct val="100000"/>
              <a:buChar char="●"/>
            </a:pPr>
            <a:r>
              <a:rPr i="1" lang="es" sz="1574"/>
              <a:t>Signaling by TGF-beta Receptor Complex: </a:t>
            </a:r>
            <a:r>
              <a:rPr b="1" i="1" lang="es" sz="1574"/>
              <a:t>SMAD3</a:t>
            </a:r>
            <a:r>
              <a:rPr i="1" lang="es" sz="1574"/>
              <a:t>, </a:t>
            </a:r>
            <a:r>
              <a:rPr b="1" i="1" lang="es" sz="1574"/>
              <a:t>TGFBR2</a:t>
            </a:r>
            <a:r>
              <a:rPr i="1" lang="es" sz="1574"/>
              <a:t>, </a:t>
            </a:r>
            <a:r>
              <a:rPr b="1" i="1" lang="es" sz="1574"/>
              <a:t>ITGB5</a:t>
            </a:r>
            <a:r>
              <a:rPr i="1" lang="es" sz="1574"/>
              <a:t>, </a:t>
            </a:r>
            <a:r>
              <a:rPr b="1" i="1" lang="es" sz="1574"/>
              <a:t>LTBP2, YBX1, NEDD4L, TGFB1, TGFB1, SKI, TGFB2</a:t>
            </a:r>
            <a:endParaRPr i="1" sz="1574"/>
          </a:p>
          <a:p>
            <a:pPr indent="-306072" lvl="0" marL="457200" rtl="0" algn="l">
              <a:spcBef>
                <a:spcPts val="0"/>
              </a:spcBef>
              <a:spcAft>
                <a:spcPts val="0"/>
              </a:spcAft>
              <a:buSzPct val="100000"/>
              <a:buChar char="●"/>
            </a:pPr>
            <a:r>
              <a:rPr i="1" lang="es" sz="1574"/>
              <a:t>Glycolysis: </a:t>
            </a:r>
            <a:r>
              <a:rPr b="1" i="1" lang="es" sz="1574"/>
              <a:t>PRKACB</a:t>
            </a:r>
            <a:r>
              <a:rPr i="1" lang="es" sz="1574"/>
              <a:t>, </a:t>
            </a:r>
            <a:r>
              <a:rPr b="1" i="1" lang="es" sz="1574"/>
              <a:t>HK3, GPI, PGK1, SEC13</a:t>
            </a:r>
            <a:endParaRPr b="1" i="1" sz="1574"/>
          </a:p>
          <a:p>
            <a:pPr indent="-306072" lvl="0" marL="457200" rtl="0" algn="l">
              <a:spcBef>
                <a:spcPts val="0"/>
              </a:spcBef>
              <a:spcAft>
                <a:spcPts val="0"/>
              </a:spcAft>
              <a:buSzPct val="100000"/>
              <a:buChar char="●"/>
            </a:pPr>
            <a:r>
              <a:rPr i="1" lang="es" sz="1574"/>
              <a:t>Regulation of lipid metabolism by PPARalpha: </a:t>
            </a:r>
            <a:r>
              <a:rPr b="1" i="1" lang="es" sz="1574"/>
              <a:t>CD36</a:t>
            </a:r>
            <a:r>
              <a:rPr i="1" lang="es" sz="1574"/>
              <a:t>, </a:t>
            </a:r>
            <a:r>
              <a:rPr b="1" i="1" lang="es" sz="1574"/>
              <a:t>TNFRSF21, PLIN2, RXRA, FAM120B, HMGCR, ABCB4</a:t>
            </a:r>
            <a:endParaRPr b="1" i="1" sz="1574"/>
          </a:p>
          <a:p>
            <a:pPr indent="-306072" lvl="0" marL="457200" rtl="0" algn="l">
              <a:spcBef>
                <a:spcPts val="0"/>
              </a:spcBef>
              <a:spcAft>
                <a:spcPts val="0"/>
              </a:spcAft>
              <a:buSzPct val="100000"/>
              <a:buChar char="●"/>
            </a:pPr>
            <a:r>
              <a:rPr i="1" lang="es" sz="1574"/>
              <a:t>Mitochondrial Fatty Acid Beta-Oxidation: </a:t>
            </a:r>
            <a:r>
              <a:rPr b="1" i="1" lang="es" sz="1574"/>
              <a:t>PCCA, MECR, ACOT11</a:t>
            </a:r>
            <a:endParaRPr i="1" sz="1574"/>
          </a:p>
          <a:p>
            <a:pPr indent="-306072" lvl="0" marL="457200" rtl="0" algn="l">
              <a:spcBef>
                <a:spcPts val="0"/>
              </a:spcBef>
              <a:spcAft>
                <a:spcPts val="0"/>
              </a:spcAft>
              <a:buSzPct val="100000"/>
              <a:buChar char="●"/>
            </a:pPr>
            <a:r>
              <a:rPr i="1" lang="es" sz="1574"/>
              <a:t>Binding and uptake of ligands by scavenger receptors: </a:t>
            </a:r>
            <a:r>
              <a:rPr b="1" i="1" lang="es" sz="1574"/>
              <a:t>CD36</a:t>
            </a:r>
            <a:r>
              <a:rPr i="1" lang="es" sz="1574"/>
              <a:t>, </a:t>
            </a:r>
            <a:r>
              <a:rPr b="1" i="1" lang="es" sz="1574"/>
              <a:t>STAB1</a:t>
            </a:r>
            <a:r>
              <a:rPr i="1" lang="es" sz="1574"/>
              <a:t>,</a:t>
            </a:r>
            <a:r>
              <a:rPr b="1" i="1" lang="es" sz="1574"/>
              <a:t> CD163</a:t>
            </a:r>
            <a:r>
              <a:rPr i="1" lang="es" sz="1574"/>
              <a:t>,</a:t>
            </a:r>
            <a:r>
              <a:rPr b="1" i="1" lang="es" sz="1574"/>
              <a:t> COLEC12</a:t>
            </a:r>
            <a:r>
              <a:rPr i="1" lang="es" sz="1574"/>
              <a:t>,</a:t>
            </a:r>
            <a:r>
              <a:rPr b="1" i="1" lang="es" sz="1574"/>
              <a:t> MSR1</a:t>
            </a:r>
            <a:r>
              <a:rPr i="1" lang="es" sz="1574"/>
              <a:t>, </a:t>
            </a:r>
            <a:r>
              <a:rPr b="1" i="1" lang="es" sz="1574"/>
              <a:t>MARCO, SPARC, CALR</a:t>
            </a:r>
            <a:endParaRPr i="1" sz="1574"/>
          </a:p>
          <a:p>
            <a:pPr indent="-306072" lvl="0" marL="457200" rtl="0" algn="l">
              <a:spcBef>
                <a:spcPts val="0"/>
              </a:spcBef>
              <a:spcAft>
                <a:spcPts val="0"/>
              </a:spcAft>
              <a:buSzPct val="100000"/>
              <a:buChar char="●"/>
            </a:pPr>
            <a:r>
              <a:rPr i="1" lang="es" sz="1574"/>
              <a:t>Cellular Senescence: </a:t>
            </a:r>
            <a:r>
              <a:rPr b="1" i="1" lang="es" sz="1574"/>
              <a:t>MAP2K6</a:t>
            </a:r>
            <a:r>
              <a:rPr i="1" lang="es" sz="1574"/>
              <a:t>, </a:t>
            </a:r>
            <a:r>
              <a:rPr b="1" i="1" lang="es" sz="1574"/>
              <a:t>FOS</a:t>
            </a:r>
            <a:r>
              <a:rPr i="1" lang="es" sz="1574"/>
              <a:t>, </a:t>
            </a:r>
            <a:r>
              <a:rPr b="1" i="1" lang="es" sz="1574"/>
              <a:t>CCNA2</a:t>
            </a:r>
            <a:r>
              <a:rPr i="1" lang="es" sz="1574"/>
              <a:t>, </a:t>
            </a:r>
            <a:r>
              <a:rPr b="1" i="1" lang="es" sz="1574"/>
              <a:t>ID1, H3-3A, CDK4, MAPKAPK3, RBBP4,</a:t>
            </a:r>
            <a:endParaRPr b="1" i="1" sz="1574"/>
          </a:p>
          <a:p>
            <a:pPr indent="0" lvl="0" marL="457200" rtl="0" algn="l">
              <a:spcBef>
                <a:spcPts val="0"/>
              </a:spcBef>
              <a:spcAft>
                <a:spcPts val="0"/>
              </a:spcAft>
              <a:buNone/>
            </a:pPr>
            <a:r>
              <a:rPr b="1" i="1" lang="es" sz="1574"/>
              <a:t>E2F2</a:t>
            </a:r>
            <a:endParaRPr b="1" sz="1574"/>
          </a:p>
          <a:p>
            <a:pPr indent="0" lvl="0" marL="0" rtl="0" algn="l">
              <a:spcBef>
                <a:spcPts val="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9"/>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61" name="Google Shape;361;p39"/>
          <p:cNvSpPr txBox="1"/>
          <p:nvPr>
            <p:ph idx="1" type="body"/>
          </p:nvPr>
        </p:nvSpPr>
        <p:spPr>
          <a:xfrm>
            <a:off x="109950" y="1017800"/>
            <a:ext cx="8924100" cy="3339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s" sz="900">
                <a:latin typeface="Montserrat"/>
                <a:ea typeface="Montserrat"/>
                <a:cs typeface="Montserrat"/>
                <a:sym typeface="Montserrat"/>
              </a:rPr>
              <a:t>Genes sobreexpresados en células M1 femeninas (lfc &lt; -0.58), y que se encuentran en las listas deseadas:</a:t>
            </a:r>
            <a:endParaRPr sz="900">
              <a:latin typeface="Montserrat"/>
              <a:ea typeface="Montserrat"/>
              <a:cs typeface="Montserrat"/>
              <a:sym typeface="Montserrat"/>
            </a:endParaRPr>
          </a:p>
          <a:p>
            <a:pPr indent="-285750" lvl="0" marL="457200" rtl="0" algn="l">
              <a:lnSpc>
                <a:spcPct val="105000"/>
              </a:lnSpc>
              <a:spcBef>
                <a:spcPts val="1200"/>
              </a:spcBef>
              <a:spcAft>
                <a:spcPts val="0"/>
              </a:spcAft>
              <a:buSzPts val="900"/>
              <a:buChar char="●"/>
            </a:pPr>
            <a:r>
              <a:rPr i="1" lang="es" sz="900">
                <a:solidFill>
                  <a:srgbClr val="000000"/>
                </a:solidFill>
              </a:rPr>
              <a:t>Glycogen metabolism</a:t>
            </a:r>
            <a:r>
              <a:rPr i="1" lang="es" sz="900"/>
              <a:t>: </a:t>
            </a:r>
            <a:r>
              <a:rPr b="1" i="1" lang="es" sz="900"/>
              <a:t>PRKACB, PGK1, GPI, HK3, SEC13</a:t>
            </a:r>
            <a:endParaRPr b="1" i="1" sz="900"/>
          </a:p>
          <a:p>
            <a:pPr indent="-285750" lvl="0" marL="457200" rtl="0" algn="l">
              <a:lnSpc>
                <a:spcPct val="105000"/>
              </a:lnSpc>
              <a:spcBef>
                <a:spcPts val="0"/>
              </a:spcBef>
              <a:spcAft>
                <a:spcPts val="0"/>
              </a:spcAft>
              <a:buSzPts val="900"/>
              <a:buChar char="●"/>
            </a:pPr>
            <a:r>
              <a:rPr i="1" lang="es" sz="900">
                <a:solidFill>
                  <a:srgbClr val="000000"/>
                </a:solidFill>
              </a:rPr>
              <a:t>Glycosaminoglycan metabolism</a:t>
            </a:r>
            <a:r>
              <a:rPr i="1" lang="es" sz="900"/>
              <a:t>: </a:t>
            </a:r>
            <a:r>
              <a:rPr b="1" i="1" lang="es" sz="900"/>
              <a:t>PAPSS2, HEXB, NAGLU, VCAN, HYAL2, UST, HS3ST1, HS3ST2</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Inositol phosphate metabolism</a:t>
            </a:r>
            <a:r>
              <a:rPr i="1" lang="es" sz="900"/>
              <a:t>: </a:t>
            </a:r>
            <a:r>
              <a:rPr b="1" i="1" lang="es" sz="900"/>
              <a:t>SYNJ1, PPIP5K2, INPP5A, PLD4, NUDT3, INPP4B</a:t>
            </a:r>
            <a:endParaRPr b="1" i="1" sz="900"/>
          </a:p>
          <a:p>
            <a:pPr indent="-285750" lvl="0" marL="457200" rtl="0" algn="l">
              <a:lnSpc>
                <a:spcPct val="105000"/>
              </a:lnSpc>
              <a:spcBef>
                <a:spcPts val="0"/>
              </a:spcBef>
              <a:spcAft>
                <a:spcPts val="0"/>
              </a:spcAft>
              <a:buSzPts val="900"/>
              <a:buChar char="●"/>
            </a:pPr>
            <a:r>
              <a:rPr i="1" lang="es" sz="900">
                <a:solidFill>
                  <a:srgbClr val="000000"/>
                </a:solidFill>
                <a:latin typeface="Arial"/>
                <a:ea typeface="Arial"/>
                <a:cs typeface="Arial"/>
                <a:sym typeface="Arial"/>
              </a:rPr>
              <a:t>Fatty AcylCoA biosynthesis</a:t>
            </a:r>
            <a:r>
              <a:rPr i="1" lang="es" sz="900"/>
              <a:t>: </a:t>
            </a:r>
            <a:r>
              <a:rPr b="1" i="1" lang="es" sz="900"/>
              <a:t>HACD4, HSD17B8</a:t>
            </a:r>
            <a:endParaRPr i="1" sz="900"/>
          </a:p>
          <a:p>
            <a:pPr indent="-285750" lvl="0" marL="457200" rtl="0" algn="l">
              <a:lnSpc>
                <a:spcPct val="105000"/>
              </a:lnSpc>
              <a:spcBef>
                <a:spcPts val="0"/>
              </a:spcBef>
              <a:spcAft>
                <a:spcPts val="0"/>
              </a:spcAft>
              <a:buSzPts val="900"/>
              <a:buChar char="●"/>
            </a:pPr>
            <a:r>
              <a:rPr i="1" lang="es" sz="900">
                <a:solidFill>
                  <a:srgbClr val="000000"/>
                </a:solidFill>
                <a:latin typeface="Arial"/>
                <a:ea typeface="Arial"/>
                <a:cs typeface="Arial"/>
                <a:sym typeface="Arial"/>
              </a:rPr>
              <a:t>Arachdonic Acid metabolism</a:t>
            </a:r>
            <a:r>
              <a:rPr i="1" lang="es" sz="900"/>
              <a:t>: </a:t>
            </a:r>
            <a:r>
              <a:rPr b="1" i="1" lang="es" sz="900"/>
              <a:t>HPGD, LTA4H, ALOX5, HPGDS, DPEP2, PTGS1</a:t>
            </a:r>
            <a:endParaRPr b="1" i="1" sz="900"/>
          </a:p>
          <a:p>
            <a:pPr indent="-285750" lvl="0" marL="457200" rtl="0" algn="l">
              <a:lnSpc>
                <a:spcPct val="105000"/>
              </a:lnSpc>
              <a:spcBef>
                <a:spcPts val="0"/>
              </a:spcBef>
              <a:spcAft>
                <a:spcPts val="0"/>
              </a:spcAft>
              <a:buSzPts val="900"/>
              <a:buChar char="●"/>
            </a:pPr>
            <a:r>
              <a:rPr i="1" lang="es" sz="900">
                <a:solidFill>
                  <a:srgbClr val="000000"/>
                </a:solidFill>
              </a:rPr>
              <a:t>Carnitine metabolism</a:t>
            </a:r>
            <a:r>
              <a:rPr i="1" lang="es" sz="900"/>
              <a:t>: </a:t>
            </a:r>
            <a:r>
              <a:rPr b="1" i="1" lang="es" sz="900"/>
              <a:t>RXRA, SLC22A5</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latin typeface="Arial"/>
                <a:ea typeface="Arial"/>
                <a:cs typeface="Arial"/>
                <a:sym typeface="Arial"/>
              </a:rPr>
              <a:t>B oxidation</a:t>
            </a:r>
            <a:r>
              <a:rPr i="1" lang="es" sz="900"/>
              <a:t>: </a:t>
            </a:r>
            <a:r>
              <a:rPr b="1" i="1" lang="es" sz="900"/>
              <a:t>ACOT11, MECR, PCCA</a:t>
            </a:r>
            <a:endParaRPr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latin typeface="Arial"/>
                <a:ea typeface="Arial"/>
                <a:cs typeface="Arial"/>
                <a:sym typeface="Arial"/>
              </a:rPr>
              <a:t>Triglyceride catabolism</a:t>
            </a:r>
            <a:r>
              <a:rPr i="1" lang="es" sz="900">
                <a:highlight>
                  <a:schemeClr val="lt1"/>
                </a:highlight>
              </a:rPr>
              <a:t>:</a:t>
            </a:r>
            <a:r>
              <a:rPr i="1" lang="es" sz="900"/>
              <a:t> </a:t>
            </a:r>
            <a:r>
              <a:rPr b="1" i="1" lang="es" sz="900"/>
              <a:t>FABP3, PRKACB</a:t>
            </a:r>
            <a:endParaRPr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Phospholipid metabolism</a:t>
            </a:r>
            <a:r>
              <a:rPr i="1" lang="es" sz="900">
                <a:highlight>
                  <a:schemeClr val="lt1"/>
                </a:highlight>
              </a:rPr>
              <a:t>:</a:t>
            </a:r>
            <a:r>
              <a:rPr i="1" lang="es" sz="900"/>
              <a:t> </a:t>
            </a:r>
            <a:r>
              <a:rPr b="1" i="1" lang="es" sz="900"/>
              <a:t>PTDSS1, PLB1, GDPD3, INPP4B, PIK3R2, LPCAT2, CHPT1, PLD4, OSBPL8, MTMR2, PIK3R1, GPD1L, GPAM, SYNJ1, PLA2G12A</a:t>
            </a:r>
            <a:endParaRPr b="1" i="1" sz="900"/>
          </a:p>
          <a:p>
            <a:pPr indent="-285750" lvl="0" marL="457200" rtl="0" algn="l">
              <a:lnSpc>
                <a:spcPct val="105000"/>
              </a:lnSpc>
              <a:spcBef>
                <a:spcPts val="0"/>
              </a:spcBef>
              <a:spcAft>
                <a:spcPts val="0"/>
              </a:spcAft>
              <a:buSzPts val="900"/>
              <a:buChar char="●"/>
            </a:pPr>
            <a:r>
              <a:rPr i="1" lang="es" sz="900">
                <a:solidFill>
                  <a:srgbClr val="000000"/>
                </a:solidFill>
              </a:rPr>
              <a:t>Sphingolipid metabolism: </a:t>
            </a:r>
            <a:r>
              <a:rPr b="1" i="1" lang="es" sz="900">
                <a:solidFill>
                  <a:srgbClr val="000000"/>
                </a:solidFill>
              </a:rPr>
              <a:t>HEXB, CERK, SMPD3, CERT1, PPM1L</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Steroids metabolism: </a:t>
            </a:r>
            <a:r>
              <a:rPr b="1" i="1" lang="es" sz="900">
                <a:solidFill>
                  <a:srgbClr val="000000"/>
                </a:solidFill>
              </a:rPr>
              <a:t>HSD17B14, HSD17B1, GPAM, TSPO, RXRA, OSBPL7, HMGCR</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Ketone Body metabolism: </a:t>
            </a:r>
            <a:r>
              <a:rPr b="1" i="1" lang="es" sz="900">
                <a:solidFill>
                  <a:srgbClr val="000000"/>
                </a:solidFill>
              </a:rPr>
              <a:t>ACAT1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Pyruvate metabolism: </a:t>
            </a:r>
            <a:r>
              <a:rPr b="1" i="1" lang="es" sz="900">
                <a:solidFill>
                  <a:srgbClr val="000000"/>
                </a:solidFill>
              </a:rPr>
              <a:t>RXRA, PDK4, PDK3</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TCA: </a:t>
            </a:r>
            <a:r>
              <a:rPr b="1" i="1" lang="es" sz="900">
                <a:solidFill>
                  <a:srgbClr val="000000"/>
                </a:solidFill>
              </a:rPr>
              <a:t>SUCLG2, NNT, IDH3G</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ETC: </a:t>
            </a:r>
            <a:r>
              <a:rPr b="1" i="1" lang="es" sz="900">
                <a:solidFill>
                  <a:srgbClr val="000000"/>
                </a:solidFill>
              </a:rPr>
              <a:t>MT-CYB, LRPPRC, TIMMDC1, NDUFB8, UCP2, UQCRC2, NDUFV3, MT-ND1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Nucleotides metabolism: </a:t>
            </a:r>
            <a:r>
              <a:rPr b="1" i="1" lang="es" sz="900">
                <a:solidFill>
                  <a:srgbClr val="000000"/>
                </a:solidFill>
              </a:rPr>
              <a:t>MT-ND1, IMPDH1, IMPDH2, ADA, DHODH, NUDT1, RRM2, SAMHD1, TYMS, ATIC, DUT, NME2P1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Ascorbate metabolism: </a:t>
            </a:r>
            <a:r>
              <a:rPr b="1" i="1" lang="es" sz="900">
                <a:solidFill>
                  <a:srgbClr val="000000"/>
                </a:solidFill>
              </a:rPr>
              <a:t>SLC2A4</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Panthotenate metabolism: </a:t>
            </a:r>
            <a:r>
              <a:rPr b="1" i="1" lang="es" sz="900">
                <a:solidFill>
                  <a:srgbClr val="000000"/>
                </a:solidFill>
              </a:rPr>
              <a:t>VNN2, SLC25A16, VNN1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highlight>
                  <a:schemeClr val="lt1"/>
                </a:highlight>
              </a:rPr>
              <a:t>Cobalamin metabolism</a:t>
            </a:r>
            <a:r>
              <a:rPr i="1" lang="es" sz="900">
                <a:solidFill>
                  <a:srgbClr val="000000"/>
                </a:solidFill>
              </a:rPr>
              <a:t>: </a:t>
            </a:r>
            <a:r>
              <a:rPr b="1" i="1" lang="es" sz="900">
                <a:solidFill>
                  <a:srgbClr val="000000"/>
                </a:solidFill>
              </a:rPr>
              <a:t>MMAB</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Biotin metabolism: </a:t>
            </a:r>
            <a:r>
              <a:rPr b="1" i="1" lang="es" sz="900">
                <a:solidFill>
                  <a:srgbClr val="000000"/>
                </a:solidFill>
              </a:rPr>
              <a:t>PCCA</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Vitamin E metabolism: </a:t>
            </a:r>
            <a:r>
              <a:rPr b="1" i="1" lang="es" sz="900">
                <a:solidFill>
                  <a:srgbClr val="000000"/>
                </a:solidFill>
              </a:rPr>
              <a:t>TTPA</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Nicotinate metabolism: </a:t>
            </a:r>
            <a:r>
              <a:rPr b="1" i="1" lang="es" sz="900">
                <a:solidFill>
                  <a:srgbClr val="000000"/>
                </a:solidFill>
              </a:rPr>
              <a:t>QPRT, BST1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Folate metabolism: </a:t>
            </a:r>
            <a:r>
              <a:rPr b="1" i="1" lang="es" sz="900">
                <a:solidFill>
                  <a:srgbClr val="000000"/>
                </a:solidFill>
              </a:rPr>
              <a:t>DHFR, SLC46A1, FOLR2, SHMT1</a:t>
            </a:r>
            <a:endParaRPr sz="900">
              <a:latin typeface="Montserrat"/>
              <a:ea typeface="Montserrat"/>
              <a:cs typeface="Montserrat"/>
              <a:sym typeface="Montserrat"/>
            </a:endParaRPr>
          </a:p>
          <a:p>
            <a:pPr indent="0" lvl="0" marL="0" rtl="0" algn="l">
              <a:lnSpc>
                <a:spcPct val="105000"/>
              </a:lnSpc>
              <a:spcBef>
                <a:spcPts val="0"/>
              </a:spcBef>
              <a:spcAft>
                <a:spcPts val="1200"/>
              </a:spcAft>
              <a:buSzPts val="523"/>
              <a:buNone/>
            </a:pPr>
            <a:r>
              <a:t/>
            </a:r>
            <a:endParaRPr sz="85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67" name="Google Shape;367;p40"/>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 sz="3758">
                <a:latin typeface="Montserrat"/>
                <a:ea typeface="Montserrat"/>
                <a:cs typeface="Montserrat"/>
                <a:sym typeface="Montserrat"/>
              </a:rPr>
              <a:t>Genes sobreexpresados en células M1 femeninas (lfc &lt; -0.58), y que se encuentran en las listas deseadas:</a:t>
            </a:r>
            <a:endParaRPr sz="3758">
              <a:latin typeface="Montserrat"/>
              <a:ea typeface="Montserrat"/>
              <a:cs typeface="Montserrat"/>
              <a:sym typeface="Montserrat"/>
            </a:endParaRPr>
          </a:p>
          <a:p>
            <a:pPr indent="-288254" lvl="0" marL="457200" rtl="0" algn="l">
              <a:spcBef>
                <a:spcPts val="1200"/>
              </a:spcBef>
              <a:spcAft>
                <a:spcPts val="0"/>
              </a:spcAft>
              <a:buSzPct val="100000"/>
              <a:buChar char="●"/>
            </a:pPr>
            <a:r>
              <a:rPr i="1" lang="es" sz="3758">
                <a:solidFill>
                  <a:srgbClr val="000000"/>
                </a:solidFill>
              </a:rPr>
              <a:t>Reinoid metabolism</a:t>
            </a:r>
            <a:r>
              <a:rPr i="1" lang="es" sz="3758"/>
              <a:t>: </a:t>
            </a:r>
            <a:r>
              <a:rPr b="1" i="1" lang="es" sz="3758"/>
              <a:t>PLB1</a:t>
            </a:r>
            <a:endParaRPr b="1" i="1" sz="3758"/>
          </a:p>
          <a:p>
            <a:pPr indent="-288254" lvl="0" marL="457200" rtl="0" algn="l">
              <a:spcBef>
                <a:spcPts val="0"/>
              </a:spcBef>
              <a:spcAft>
                <a:spcPts val="0"/>
              </a:spcAft>
              <a:buSzPct val="100000"/>
              <a:buChar char="●"/>
            </a:pPr>
            <a:r>
              <a:rPr i="1" lang="es" sz="3758">
                <a:solidFill>
                  <a:srgbClr val="000000"/>
                </a:solidFill>
              </a:rPr>
              <a:t>CoFactors</a:t>
            </a:r>
            <a:r>
              <a:rPr i="1" lang="es" sz="3758">
                <a:solidFill>
                  <a:srgbClr val="000000"/>
                </a:solidFill>
              </a:rPr>
              <a:t> metabolism</a:t>
            </a:r>
            <a:r>
              <a:rPr i="1" lang="es" sz="3758"/>
              <a:t>: </a:t>
            </a:r>
            <a:r>
              <a:rPr b="1" i="1" lang="es" sz="3758"/>
              <a:t>PDSS1, DHFR</a:t>
            </a:r>
            <a:endParaRPr b="1" i="1" sz="3758"/>
          </a:p>
          <a:p>
            <a:pPr indent="-288254" lvl="0" marL="457200" rtl="0" algn="l">
              <a:spcBef>
                <a:spcPts val="0"/>
              </a:spcBef>
              <a:spcAft>
                <a:spcPts val="0"/>
              </a:spcAft>
              <a:buSzPct val="100000"/>
              <a:buChar char="●"/>
            </a:pPr>
            <a:r>
              <a:rPr i="1" lang="es" sz="3758">
                <a:solidFill>
                  <a:srgbClr val="000000"/>
                </a:solidFill>
                <a:highlight>
                  <a:schemeClr val="lt1"/>
                </a:highlight>
              </a:rPr>
              <a:t>Aspartate</a:t>
            </a:r>
            <a:r>
              <a:rPr i="1" lang="es" sz="3758">
                <a:solidFill>
                  <a:srgbClr val="000000"/>
                </a:solidFill>
                <a:highlight>
                  <a:schemeClr val="lt1"/>
                </a:highlight>
              </a:rPr>
              <a:t> asparigine metabolism</a:t>
            </a:r>
            <a:r>
              <a:rPr i="1" lang="es" sz="3758"/>
              <a:t>: </a:t>
            </a:r>
            <a:r>
              <a:rPr b="1" i="1" lang="es" sz="3758"/>
              <a:t>SLC25A13, NAT8L</a:t>
            </a:r>
            <a:endParaRPr b="1" i="1" sz="3758"/>
          </a:p>
          <a:p>
            <a:pPr indent="-288254" lvl="0" marL="457200" rtl="0" algn="l">
              <a:spcBef>
                <a:spcPts val="0"/>
              </a:spcBef>
              <a:spcAft>
                <a:spcPts val="0"/>
              </a:spcAft>
              <a:buSzPct val="100000"/>
              <a:buChar char="●"/>
            </a:pPr>
            <a:r>
              <a:rPr i="1" lang="es" sz="3758">
                <a:solidFill>
                  <a:srgbClr val="000000"/>
                </a:solidFill>
                <a:latin typeface="Arial"/>
                <a:ea typeface="Arial"/>
                <a:cs typeface="Arial"/>
                <a:sym typeface="Arial"/>
              </a:rPr>
              <a:t>Glutamate glutamine metabolism</a:t>
            </a:r>
            <a:r>
              <a:rPr i="1" lang="es" sz="3758"/>
              <a:t>: </a:t>
            </a:r>
            <a:r>
              <a:rPr b="1" i="1" lang="es" sz="3758"/>
              <a:t>OAT, RIMKLB</a:t>
            </a:r>
            <a:endParaRPr b="1" i="1" sz="3758"/>
          </a:p>
          <a:p>
            <a:pPr indent="-288254" lvl="0" marL="457200" rtl="0" algn="l">
              <a:spcBef>
                <a:spcPts val="0"/>
              </a:spcBef>
              <a:spcAft>
                <a:spcPts val="0"/>
              </a:spcAft>
              <a:buSzPct val="100000"/>
              <a:buChar char="●"/>
            </a:pPr>
            <a:r>
              <a:rPr i="1" lang="es" sz="3758">
                <a:solidFill>
                  <a:srgbClr val="000000"/>
                </a:solidFill>
                <a:latin typeface="Arial"/>
                <a:ea typeface="Arial"/>
                <a:cs typeface="Arial"/>
                <a:sym typeface="Arial"/>
              </a:rPr>
              <a:t>Branched chain aa catabolism</a:t>
            </a:r>
            <a:r>
              <a:rPr i="1" lang="es" sz="3758"/>
              <a:t>: </a:t>
            </a:r>
            <a:r>
              <a:rPr b="1" i="1" lang="es" sz="3758">
                <a:solidFill>
                  <a:srgbClr val="000000"/>
                </a:solidFill>
              </a:rPr>
              <a:t>ACAT1, ALDH6A1</a:t>
            </a:r>
            <a:endParaRPr b="1" i="1" sz="3758"/>
          </a:p>
          <a:p>
            <a:pPr indent="-288254" lvl="0" marL="457200" rtl="0" algn="l">
              <a:spcBef>
                <a:spcPts val="0"/>
              </a:spcBef>
              <a:spcAft>
                <a:spcPts val="0"/>
              </a:spcAft>
              <a:buSzPct val="100000"/>
              <a:buChar char="●"/>
            </a:pPr>
            <a:r>
              <a:rPr i="1" lang="es" sz="3758">
                <a:solidFill>
                  <a:srgbClr val="000000"/>
                </a:solidFill>
              </a:rPr>
              <a:t>Lysine ca</a:t>
            </a:r>
            <a:r>
              <a:rPr i="1" lang="es" sz="3758">
                <a:solidFill>
                  <a:srgbClr val="000000"/>
                </a:solidFill>
              </a:rPr>
              <a:t>tabolism</a:t>
            </a:r>
            <a:r>
              <a:rPr i="1" lang="es" sz="3758"/>
              <a:t>: </a:t>
            </a:r>
            <a:r>
              <a:rPr b="1" i="1" lang="es" sz="3758"/>
              <a:t>ALDH7A1</a:t>
            </a:r>
            <a:endParaRPr b="1" i="1" sz="3758"/>
          </a:p>
          <a:p>
            <a:pPr indent="-288254" lvl="0" marL="457200" rtl="0" algn="l">
              <a:spcBef>
                <a:spcPts val="0"/>
              </a:spcBef>
              <a:spcAft>
                <a:spcPts val="0"/>
              </a:spcAft>
              <a:buSzPct val="100000"/>
              <a:buChar char="●"/>
            </a:pPr>
            <a:r>
              <a:rPr i="1" lang="es" sz="3758">
                <a:solidFill>
                  <a:srgbClr val="000000"/>
                </a:solidFill>
                <a:highlight>
                  <a:schemeClr val="lt1"/>
                </a:highlight>
                <a:latin typeface="Arial"/>
                <a:ea typeface="Arial"/>
                <a:cs typeface="Arial"/>
                <a:sym typeface="Arial"/>
              </a:rPr>
              <a:t>Proline catabolism</a:t>
            </a:r>
            <a:r>
              <a:rPr i="1" lang="es" sz="3758"/>
              <a:t>: </a:t>
            </a:r>
            <a:r>
              <a:rPr b="1" i="1" lang="es" sz="3758"/>
              <a:t>ALDH4A1</a:t>
            </a:r>
            <a:endParaRPr i="1" sz="3758"/>
          </a:p>
          <a:p>
            <a:pPr indent="-288254" lvl="0" marL="457200" rtl="0" algn="l">
              <a:spcBef>
                <a:spcPts val="0"/>
              </a:spcBef>
              <a:spcAft>
                <a:spcPts val="0"/>
              </a:spcAft>
              <a:buSzPct val="100000"/>
              <a:buChar char="●"/>
            </a:pPr>
            <a:r>
              <a:rPr i="1" lang="es" sz="3758">
                <a:solidFill>
                  <a:srgbClr val="000000"/>
                </a:solidFill>
                <a:highlight>
                  <a:schemeClr val="lt1"/>
                </a:highlight>
                <a:latin typeface="Arial"/>
                <a:ea typeface="Arial"/>
                <a:cs typeface="Arial"/>
                <a:sym typeface="Arial"/>
              </a:rPr>
              <a:t>Methionine salvage pathway</a:t>
            </a:r>
            <a:r>
              <a:rPr i="1" lang="es" sz="3758">
                <a:highlight>
                  <a:schemeClr val="lt1"/>
                </a:highlight>
              </a:rPr>
              <a:t>:</a:t>
            </a:r>
            <a:r>
              <a:rPr i="1" lang="es" sz="3758"/>
              <a:t> </a:t>
            </a:r>
            <a:r>
              <a:rPr b="1" i="1" lang="es" sz="3758"/>
              <a:t>ADI1</a:t>
            </a:r>
            <a:endParaRPr i="1" sz="3758"/>
          </a:p>
          <a:p>
            <a:pPr indent="-288254" lvl="0" marL="457200" rtl="0" algn="l">
              <a:spcBef>
                <a:spcPts val="0"/>
              </a:spcBef>
              <a:spcAft>
                <a:spcPts val="0"/>
              </a:spcAft>
              <a:buSzPct val="100000"/>
              <a:buChar char="●"/>
            </a:pPr>
            <a:r>
              <a:rPr i="1" lang="es" sz="3758">
                <a:solidFill>
                  <a:srgbClr val="000000"/>
                </a:solidFill>
                <a:highlight>
                  <a:schemeClr val="lt1"/>
                </a:highlight>
              </a:rPr>
              <a:t>Sulfur aa metabolism</a:t>
            </a:r>
            <a:r>
              <a:rPr i="1" lang="es" sz="3758">
                <a:highlight>
                  <a:schemeClr val="lt1"/>
                </a:highlight>
              </a:rPr>
              <a:t>:</a:t>
            </a:r>
            <a:r>
              <a:rPr i="1" lang="es" sz="3758"/>
              <a:t> </a:t>
            </a:r>
            <a:r>
              <a:rPr b="1" i="1" lang="es" sz="3758"/>
              <a:t>ETHE1, AHCY, ADI1, TXN2</a:t>
            </a:r>
            <a:endParaRPr b="1" i="1" sz="3758"/>
          </a:p>
          <a:p>
            <a:pPr indent="-288254" lvl="0" marL="457200" rtl="0" algn="l">
              <a:spcBef>
                <a:spcPts val="0"/>
              </a:spcBef>
              <a:spcAft>
                <a:spcPts val="0"/>
              </a:spcAft>
              <a:buSzPct val="100000"/>
              <a:buChar char="●"/>
            </a:pPr>
            <a:r>
              <a:rPr i="1" lang="es" sz="3758">
                <a:solidFill>
                  <a:srgbClr val="000000"/>
                </a:solidFill>
              </a:rPr>
              <a:t>Selenoamino acid</a:t>
            </a:r>
            <a:r>
              <a:rPr i="1" lang="es" sz="3758">
                <a:solidFill>
                  <a:srgbClr val="000000"/>
                </a:solidFill>
              </a:rPr>
              <a:t> metabolism: </a:t>
            </a:r>
            <a:r>
              <a:rPr b="1" i="1" lang="es" sz="3758">
                <a:solidFill>
                  <a:srgbClr val="000000"/>
                </a:solidFill>
              </a:rPr>
              <a:t>AHCY, PAPSS2, RPS6, RPS4X, RPL3, RPL14, RPL18</a:t>
            </a:r>
            <a:endParaRPr b="1" i="1" sz="3758">
              <a:solidFill>
                <a:srgbClr val="000000"/>
              </a:solidFill>
            </a:endParaRPr>
          </a:p>
          <a:p>
            <a:pPr indent="-288254" lvl="0" marL="457200" rtl="0" algn="l">
              <a:spcBef>
                <a:spcPts val="0"/>
              </a:spcBef>
              <a:spcAft>
                <a:spcPts val="0"/>
              </a:spcAft>
              <a:buSzPct val="100000"/>
              <a:buChar char="●"/>
            </a:pPr>
            <a:r>
              <a:rPr i="1" lang="es" sz="3758">
                <a:solidFill>
                  <a:srgbClr val="000000"/>
                </a:solidFill>
              </a:rPr>
              <a:t>Glyoxylate</a:t>
            </a:r>
            <a:r>
              <a:rPr i="1" lang="es" sz="3758">
                <a:solidFill>
                  <a:srgbClr val="000000"/>
                </a:solidFill>
              </a:rPr>
              <a:t> metabolism: </a:t>
            </a:r>
            <a:r>
              <a:rPr b="1" i="1" lang="es" sz="3758">
                <a:solidFill>
                  <a:srgbClr val="000000"/>
                </a:solidFill>
              </a:rPr>
              <a:t>ALDH4A1, GRHPR</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Urea cycle</a:t>
            </a:r>
            <a:r>
              <a:rPr i="1" lang="es" sz="3758">
                <a:solidFill>
                  <a:srgbClr val="000000"/>
                </a:solidFill>
              </a:rPr>
              <a:t>: </a:t>
            </a:r>
            <a:r>
              <a:rPr b="1" i="1" lang="es" sz="3758">
                <a:solidFill>
                  <a:srgbClr val="000000"/>
                </a:solidFill>
              </a:rPr>
              <a:t>ARG1</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Carnitine synthesis</a:t>
            </a:r>
            <a:r>
              <a:rPr i="1" lang="es" sz="3758">
                <a:solidFill>
                  <a:srgbClr val="000000"/>
                </a:solidFill>
              </a:rPr>
              <a:t>: </a:t>
            </a:r>
            <a:r>
              <a:rPr b="1" i="1" lang="es" sz="3758">
                <a:solidFill>
                  <a:srgbClr val="000000"/>
                </a:solidFill>
              </a:rPr>
              <a:t>SHMT1</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Creatine metabolism</a:t>
            </a:r>
            <a:r>
              <a:rPr i="1" lang="es" sz="3758">
                <a:solidFill>
                  <a:srgbClr val="000000"/>
                </a:solidFill>
              </a:rPr>
              <a:t>: </a:t>
            </a:r>
            <a:r>
              <a:rPr b="1" i="1" lang="es" sz="3758">
                <a:solidFill>
                  <a:srgbClr val="000000"/>
                </a:solidFill>
              </a:rPr>
              <a:t>GATM</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Choline catabolism</a:t>
            </a:r>
            <a:r>
              <a:rPr i="1" lang="es" sz="3758">
                <a:solidFill>
                  <a:srgbClr val="000000"/>
                </a:solidFill>
              </a:rPr>
              <a:t>: </a:t>
            </a:r>
            <a:r>
              <a:rPr b="1" i="1" lang="es" sz="3758">
                <a:solidFill>
                  <a:srgbClr val="000000"/>
                </a:solidFill>
              </a:rPr>
              <a:t>CHDH, ALDH7A1</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Polyamines metabolism</a:t>
            </a:r>
            <a:r>
              <a:rPr i="1" lang="es" sz="3758">
                <a:solidFill>
                  <a:srgbClr val="000000"/>
                </a:solidFill>
              </a:rPr>
              <a:t>: </a:t>
            </a:r>
            <a:r>
              <a:rPr b="1" i="1" lang="es" sz="3758">
                <a:solidFill>
                  <a:srgbClr val="000000"/>
                </a:solidFill>
              </a:rPr>
              <a:t>OAZ3</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Eukaryotic Translation Initiation</a:t>
            </a:r>
            <a:r>
              <a:rPr i="1" lang="es" sz="3758">
                <a:solidFill>
                  <a:srgbClr val="000000"/>
                </a:solidFill>
              </a:rPr>
              <a:t>: </a:t>
            </a:r>
            <a:r>
              <a:rPr b="1" i="1" lang="es" sz="3758">
                <a:solidFill>
                  <a:srgbClr val="000000"/>
                </a:solidFill>
              </a:rPr>
              <a:t>RPS6, RPS4X, RPL3, RPL14, EIF3D, EIF2S3, EIF3E, RPL18</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SRP-dependent co translational protein targeting to membrane</a:t>
            </a:r>
            <a:r>
              <a:rPr i="1" lang="es" sz="3758">
                <a:solidFill>
                  <a:srgbClr val="000000"/>
                </a:solidFill>
              </a:rPr>
              <a:t>: </a:t>
            </a:r>
            <a:r>
              <a:rPr b="1" i="1" lang="es" sz="3758">
                <a:solidFill>
                  <a:srgbClr val="000000"/>
                </a:solidFill>
              </a:rPr>
              <a:t>RPS6, RPS4X, RPL3, RPL14, RPL18</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Eukaryotic Translation Elongation</a:t>
            </a:r>
            <a:r>
              <a:rPr i="1" lang="es" sz="3758">
                <a:solidFill>
                  <a:srgbClr val="000000"/>
                </a:solidFill>
              </a:rPr>
              <a:t>: </a:t>
            </a:r>
            <a:r>
              <a:rPr b="1" i="1" lang="es" sz="3758">
                <a:solidFill>
                  <a:srgbClr val="000000"/>
                </a:solidFill>
              </a:rPr>
              <a:t>RPS6, RPS4X, RPL3, RPL14, EEF2, RPL18</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Eukaryotic Translation Elongation</a:t>
            </a:r>
            <a:r>
              <a:rPr i="1" lang="es" sz="3758">
                <a:solidFill>
                  <a:srgbClr val="000000"/>
                </a:solidFill>
              </a:rPr>
              <a:t>: </a:t>
            </a:r>
            <a:r>
              <a:rPr b="1" i="1" lang="es" sz="3758">
                <a:solidFill>
                  <a:srgbClr val="000000"/>
                </a:solidFill>
              </a:rPr>
              <a:t>RPS6, RPS4X, RPL3, RPL14, RPL18</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Mitochondrial translation</a:t>
            </a:r>
            <a:r>
              <a:rPr i="1" lang="es" sz="3758">
                <a:solidFill>
                  <a:srgbClr val="000000"/>
                </a:solidFill>
              </a:rPr>
              <a:t>: </a:t>
            </a:r>
            <a:r>
              <a:rPr b="1" i="1" lang="es" sz="3758">
                <a:solidFill>
                  <a:srgbClr val="000000"/>
                </a:solidFill>
              </a:rPr>
              <a:t>MRPL23, MRPS34, MRPL24, MRPL3</a:t>
            </a:r>
            <a:endParaRPr b="1" i="1" sz="3758">
              <a:solidFill>
                <a:srgbClr val="000000"/>
              </a:solidFill>
            </a:endParaRPr>
          </a:p>
          <a:p>
            <a:pPr indent="-288254" lvl="0" marL="457200" rtl="0" algn="l">
              <a:spcBef>
                <a:spcPts val="0"/>
              </a:spcBef>
              <a:spcAft>
                <a:spcPts val="0"/>
              </a:spcAft>
              <a:buClr>
                <a:srgbClr val="000000"/>
              </a:buClr>
              <a:buSzPct val="100000"/>
              <a:buChar char="●"/>
            </a:pPr>
            <a:r>
              <a:rPr i="1" lang="es" sz="3758">
                <a:solidFill>
                  <a:srgbClr val="000000"/>
                </a:solidFill>
              </a:rPr>
              <a:t>Protein folding</a:t>
            </a:r>
            <a:r>
              <a:rPr i="1" lang="es" sz="3758">
                <a:solidFill>
                  <a:srgbClr val="000000"/>
                </a:solidFill>
              </a:rPr>
              <a:t>: </a:t>
            </a:r>
            <a:r>
              <a:rPr b="1" i="1" lang="es" sz="3758">
                <a:solidFill>
                  <a:srgbClr val="000000"/>
                </a:solidFill>
              </a:rPr>
              <a:t>GNG10, GNG7</a:t>
            </a:r>
            <a:endParaRPr sz="3758">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1"/>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73" name="Google Shape;373;p41"/>
          <p:cNvSpPr txBox="1"/>
          <p:nvPr>
            <p:ph idx="1" type="body"/>
          </p:nvPr>
        </p:nvSpPr>
        <p:spPr>
          <a:xfrm>
            <a:off x="109950" y="1017800"/>
            <a:ext cx="8810700" cy="33390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s" sz="3600">
                <a:latin typeface="Montserrat"/>
                <a:ea typeface="Montserrat"/>
                <a:cs typeface="Montserrat"/>
                <a:sym typeface="Montserrat"/>
              </a:rPr>
              <a:t>Genes sobreexpresados en células M1 femeninas (lfc &lt; -0.58), y que se encuentran en las listas deseadas:</a:t>
            </a:r>
            <a:endParaRPr sz="3600">
              <a:latin typeface="Montserrat"/>
              <a:ea typeface="Montserrat"/>
              <a:cs typeface="Montserrat"/>
              <a:sym typeface="Montserrat"/>
            </a:endParaRPr>
          </a:p>
          <a:p>
            <a:pPr indent="-285750" lvl="0" marL="457200" rtl="0" algn="l">
              <a:spcBef>
                <a:spcPts val="1200"/>
              </a:spcBef>
              <a:spcAft>
                <a:spcPts val="0"/>
              </a:spcAft>
              <a:buSzPct val="100000"/>
              <a:buChar char="●"/>
            </a:pPr>
            <a:r>
              <a:rPr i="1" lang="es" sz="3600">
                <a:solidFill>
                  <a:srgbClr val="000000"/>
                </a:solidFill>
              </a:rPr>
              <a:t>Gamma carboxylation hypusine formation and arylsulfatase activation</a:t>
            </a:r>
            <a:r>
              <a:rPr i="1" lang="es" sz="3600"/>
              <a:t>: </a:t>
            </a:r>
            <a:r>
              <a:rPr b="1" i="1" lang="es" sz="3600"/>
              <a:t>DPH2, EEF2, PROS1, TPST2</a:t>
            </a:r>
            <a:endParaRPr b="1" i="1" sz="3600"/>
          </a:p>
          <a:p>
            <a:pPr indent="-285750" lvl="0" marL="457200" rtl="0" algn="l">
              <a:spcBef>
                <a:spcPts val="0"/>
              </a:spcBef>
              <a:spcAft>
                <a:spcPts val="0"/>
              </a:spcAft>
              <a:buSzPct val="100000"/>
              <a:buChar char="●"/>
            </a:pPr>
            <a:r>
              <a:rPr i="1" lang="es" sz="3600">
                <a:solidFill>
                  <a:srgbClr val="000000"/>
                </a:solidFill>
              </a:rPr>
              <a:t>Post-translational modification: synthesis of GPI-anchored proteins</a:t>
            </a:r>
            <a:r>
              <a:rPr i="1" lang="es" sz="3600"/>
              <a:t>: </a:t>
            </a:r>
            <a:r>
              <a:rPr b="1" i="1" lang="es" sz="3600"/>
              <a:t>VNN2, BST1, PIGQ, VNN1, PIFT, FOLR2</a:t>
            </a:r>
            <a:endParaRPr b="1" i="1" sz="3600"/>
          </a:p>
          <a:p>
            <a:pPr indent="-285750" lvl="0" marL="457200" rtl="0" algn="l">
              <a:spcBef>
                <a:spcPts val="0"/>
              </a:spcBef>
              <a:spcAft>
                <a:spcPts val="0"/>
              </a:spcAft>
              <a:buSzPct val="100000"/>
              <a:buChar char="●"/>
            </a:pPr>
            <a:r>
              <a:rPr i="1" lang="es" sz="3600">
                <a:solidFill>
                  <a:srgbClr val="000000"/>
                </a:solidFill>
              </a:rPr>
              <a:t>Asparagine N-linked glycosylation</a:t>
            </a:r>
            <a:r>
              <a:rPr i="1" lang="es" sz="3600"/>
              <a:t>: </a:t>
            </a:r>
            <a:r>
              <a:rPr b="1" i="1" lang="es" sz="3600"/>
              <a:t>RENBP, CAPZB, DAD1, ALG3, ASGR1, MAN1C1, ASGR2, PPP6C, MAN1A2, CALR, SEC13, CTSC, DYNC1I2, FUCA1</a:t>
            </a:r>
            <a:endParaRPr b="1" i="1" sz="3600"/>
          </a:p>
          <a:p>
            <a:pPr indent="-285750" lvl="0" marL="457200" rtl="0" algn="l">
              <a:spcBef>
                <a:spcPts val="0"/>
              </a:spcBef>
              <a:spcAft>
                <a:spcPts val="0"/>
              </a:spcAft>
              <a:buSzPct val="100000"/>
              <a:buChar char="●"/>
            </a:pPr>
            <a:r>
              <a:rPr i="1" lang="es" sz="3600">
                <a:solidFill>
                  <a:srgbClr val="000000"/>
                </a:solidFill>
              </a:rPr>
              <a:t>O-linked glycosylation</a:t>
            </a:r>
            <a:r>
              <a:rPr i="1" lang="es" sz="3600"/>
              <a:t>: </a:t>
            </a:r>
            <a:r>
              <a:rPr b="1" i="1" lang="es" sz="3600"/>
              <a:t>GALNT2, POMT2, POMGNT2</a:t>
            </a:r>
            <a:endParaRPr b="1" i="1" sz="3600"/>
          </a:p>
          <a:p>
            <a:pPr indent="-285750" lvl="0" marL="457200" rtl="0" algn="l">
              <a:spcBef>
                <a:spcPts val="0"/>
              </a:spcBef>
              <a:spcAft>
                <a:spcPts val="0"/>
              </a:spcAft>
              <a:buSzPct val="100000"/>
              <a:buChar char="●"/>
            </a:pPr>
            <a:r>
              <a:rPr i="1" lang="es" sz="3600">
                <a:solidFill>
                  <a:srgbClr val="000000"/>
                </a:solidFill>
              </a:rPr>
              <a:t>SUMOylation</a:t>
            </a:r>
            <a:r>
              <a:rPr i="1" lang="es" sz="3600"/>
              <a:t>: </a:t>
            </a:r>
            <a:r>
              <a:rPr b="1" i="1" lang="es" sz="3600">
                <a:solidFill>
                  <a:srgbClr val="000000"/>
                </a:solidFill>
              </a:rPr>
              <a:t>BIRC5, ING2, BRCA1, TOP2A, SEC13, SMC1A, RXRA, STAB1</a:t>
            </a:r>
            <a:endParaRPr b="1" i="1" sz="3600"/>
          </a:p>
          <a:p>
            <a:pPr indent="-285750" lvl="0" marL="457200" rtl="0" algn="l">
              <a:spcBef>
                <a:spcPts val="0"/>
              </a:spcBef>
              <a:spcAft>
                <a:spcPts val="0"/>
              </a:spcAft>
              <a:buSzPct val="100000"/>
              <a:buChar char="●"/>
            </a:pPr>
            <a:r>
              <a:rPr i="1" lang="es" sz="3600">
                <a:solidFill>
                  <a:srgbClr val="000000"/>
                </a:solidFill>
              </a:rPr>
              <a:t>Deubiquitination</a:t>
            </a:r>
            <a:r>
              <a:rPr i="1" lang="es" sz="3600"/>
              <a:t>: </a:t>
            </a:r>
            <a:r>
              <a:rPr b="1" i="1" lang="es" sz="3600"/>
              <a:t>USP2, BRCA1, CCNA2, TGFBR2, CDC20, TGFB1, RNF128, SMAD3, RUVBL1, TGFBR1, ARRB1</a:t>
            </a:r>
            <a:endParaRPr b="1" i="1" sz="3600"/>
          </a:p>
          <a:p>
            <a:pPr indent="-285750" lvl="0" marL="457200" rtl="0" algn="l">
              <a:spcBef>
                <a:spcPts val="0"/>
              </a:spcBef>
              <a:spcAft>
                <a:spcPts val="0"/>
              </a:spcAft>
              <a:buSzPct val="100000"/>
              <a:buChar char="●"/>
            </a:pPr>
            <a:r>
              <a:rPr i="1" lang="es" sz="3600">
                <a:solidFill>
                  <a:srgbClr val="000000"/>
                </a:solidFill>
                <a:latin typeface="Arial"/>
                <a:ea typeface="Arial"/>
                <a:cs typeface="Arial"/>
                <a:sym typeface="Arial"/>
              </a:rPr>
              <a:t>Protein ubiquitination</a:t>
            </a:r>
            <a:r>
              <a:rPr i="1" lang="es" sz="3600"/>
              <a:t>: </a:t>
            </a:r>
            <a:r>
              <a:rPr b="1" i="1" lang="es" sz="3600"/>
              <a:t>UBE2G2, HLTF</a:t>
            </a:r>
            <a:endParaRPr i="1" sz="3600"/>
          </a:p>
          <a:p>
            <a:pPr indent="-285750" lvl="0" marL="457200" rtl="0" algn="l">
              <a:spcBef>
                <a:spcPts val="0"/>
              </a:spcBef>
              <a:spcAft>
                <a:spcPts val="0"/>
              </a:spcAft>
              <a:buSzPct val="100000"/>
              <a:buChar char="●"/>
            </a:pPr>
            <a:r>
              <a:rPr i="1" lang="es" sz="3600">
                <a:solidFill>
                  <a:srgbClr val="000000"/>
                </a:solidFill>
              </a:rPr>
              <a:t>RAB geranylgeranylation</a:t>
            </a:r>
            <a:r>
              <a:rPr i="1" lang="es" sz="3600">
                <a:highlight>
                  <a:schemeClr val="lt1"/>
                </a:highlight>
              </a:rPr>
              <a:t>:</a:t>
            </a:r>
            <a:r>
              <a:rPr i="1" lang="es" sz="3600"/>
              <a:t> </a:t>
            </a:r>
            <a:r>
              <a:rPr b="1" i="1" lang="es" sz="3600"/>
              <a:t>RAB42, RAB41, RAB37, RAB40B</a:t>
            </a:r>
            <a:endParaRPr i="1" sz="3600"/>
          </a:p>
          <a:p>
            <a:pPr indent="-285750" lvl="0" marL="457200" rtl="0" algn="l">
              <a:spcBef>
                <a:spcPts val="0"/>
              </a:spcBef>
              <a:spcAft>
                <a:spcPts val="0"/>
              </a:spcAft>
              <a:buSzPct val="100000"/>
              <a:buChar char="●"/>
            </a:pPr>
            <a:r>
              <a:rPr i="1" lang="es" sz="3600">
                <a:solidFill>
                  <a:srgbClr val="000000"/>
                </a:solidFill>
                <a:highlight>
                  <a:schemeClr val="lt1"/>
                </a:highlight>
              </a:rPr>
              <a:t>Protein methylation</a:t>
            </a:r>
            <a:r>
              <a:rPr i="1" lang="es" sz="3600">
                <a:highlight>
                  <a:schemeClr val="lt1"/>
                </a:highlight>
              </a:rPr>
              <a:t>:</a:t>
            </a:r>
            <a:r>
              <a:rPr i="1" lang="es" sz="3600"/>
              <a:t> </a:t>
            </a:r>
            <a:r>
              <a:rPr b="1" i="1" lang="es" sz="3600"/>
              <a:t>EEF2, CAMKMT</a:t>
            </a:r>
            <a:endParaRPr b="1" i="1" sz="3600"/>
          </a:p>
          <a:p>
            <a:pPr indent="-285750" lvl="0" marL="457200" rtl="0" algn="l">
              <a:spcBef>
                <a:spcPts val="0"/>
              </a:spcBef>
              <a:spcAft>
                <a:spcPts val="0"/>
              </a:spcAft>
              <a:buSzPct val="100000"/>
              <a:buChar char="●"/>
            </a:pPr>
            <a:r>
              <a:rPr i="1" lang="es" sz="3600">
                <a:solidFill>
                  <a:srgbClr val="000000"/>
                </a:solidFill>
              </a:rPr>
              <a:t>Neddylation</a:t>
            </a:r>
            <a:r>
              <a:rPr i="1" lang="es" sz="3600">
                <a:solidFill>
                  <a:srgbClr val="000000"/>
                </a:solidFill>
              </a:rPr>
              <a:t>: </a:t>
            </a:r>
            <a:r>
              <a:rPr b="1" i="1" lang="es" sz="3600">
                <a:solidFill>
                  <a:srgbClr val="000000"/>
                </a:solidFill>
              </a:rPr>
              <a:t>DTL, BIRC5, EPAS1, KLHL5, DCAF4</a:t>
            </a:r>
            <a:endParaRPr b="1" i="1" sz="3600">
              <a:solidFill>
                <a:srgbClr val="000000"/>
              </a:solidFill>
            </a:endParaRPr>
          </a:p>
          <a:p>
            <a:pPr indent="-285750" lvl="0" marL="457200" rtl="0" algn="l">
              <a:spcBef>
                <a:spcPts val="0"/>
              </a:spcBef>
              <a:spcAft>
                <a:spcPts val="0"/>
              </a:spcAft>
              <a:buSzPct val="100000"/>
              <a:buChar char="●"/>
            </a:pPr>
            <a:r>
              <a:rPr i="1" lang="es" sz="3600">
                <a:solidFill>
                  <a:srgbClr val="000000"/>
                </a:solidFill>
              </a:rPr>
              <a:t>Post-translational protein phosphorylation</a:t>
            </a:r>
            <a:r>
              <a:rPr i="1" lang="es" sz="3600">
                <a:solidFill>
                  <a:srgbClr val="000000"/>
                </a:solidFill>
              </a:rPr>
              <a:t>: </a:t>
            </a:r>
            <a:r>
              <a:rPr b="1" i="1" lang="es" sz="3600">
                <a:solidFill>
                  <a:srgbClr val="000000"/>
                </a:solidFill>
              </a:rPr>
              <a:t>APLP2, ADAM10, VCAN, SPP1, FN1, TIMP1</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Peptide hormone metabolism</a:t>
            </a:r>
            <a:r>
              <a:rPr i="1" lang="es" sz="3600">
                <a:solidFill>
                  <a:srgbClr val="000000"/>
                </a:solidFill>
              </a:rPr>
              <a:t>: </a:t>
            </a:r>
            <a:r>
              <a:rPr b="1" i="1" lang="es" sz="3600">
                <a:solidFill>
                  <a:srgbClr val="000000"/>
                </a:solidFill>
              </a:rPr>
              <a:t>LEP, IGF1, CTSG</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Regulation of Insulin-like Growth Factor (IGF) transport and uptake by Insulin-like Growth Factor Binding Proteins (IGFBPs)</a:t>
            </a:r>
            <a:r>
              <a:rPr i="1" lang="es" sz="3600">
                <a:solidFill>
                  <a:srgbClr val="000000"/>
                </a:solidFill>
              </a:rPr>
              <a:t>: </a:t>
            </a:r>
            <a:r>
              <a:rPr b="1" i="1" lang="es" sz="3600">
                <a:solidFill>
                  <a:srgbClr val="000000"/>
                </a:solidFill>
              </a:rPr>
              <a:t>APLP2, ADAM10, VCAN, SPP1, FN1, IGF1, TIMP1, CTSG</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UPR</a:t>
            </a:r>
            <a:r>
              <a:rPr i="1" lang="es" sz="3600">
                <a:solidFill>
                  <a:srgbClr val="000000"/>
                </a:solidFill>
              </a:rPr>
              <a:t>: </a:t>
            </a:r>
            <a:r>
              <a:rPr b="1" i="1" lang="es" sz="3600">
                <a:solidFill>
                  <a:srgbClr val="000000"/>
                </a:solidFill>
              </a:rPr>
              <a:t>CALR, EIF2S3</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Surfactant metabolism</a:t>
            </a:r>
            <a:r>
              <a:rPr i="1" lang="es" sz="3600">
                <a:solidFill>
                  <a:srgbClr val="000000"/>
                </a:solidFill>
              </a:rPr>
              <a:t>: </a:t>
            </a:r>
            <a:r>
              <a:rPr b="1" i="1" lang="es" sz="3600">
                <a:solidFill>
                  <a:srgbClr val="000000"/>
                </a:solidFill>
              </a:rPr>
              <a:t>ADORA2B, SFTPD, ADA2</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Amyloid fiber formation</a:t>
            </a:r>
            <a:r>
              <a:rPr i="1" lang="es" sz="3600">
                <a:solidFill>
                  <a:srgbClr val="000000"/>
                </a:solidFill>
              </a:rPr>
              <a:t>: </a:t>
            </a:r>
            <a:r>
              <a:rPr b="1" i="1" lang="es" sz="3600">
                <a:solidFill>
                  <a:srgbClr val="000000"/>
                </a:solidFill>
              </a:rPr>
              <a:t>H3C1, ADAM10, PRL, TGFBI, H3-3A</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Processing of Capped Intron-Containing Pre-mRNA: </a:t>
            </a:r>
            <a:r>
              <a:rPr b="1" i="1" lang="es" sz="3600">
                <a:solidFill>
                  <a:srgbClr val="000000"/>
                </a:solidFill>
              </a:rPr>
              <a:t>PCBP2, DDX39A, YBX1, SRSF6, SEC13, CPSF1, SRSF9, THOC1</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Processing of Capped Intronless Pre-mRNA: </a:t>
            </a:r>
            <a:r>
              <a:rPr b="1" i="1" lang="es" sz="3600">
                <a:solidFill>
                  <a:srgbClr val="000000"/>
                </a:solidFill>
              </a:rPr>
              <a:t>CPSF1</a:t>
            </a:r>
            <a:endParaRPr b="1" i="1" sz="3600">
              <a:solidFill>
                <a:srgbClr val="000000"/>
              </a:solidFill>
            </a:endParaRPr>
          </a:p>
          <a:p>
            <a:pPr indent="-285750" lvl="0" marL="457200" rtl="0" algn="l">
              <a:spcBef>
                <a:spcPts val="0"/>
              </a:spcBef>
              <a:spcAft>
                <a:spcPts val="0"/>
              </a:spcAft>
              <a:buClr>
                <a:srgbClr val="000000"/>
              </a:buClr>
              <a:buSzPct val="100000"/>
              <a:buChar char="●"/>
            </a:pPr>
            <a:r>
              <a:rPr i="1" lang="es" sz="3600">
                <a:solidFill>
                  <a:srgbClr val="000000"/>
                </a:solidFill>
              </a:rPr>
              <a:t>Regulation of mRNA stability by proteins that bind AU-rich elements: </a:t>
            </a:r>
            <a:r>
              <a:rPr b="1" i="1" lang="es" sz="3600">
                <a:solidFill>
                  <a:srgbClr val="000000"/>
                </a:solidFill>
              </a:rPr>
              <a:t>ZFP36, TNFSF13</a:t>
            </a:r>
            <a:endParaRPr b="1" i="1" sz="3600">
              <a:solidFill>
                <a:srgbClr val="000000"/>
              </a:solidFill>
            </a:endParaRPr>
          </a:p>
          <a:p>
            <a:pPr indent="0" lvl="0" marL="45720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2"/>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79" name="Google Shape;379;p42"/>
          <p:cNvSpPr txBox="1"/>
          <p:nvPr>
            <p:ph idx="1" type="body"/>
          </p:nvPr>
        </p:nvSpPr>
        <p:spPr>
          <a:xfrm>
            <a:off x="109950" y="1017800"/>
            <a:ext cx="8810700" cy="33390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s" sz="1600">
                <a:latin typeface="Montserrat"/>
                <a:ea typeface="Montserrat"/>
                <a:cs typeface="Montserrat"/>
                <a:sym typeface="Montserrat"/>
              </a:rPr>
              <a:t>Genes sobreexpresados en células M1 femeninas (lfc &lt; -0.58), y que se encuentran en las listas deseadas:</a:t>
            </a:r>
            <a:endParaRPr sz="1600">
              <a:latin typeface="Montserrat"/>
              <a:ea typeface="Montserrat"/>
              <a:cs typeface="Montserrat"/>
              <a:sym typeface="Montserrat"/>
            </a:endParaRPr>
          </a:p>
          <a:p>
            <a:pPr indent="-284480" lvl="0" marL="457200" rtl="0" algn="l">
              <a:spcBef>
                <a:spcPts val="1200"/>
              </a:spcBef>
              <a:spcAft>
                <a:spcPts val="0"/>
              </a:spcAft>
              <a:buSzPct val="100000"/>
              <a:buChar char="●"/>
            </a:pPr>
            <a:r>
              <a:rPr i="1" lang="es" sz="1600">
                <a:solidFill>
                  <a:srgbClr val="000000"/>
                </a:solidFill>
              </a:rPr>
              <a:t>Nonsense-Mediated Decay</a:t>
            </a:r>
            <a:r>
              <a:rPr i="1" lang="es" sz="1600"/>
              <a:t>: </a:t>
            </a:r>
            <a:r>
              <a:rPr b="1" i="1" lang="es" sz="1600"/>
              <a:t>RPS6, RPS4X, RPL3, RPL14, RPL18</a:t>
            </a:r>
            <a:endParaRPr b="1" i="1" sz="1600"/>
          </a:p>
          <a:p>
            <a:pPr indent="-284480" lvl="0" marL="457200" rtl="0" algn="l">
              <a:spcBef>
                <a:spcPts val="0"/>
              </a:spcBef>
              <a:spcAft>
                <a:spcPts val="0"/>
              </a:spcAft>
              <a:buSzPct val="100000"/>
              <a:buChar char="●"/>
            </a:pPr>
            <a:r>
              <a:rPr i="1" lang="es" sz="1600">
                <a:solidFill>
                  <a:srgbClr val="000000"/>
                </a:solidFill>
              </a:rPr>
              <a:t>rRNA processing in the nucleus and cytosol</a:t>
            </a:r>
            <a:r>
              <a:rPr i="1" lang="es" sz="1600"/>
              <a:t>: </a:t>
            </a:r>
            <a:r>
              <a:rPr b="1" i="1" lang="es" sz="1600"/>
              <a:t>RPS6, RPS4X, RPL3, RIOK2, RPL14, WDR3, RPL18, FBL, RPP40</a:t>
            </a:r>
            <a:endParaRPr b="1" i="1" sz="1600"/>
          </a:p>
          <a:p>
            <a:pPr indent="-284480" lvl="0" marL="457200" rtl="0" algn="l">
              <a:spcBef>
                <a:spcPts val="0"/>
              </a:spcBef>
              <a:spcAft>
                <a:spcPts val="0"/>
              </a:spcAft>
              <a:buSzPct val="100000"/>
              <a:buChar char="●"/>
            </a:pPr>
            <a:r>
              <a:rPr i="1" lang="es" sz="1600">
                <a:solidFill>
                  <a:srgbClr val="000000"/>
                </a:solidFill>
              </a:rPr>
              <a:t>rRNA processing in the mitochondrion</a:t>
            </a:r>
            <a:r>
              <a:rPr i="1" lang="es" sz="1600"/>
              <a:t>: </a:t>
            </a:r>
            <a:r>
              <a:rPr b="1" i="1" lang="es" sz="1600"/>
              <a:t>MT-CYB, MT-ND1, PRORP</a:t>
            </a:r>
            <a:endParaRPr b="1" i="1" sz="1600"/>
          </a:p>
          <a:p>
            <a:pPr indent="-284480" lvl="0" marL="457200" rtl="0" algn="l">
              <a:spcBef>
                <a:spcPts val="0"/>
              </a:spcBef>
              <a:spcAft>
                <a:spcPts val="0"/>
              </a:spcAft>
              <a:buSzPct val="100000"/>
              <a:buChar char="●"/>
            </a:pPr>
            <a:r>
              <a:rPr i="1" lang="es" sz="1600">
                <a:solidFill>
                  <a:srgbClr val="000000"/>
                </a:solidFill>
              </a:rPr>
              <a:t>tRNA processing in the nucleus</a:t>
            </a:r>
            <a:r>
              <a:rPr i="1" lang="es" sz="1600"/>
              <a:t>: </a:t>
            </a:r>
            <a:r>
              <a:rPr b="1" i="1" lang="es" sz="1600"/>
              <a:t>CPSF1, SEC13, RPP40, POP5</a:t>
            </a:r>
            <a:endParaRPr b="1" i="1" sz="1600"/>
          </a:p>
          <a:p>
            <a:pPr indent="-284480" lvl="0" marL="457200" rtl="0" algn="l">
              <a:spcBef>
                <a:spcPts val="0"/>
              </a:spcBef>
              <a:spcAft>
                <a:spcPts val="0"/>
              </a:spcAft>
              <a:buSzPct val="100000"/>
              <a:buChar char="●"/>
            </a:pPr>
            <a:r>
              <a:rPr i="1" lang="es" sz="1600">
                <a:solidFill>
                  <a:srgbClr val="000000"/>
                </a:solidFill>
              </a:rPr>
              <a:t>tRNA modification in the nucleus and cytosol</a:t>
            </a:r>
            <a:r>
              <a:rPr i="1" lang="es" sz="1600"/>
              <a:t>: </a:t>
            </a:r>
            <a:r>
              <a:rPr b="1" i="1" lang="es" sz="1600">
                <a:solidFill>
                  <a:srgbClr val="000000"/>
                </a:solidFill>
              </a:rPr>
              <a:t>PUS7, WDR4, URM1, ADAT2</a:t>
            </a:r>
            <a:endParaRPr b="1" i="1" sz="1600"/>
          </a:p>
          <a:p>
            <a:pPr indent="-284480" lvl="0" marL="457200" rtl="0" algn="l">
              <a:spcBef>
                <a:spcPts val="0"/>
              </a:spcBef>
              <a:spcAft>
                <a:spcPts val="0"/>
              </a:spcAft>
              <a:buSzPct val="100000"/>
              <a:buChar char="●"/>
            </a:pPr>
            <a:r>
              <a:rPr i="1" lang="es" sz="1600">
                <a:solidFill>
                  <a:srgbClr val="000000"/>
                </a:solidFill>
              </a:rPr>
              <a:t>tRNA processing in the mitochondrion</a:t>
            </a:r>
            <a:r>
              <a:rPr i="1" lang="es" sz="1600"/>
              <a:t>: </a:t>
            </a:r>
            <a:r>
              <a:rPr b="1" i="1" lang="es" sz="1600"/>
              <a:t>MT-CYB, MT-ND1</a:t>
            </a:r>
            <a:endParaRPr b="1" i="1" sz="1600"/>
          </a:p>
          <a:p>
            <a:pPr indent="-284480" lvl="0" marL="457200" rtl="0" algn="l">
              <a:spcBef>
                <a:spcPts val="0"/>
              </a:spcBef>
              <a:spcAft>
                <a:spcPts val="0"/>
              </a:spcAft>
              <a:buSzPct val="100000"/>
              <a:buChar char="●"/>
            </a:pPr>
            <a:r>
              <a:rPr i="1" lang="es" sz="1600">
                <a:solidFill>
                  <a:srgbClr val="000000"/>
                </a:solidFill>
              </a:rPr>
              <a:t>tRNA modification in the mitochondrion</a:t>
            </a:r>
            <a:r>
              <a:rPr i="1" lang="es" sz="1600"/>
              <a:t>: </a:t>
            </a:r>
            <a:r>
              <a:rPr b="1" i="1" lang="es" sz="1600"/>
              <a:t>PRORP</a:t>
            </a:r>
            <a:endParaRPr i="1" sz="1600"/>
          </a:p>
          <a:p>
            <a:pPr indent="-284480" lvl="0" marL="457200" rtl="0" algn="l">
              <a:spcBef>
                <a:spcPts val="0"/>
              </a:spcBef>
              <a:spcAft>
                <a:spcPts val="0"/>
              </a:spcAft>
              <a:buSzPct val="100000"/>
              <a:buChar char="●"/>
            </a:pPr>
            <a:r>
              <a:rPr i="1" lang="es" sz="1600">
                <a:solidFill>
                  <a:srgbClr val="000000"/>
                </a:solidFill>
              </a:rPr>
              <a:t>Metabolism of non-coding RNA</a:t>
            </a:r>
            <a:r>
              <a:rPr i="1" lang="es" sz="1600">
                <a:highlight>
                  <a:schemeClr val="lt1"/>
                </a:highlight>
              </a:rPr>
              <a:t>:</a:t>
            </a:r>
            <a:r>
              <a:rPr i="1" lang="es" sz="1600"/>
              <a:t> </a:t>
            </a:r>
            <a:r>
              <a:rPr b="1" i="1" lang="es" sz="1600"/>
              <a:t>GEMIN6, WDR77, SEC13</a:t>
            </a:r>
            <a:endParaRPr i="1" sz="1600"/>
          </a:p>
          <a:p>
            <a:pPr indent="-284480" lvl="0" marL="457200" rtl="0" algn="l">
              <a:spcBef>
                <a:spcPts val="0"/>
              </a:spcBef>
              <a:spcAft>
                <a:spcPts val="0"/>
              </a:spcAft>
              <a:buSzPct val="100000"/>
              <a:buChar char="●"/>
            </a:pPr>
            <a:r>
              <a:rPr i="1" lang="es" sz="1600">
                <a:solidFill>
                  <a:srgbClr val="000000"/>
                </a:solidFill>
              </a:rPr>
              <a:t>PRC2 methylates histones and DNA</a:t>
            </a:r>
            <a:r>
              <a:rPr i="1" lang="es" sz="1600">
                <a:highlight>
                  <a:schemeClr val="lt1"/>
                </a:highlight>
              </a:rPr>
              <a:t>:</a:t>
            </a:r>
            <a:r>
              <a:rPr i="1" lang="es" sz="1600"/>
              <a:t> </a:t>
            </a:r>
            <a:r>
              <a:rPr b="1" i="1" lang="es" sz="1600"/>
              <a:t>H3C1, RBBP4, H3-3A</a:t>
            </a:r>
            <a:endParaRPr b="1" i="1" sz="1600"/>
          </a:p>
          <a:p>
            <a:pPr indent="-284480" lvl="0" marL="457200" rtl="0" algn="l">
              <a:spcBef>
                <a:spcPts val="0"/>
              </a:spcBef>
              <a:spcAft>
                <a:spcPts val="0"/>
              </a:spcAft>
              <a:buSzPct val="100000"/>
              <a:buChar char="●"/>
            </a:pPr>
            <a:r>
              <a:rPr i="1" lang="es" sz="1600">
                <a:solidFill>
                  <a:srgbClr val="000000"/>
                </a:solidFill>
              </a:rPr>
              <a:t>Positive epigenetic regulation of rRNA expression</a:t>
            </a:r>
            <a:r>
              <a:rPr i="1" lang="es" sz="1600">
                <a:solidFill>
                  <a:srgbClr val="000000"/>
                </a:solidFill>
              </a:rPr>
              <a:t>: </a:t>
            </a:r>
            <a:r>
              <a:rPr b="1" i="1" lang="es" sz="1600">
                <a:solidFill>
                  <a:srgbClr val="000000"/>
                </a:solidFill>
              </a:rPr>
              <a:t>POLR1G, GSK3B, H3C1, RBBP4, H3-3A</a:t>
            </a:r>
            <a:endParaRPr b="1" i="1" sz="1600">
              <a:solidFill>
                <a:srgbClr val="000000"/>
              </a:solidFill>
            </a:endParaRPr>
          </a:p>
          <a:p>
            <a:pPr indent="-284480" lvl="0" marL="457200" rtl="0" algn="l">
              <a:spcBef>
                <a:spcPts val="0"/>
              </a:spcBef>
              <a:spcAft>
                <a:spcPts val="0"/>
              </a:spcAft>
              <a:buSzPct val="100000"/>
              <a:buChar char="●"/>
            </a:pPr>
            <a:r>
              <a:rPr i="1" lang="es" sz="1600">
                <a:solidFill>
                  <a:srgbClr val="000000"/>
                </a:solidFill>
              </a:rPr>
              <a:t>Negative epigenetic regulation of rRNA expression</a:t>
            </a:r>
            <a:r>
              <a:rPr i="1" lang="es" sz="1600">
                <a:solidFill>
                  <a:srgbClr val="000000"/>
                </a:solidFill>
              </a:rPr>
              <a:t>: </a:t>
            </a:r>
            <a:r>
              <a:rPr b="1" i="1" lang="es" sz="1600">
                <a:solidFill>
                  <a:srgbClr val="000000"/>
                </a:solidFill>
              </a:rPr>
              <a:t>POLR1G, H3C1, H3-3A</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DNA methylation</a:t>
            </a:r>
            <a:r>
              <a:rPr i="1" lang="es" sz="1600">
                <a:solidFill>
                  <a:srgbClr val="000000"/>
                </a:solidFill>
              </a:rPr>
              <a:t>: </a:t>
            </a:r>
            <a:r>
              <a:rPr b="1" i="1" lang="es" sz="1600">
                <a:solidFill>
                  <a:srgbClr val="000000"/>
                </a:solidFill>
              </a:rPr>
              <a:t>H3C1, H3-3A</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HATs acetylate histones</a:t>
            </a:r>
            <a:r>
              <a:rPr i="1" lang="es" sz="1600">
                <a:solidFill>
                  <a:srgbClr val="000000"/>
                </a:solidFill>
              </a:rPr>
              <a:t>: </a:t>
            </a:r>
            <a:r>
              <a:rPr b="1" i="1" lang="es" sz="1600">
                <a:solidFill>
                  <a:srgbClr val="000000"/>
                </a:solidFill>
              </a:rPr>
              <a:t>H3C1, RUVBL1</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HDACs deacetylate histones</a:t>
            </a:r>
            <a:r>
              <a:rPr i="1" lang="es" sz="1600">
                <a:solidFill>
                  <a:srgbClr val="000000"/>
                </a:solidFill>
              </a:rPr>
              <a:t>: </a:t>
            </a:r>
            <a:r>
              <a:rPr b="1" i="1" lang="es" sz="1600">
                <a:solidFill>
                  <a:srgbClr val="000000"/>
                </a:solidFill>
              </a:rPr>
              <a:t>H3C1, RBBP4</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HDMs demethylate histones</a:t>
            </a:r>
            <a:r>
              <a:rPr i="1" lang="es" sz="1600">
                <a:solidFill>
                  <a:srgbClr val="000000"/>
                </a:solidFill>
              </a:rPr>
              <a:t>: </a:t>
            </a:r>
            <a:r>
              <a:rPr b="1" i="1" lang="es" sz="1600">
                <a:solidFill>
                  <a:srgbClr val="000000"/>
                </a:solidFill>
              </a:rPr>
              <a:t>H3C1, RIOX2</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PKMTs methylate histone lysine</a:t>
            </a:r>
            <a:r>
              <a:rPr i="1" lang="es" sz="1600">
                <a:solidFill>
                  <a:srgbClr val="000000"/>
                </a:solidFill>
              </a:rPr>
              <a:t>: </a:t>
            </a:r>
            <a:r>
              <a:rPr b="1" i="1" lang="es" sz="1600">
                <a:solidFill>
                  <a:srgbClr val="000000"/>
                </a:solidFill>
              </a:rPr>
              <a:t>H3C1, RBBP4</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RMTs methylate histone arginine:</a:t>
            </a:r>
            <a:r>
              <a:rPr i="1" lang="es" sz="1600">
                <a:solidFill>
                  <a:srgbClr val="000000"/>
                </a:solidFill>
              </a:rPr>
              <a:t> </a:t>
            </a:r>
            <a:r>
              <a:rPr b="1" i="1" lang="es" sz="1600">
                <a:solidFill>
                  <a:srgbClr val="000000"/>
                </a:solidFill>
              </a:rPr>
              <a:t>H3C1, WDR77, CDK4</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Cellular response to hypoxia</a:t>
            </a:r>
            <a:r>
              <a:rPr i="1" lang="es" sz="1600">
                <a:solidFill>
                  <a:srgbClr val="000000"/>
                </a:solidFill>
              </a:rPr>
              <a:t>: </a:t>
            </a:r>
            <a:r>
              <a:rPr b="1" i="1" lang="es" sz="1600">
                <a:solidFill>
                  <a:srgbClr val="000000"/>
                </a:solidFill>
              </a:rPr>
              <a:t>EPAS1</a:t>
            </a:r>
            <a:endParaRPr b="1" i="1" sz="1600">
              <a:solidFill>
                <a:srgbClr val="000000"/>
              </a:solidFill>
            </a:endParaRPr>
          </a:p>
          <a:p>
            <a:pPr indent="-284480" lvl="0" marL="457200" rtl="0" algn="l">
              <a:spcBef>
                <a:spcPts val="0"/>
              </a:spcBef>
              <a:spcAft>
                <a:spcPts val="0"/>
              </a:spcAft>
              <a:buClr>
                <a:srgbClr val="000000"/>
              </a:buClr>
              <a:buSzPct val="100000"/>
              <a:buChar char="●"/>
            </a:pPr>
            <a:r>
              <a:rPr i="1" lang="es" sz="1600">
                <a:solidFill>
                  <a:srgbClr val="000000"/>
                </a:solidFill>
              </a:rPr>
              <a:t>Detoxification of Reactive Oxygen Species:</a:t>
            </a:r>
            <a:r>
              <a:rPr i="1" lang="es" sz="1600">
                <a:solidFill>
                  <a:srgbClr val="000000"/>
                </a:solidFill>
              </a:rPr>
              <a:t> </a:t>
            </a:r>
            <a:r>
              <a:rPr b="1" i="1" lang="es" sz="1600">
                <a:solidFill>
                  <a:srgbClr val="000000"/>
                </a:solidFill>
              </a:rPr>
              <a:t>CYBB, CAT, TNX2</a:t>
            </a:r>
            <a:endParaRPr b="1" i="1" sz="1600">
              <a:solidFill>
                <a:srgbClr val="000000"/>
              </a:solidFill>
            </a:endParaRPr>
          </a:p>
          <a:p>
            <a:pPr indent="0" lvl="0" marL="45720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385" name="Google Shape;385;p43"/>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masculinas (lfc &gt; 0.58), y que se encuentran en las listas deseadas:</a:t>
            </a:r>
            <a:endParaRPr i="1"/>
          </a:p>
          <a:p>
            <a:pPr indent="-300038" lvl="0" marL="457200" rtl="0" algn="l">
              <a:spcBef>
                <a:spcPts val="1200"/>
              </a:spcBef>
              <a:spcAft>
                <a:spcPts val="0"/>
              </a:spcAft>
              <a:buSzPct val="100000"/>
              <a:buChar char="●"/>
            </a:pPr>
            <a:r>
              <a:rPr i="1" lang="es"/>
              <a:t>Toll Like Receptor 4 Cascade: </a:t>
            </a:r>
            <a:r>
              <a:rPr b="1" i="1" lang="es"/>
              <a:t>TRAF6, TBK1, TRAF3, IRF3</a:t>
            </a:r>
            <a:endParaRPr b="1" i="1"/>
          </a:p>
          <a:p>
            <a:pPr indent="-300038" lvl="0" marL="457200" rtl="0" algn="l">
              <a:spcBef>
                <a:spcPts val="0"/>
              </a:spcBef>
              <a:spcAft>
                <a:spcPts val="0"/>
              </a:spcAft>
              <a:buSzPct val="100000"/>
              <a:buChar char="●"/>
            </a:pPr>
            <a:r>
              <a:rPr i="1" lang="es"/>
              <a:t>Interleukin-1 processing: </a:t>
            </a:r>
            <a:r>
              <a:rPr b="1" i="1" lang="es"/>
              <a:t>NFKB1, NFKB2, RELA, IL1A</a:t>
            </a:r>
            <a:endParaRPr b="1" i="1"/>
          </a:p>
          <a:p>
            <a:pPr indent="-300038" lvl="0" marL="457200" rtl="0" algn="l">
              <a:spcBef>
                <a:spcPts val="0"/>
              </a:spcBef>
              <a:spcAft>
                <a:spcPts val="0"/>
              </a:spcAft>
              <a:buSzPct val="100000"/>
              <a:buChar char="●"/>
            </a:pPr>
            <a:r>
              <a:rPr i="1" lang="es"/>
              <a:t>Interleukin-1 signaling: </a:t>
            </a:r>
            <a:r>
              <a:rPr b="1" i="1" lang="es"/>
              <a:t>NFKB1, NFKB2, RELA, IL1A, RIPK2, PSMB9, PSME2, NFKBIA, ALPK1, PSME1, PSMB8, CUL1, SQSTM1, IL1RN, PSMA4, PSMA2, PSMA3, PSMB10, PSMA6, NKIRAS2, IKBKG, NKIRAS1, UBC, TAB3, CASP8</a:t>
            </a:r>
            <a:endParaRPr i="1"/>
          </a:p>
          <a:p>
            <a:pPr indent="-300038" lvl="0" marL="457200" rtl="0" algn="l">
              <a:spcBef>
                <a:spcPts val="0"/>
              </a:spcBef>
              <a:spcAft>
                <a:spcPts val="0"/>
              </a:spcAft>
              <a:buSzPct val="100000"/>
              <a:buChar char="●"/>
            </a:pPr>
            <a:r>
              <a:rPr i="1" lang="es"/>
              <a:t>Interleuking-10 signaling: </a:t>
            </a:r>
            <a:r>
              <a:rPr b="1" i="1" lang="es"/>
              <a:t>IL1A, IL1RN, CXCL10, IL6, CCL19, CCL5, CD80, IL12B, CCL20, CD86, CXCL8, CCL22, LIF, PTGS2, STAT3, TNF, PTGS2, IL10RA, PTAFR</a:t>
            </a:r>
            <a:endParaRPr b="1" i="1"/>
          </a:p>
          <a:p>
            <a:pPr indent="-300038" lvl="0" marL="457200" rtl="0" algn="l">
              <a:spcBef>
                <a:spcPts val="0"/>
              </a:spcBef>
              <a:spcAft>
                <a:spcPts val="0"/>
              </a:spcAft>
              <a:buSzPct val="100000"/>
              <a:buChar char="●"/>
            </a:pPr>
            <a:r>
              <a:rPr i="1" lang="es"/>
              <a:t>Signaling by TGF-beta Receptor Complex: </a:t>
            </a:r>
            <a:r>
              <a:rPr b="1" i="1" lang="es"/>
              <a:t>UBC, </a:t>
            </a:r>
            <a:r>
              <a:rPr b="1" i="1" lang="es"/>
              <a:t>STAT1, ITGB8, F11R, SMAD7, TRIM33</a:t>
            </a:r>
            <a:endParaRPr b="1" i="1"/>
          </a:p>
          <a:p>
            <a:pPr indent="-300038" lvl="0" marL="457200" rtl="0" algn="l">
              <a:spcBef>
                <a:spcPts val="0"/>
              </a:spcBef>
              <a:spcAft>
                <a:spcPts val="0"/>
              </a:spcAft>
              <a:buSzPct val="114341"/>
              <a:buChar char="●"/>
            </a:pPr>
            <a:r>
              <a:rPr i="1" lang="es" sz="1574"/>
              <a:t>Glycolysis: </a:t>
            </a:r>
            <a:r>
              <a:rPr b="1" i="1" lang="es" sz="1574"/>
              <a:t>NUP62, PFKP, NUP50, NUP98</a:t>
            </a:r>
            <a:endParaRPr b="1" i="1"/>
          </a:p>
          <a:p>
            <a:pPr indent="-300038" lvl="0" marL="457200" rtl="0" algn="l">
              <a:spcBef>
                <a:spcPts val="0"/>
              </a:spcBef>
              <a:spcAft>
                <a:spcPts val="0"/>
              </a:spcAft>
              <a:buSzPct val="100000"/>
              <a:buChar char="●"/>
            </a:pPr>
            <a:r>
              <a:rPr i="1" lang="es"/>
              <a:t>Regulation of lipid metabolism by PPARalpha: </a:t>
            </a:r>
            <a:r>
              <a:rPr b="1" i="1" lang="es"/>
              <a:t>TIAM2, G0S2, ALAS1, NCOA2, CREBBP, HMGCS1, MED1, MED13, NRF1, NCOA6, TBL1X</a:t>
            </a:r>
            <a:endParaRPr b="1" i="1"/>
          </a:p>
          <a:p>
            <a:pPr indent="-300038" lvl="0" marL="457200" rtl="0" algn="l">
              <a:spcBef>
                <a:spcPts val="0"/>
              </a:spcBef>
              <a:spcAft>
                <a:spcPts val="0"/>
              </a:spcAft>
              <a:buSzPct val="100000"/>
              <a:buChar char="●"/>
            </a:pPr>
            <a:r>
              <a:rPr i="1" lang="es"/>
              <a:t>Mitochondrial Fatty Acid Beta-Oxidation: </a:t>
            </a:r>
            <a:r>
              <a:rPr b="1" i="1" lang="es"/>
              <a:t>ACOT9, ECI1</a:t>
            </a:r>
            <a:endParaRPr i="1"/>
          </a:p>
          <a:p>
            <a:pPr indent="-300038" lvl="0" marL="457200" rtl="0" algn="l">
              <a:spcBef>
                <a:spcPts val="0"/>
              </a:spcBef>
              <a:spcAft>
                <a:spcPts val="0"/>
              </a:spcAft>
              <a:buSzPct val="100000"/>
              <a:buChar char="●"/>
            </a:pPr>
            <a:r>
              <a:rPr i="1" lang="es"/>
              <a:t>Binding and uptake of ligands by scavenger receptors: </a:t>
            </a:r>
            <a:r>
              <a:rPr b="1" i="1" lang="es"/>
              <a:t>APOL1</a:t>
            </a:r>
            <a:endParaRPr b="1" i="1"/>
          </a:p>
          <a:p>
            <a:pPr indent="-300038" lvl="0" marL="457200" rtl="0" algn="l">
              <a:spcBef>
                <a:spcPts val="0"/>
              </a:spcBef>
              <a:spcAft>
                <a:spcPts val="0"/>
              </a:spcAft>
              <a:buSzPct val="100000"/>
              <a:buChar char="●"/>
            </a:pPr>
            <a:r>
              <a:rPr i="1" lang="es"/>
              <a:t>Unfolded Protein Response (UPR): </a:t>
            </a:r>
            <a:r>
              <a:rPr b="1" i="1" lang="es"/>
              <a:t>CXCL8, ATF3, CREBRF, XBP1</a:t>
            </a:r>
            <a:endParaRPr b="1" i="1"/>
          </a:p>
          <a:p>
            <a:pPr indent="-300038" lvl="0" marL="457200" rtl="0" algn="l">
              <a:spcBef>
                <a:spcPts val="0"/>
              </a:spcBef>
              <a:spcAft>
                <a:spcPts val="0"/>
              </a:spcAft>
              <a:buSzPct val="100000"/>
              <a:buChar char="●"/>
            </a:pPr>
            <a:r>
              <a:rPr i="1" lang="es"/>
              <a:t>Cellular Senescence: </a:t>
            </a:r>
            <a:r>
              <a:rPr b="1" i="1" lang="es"/>
              <a:t>NFKB1, RELA, IL1A, UBC, IL6, CXCL8, STAT3, CCNA1, H2BC11, MDM2,</a:t>
            </a:r>
            <a:endParaRPr b="1" i="1"/>
          </a:p>
          <a:p>
            <a:pPr indent="0" lvl="0" marL="457200" rtl="0" algn="l">
              <a:spcBef>
                <a:spcPts val="0"/>
              </a:spcBef>
              <a:spcAft>
                <a:spcPts val="0"/>
              </a:spcAft>
              <a:buNone/>
            </a:pPr>
            <a:r>
              <a:rPr b="1" i="1" lang="es"/>
              <a:t>H2BC10, H2BC21, MOV10, LMNB1, NBN, JUN, H2AC18, H2BC3, MINK1, BMI1, PHC3, H2BC26,</a:t>
            </a:r>
            <a:endParaRPr b="1" i="1"/>
          </a:p>
          <a:p>
            <a:pPr indent="0" lvl="0" marL="457200" rtl="0" algn="l">
              <a:spcBef>
                <a:spcPts val="0"/>
              </a:spcBef>
              <a:spcAft>
                <a:spcPts val="0"/>
              </a:spcAft>
              <a:buNone/>
            </a:pPr>
            <a:r>
              <a:rPr b="1" i="1" lang="es"/>
              <a:t>CDK6, H3C3, KDM6B, CDC23, CDK2, H2BC15, H1-2</a:t>
            </a:r>
            <a:endParaRPr b="1" i="1"/>
          </a:p>
          <a:p>
            <a:pPr indent="0" lvl="0" marL="0" rtl="0" algn="l">
              <a:spcBef>
                <a:spcPts val="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4"/>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91" name="Google Shape;391;p44"/>
          <p:cNvSpPr txBox="1"/>
          <p:nvPr>
            <p:ph idx="1" type="body"/>
          </p:nvPr>
        </p:nvSpPr>
        <p:spPr>
          <a:xfrm>
            <a:off x="109950" y="1017800"/>
            <a:ext cx="8924100" cy="3339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s" sz="900">
                <a:latin typeface="Montserrat"/>
                <a:ea typeface="Montserrat"/>
                <a:cs typeface="Montserrat"/>
                <a:sym typeface="Montserrat"/>
              </a:rPr>
              <a:t>Genes sobreexpresados en células M1 masculinas (lfc &gt; 0.58), y que se encuentran en las listas deseadas:</a:t>
            </a:r>
            <a:endParaRPr sz="900">
              <a:latin typeface="Montserrat"/>
              <a:ea typeface="Montserrat"/>
              <a:cs typeface="Montserrat"/>
              <a:sym typeface="Montserrat"/>
            </a:endParaRPr>
          </a:p>
          <a:p>
            <a:pPr indent="-285750" lvl="0" marL="457200" rtl="0" algn="l">
              <a:lnSpc>
                <a:spcPct val="105000"/>
              </a:lnSpc>
              <a:spcBef>
                <a:spcPts val="1200"/>
              </a:spcBef>
              <a:spcAft>
                <a:spcPts val="0"/>
              </a:spcAft>
              <a:buSzPts val="900"/>
              <a:buChar char="●"/>
            </a:pPr>
            <a:r>
              <a:rPr i="1" lang="es" sz="900">
                <a:solidFill>
                  <a:srgbClr val="000000"/>
                </a:solidFill>
              </a:rPr>
              <a:t>Folate</a:t>
            </a:r>
            <a:r>
              <a:rPr i="1" lang="es" sz="900">
                <a:solidFill>
                  <a:srgbClr val="000000"/>
                </a:solidFill>
              </a:rPr>
              <a:t> metabolism</a:t>
            </a:r>
            <a:r>
              <a:rPr i="1" lang="es" sz="900"/>
              <a:t>: </a:t>
            </a:r>
            <a:r>
              <a:rPr b="1" i="1" lang="es" sz="900"/>
              <a:t>MTHFS, SHMT2</a:t>
            </a:r>
            <a:endParaRPr b="1" i="1" sz="900"/>
          </a:p>
          <a:p>
            <a:pPr indent="-285750" lvl="0" marL="457200" rtl="0" algn="l">
              <a:lnSpc>
                <a:spcPct val="105000"/>
              </a:lnSpc>
              <a:spcBef>
                <a:spcPts val="0"/>
              </a:spcBef>
              <a:spcAft>
                <a:spcPts val="0"/>
              </a:spcAft>
              <a:buSzPts val="900"/>
              <a:buChar char="●"/>
            </a:pPr>
            <a:r>
              <a:rPr i="1" lang="es" sz="900"/>
              <a:t>Retinoid metabolism: </a:t>
            </a:r>
            <a:r>
              <a:rPr b="1" i="1" lang="es" sz="900"/>
              <a:t>AGRN, LRP8, GPC4, LRP10, SDC4</a:t>
            </a:r>
            <a:endParaRPr b="1" i="1" sz="900"/>
          </a:p>
          <a:p>
            <a:pPr indent="-285750" lvl="0" marL="457200" rtl="0" algn="l">
              <a:lnSpc>
                <a:spcPct val="105000"/>
              </a:lnSpc>
              <a:spcBef>
                <a:spcPts val="0"/>
              </a:spcBef>
              <a:spcAft>
                <a:spcPts val="0"/>
              </a:spcAft>
              <a:buSzPts val="900"/>
              <a:buChar char="●"/>
            </a:pPr>
            <a:r>
              <a:rPr i="1" lang="es" sz="900"/>
              <a:t>CoFactors metabolism: </a:t>
            </a:r>
            <a:r>
              <a:rPr b="1" i="1" lang="es" sz="900"/>
              <a:t>SPR, GCH1</a:t>
            </a:r>
            <a:endParaRPr b="1" i="1" sz="900"/>
          </a:p>
          <a:p>
            <a:pPr indent="-285750" lvl="0" marL="457200" rtl="0" algn="l">
              <a:lnSpc>
                <a:spcPct val="105000"/>
              </a:lnSpc>
              <a:spcBef>
                <a:spcPts val="0"/>
              </a:spcBef>
              <a:spcAft>
                <a:spcPts val="0"/>
              </a:spcAft>
              <a:buSzPts val="900"/>
              <a:buChar char="●"/>
            </a:pPr>
            <a:r>
              <a:rPr i="1" lang="es" sz="900"/>
              <a:t>Branched chain aa catabolism: </a:t>
            </a:r>
            <a:r>
              <a:rPr b="1" i="1" lang="es" sz="900"/>
              <a:t>PPM1K</a:t>
            </a:r>
            <a:endParaRPr b="1" i="1" sz="900"/>
          </a:p>
          <a:p>
            <a:pPr indent="-285750" lvl="0" marL="457200" rtl="0" algn="l">
              <a:lnSpc>
                <a:spcPct val="105000"/>
              </a:lnSpc>
              <a:spcBef>
                <a:spcPts val="0"/>
              </a:spcBef>
              <a:spcAft>
                <a:spcPts val="0"/>
              </a:spcAft>
              <a:buSzPts val="900"/>
              <a:buChar char="●"/>
            </a:pPr>
            <a:r>
              <a:rPr i="1" lang="es" sz="900">
                <a:solidFill>
                  <a:srgbClr val="000000"/>
                </a:solidFill>
              </a:rPr>
              <a:t>Proline catabolism</a:t>
            </a:r>
            <a:r>
              <a:rPr i="1" lang="es" sz="900"/>
              <a:t>: </a:t>
            </a:r>
            <a:r>
              <a:rPr b="1" i="1" lang="es" sz="900"/>
              <a:t>PRODH</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Tryptophan catabolism</a:t>
            </a:r>
            <a:r>
              <a:rPr i="1" lang="es" sz="900"/>
              <a:t>: </a:t>
            </a:r>
            <a:r>
              <a:rPr b="1" i="1" lang="es" sz="900"/>
              <a:t>KYNU, SLC7A5, IDO1</a:t>
            </a:r>
            <a:endParaRPr b="1" i="1" sz="900"/>
          </a:p>
          <a:p>
            <a:pPr indent="-285750" lvl="0" marL="457200" rtl="0" algn="l">
              <a:lnSpc>
                <a:spcPct val="105000"/>
              </a:lnSpc>
              <a:spcBef>
                <a:spcPts val="0"/>
              </a:spcBef>
              <a:spcAft>
                <a:spcPts val="0"/>
              </a:spcAft>
              <a:buSzPts val="900"/>
              <a:buChar char="●"/>
            </a:pPr>
            <a:r>
              <a:rPr i="1" lang="es" sz="900">
                <a:solidFill>
                  <a:srgbClr val="000000"/>
                </a:solidFill>
              </a:rPr>
              <a:t>Sulfur aa metabolsim</a:t>
            </a:r>
            <a:r>
              <a:rPr i="1" lang="es" sz="900"/>
              <a:t>: </a:t>
            </a:r>
            <a:r>
              <a:rPr b="1" i="1" lang="es" sz="900"/>
              <a:t>CTH</a:t>
            </a:r>
            <a:endParaRPr i="1" sz="900"/>
          </a:p>
          <a:p>
            <a:pPr indent="-285750" lvl="0" marL="457200" rtl="0" algn="l">
              <a:lnSpc>
                <a:spcPct val="105000"/>
              </a:lnSpc>
              <a:spcBef>
                <a:spcPts val="0"/>
              </a:spcBef>
              <a:spcAft>
                <a:spcPts val="0"/>
              </a:spcAft>
              <a:buSzPts val="900"/>
              <a:buChar char="●"/>
            </a:pPr>
            <a:r>
              <a:rPr i="1" lang="es" sz="900">
                <a:solidFill>
                  <a:srgbClr val="000000"/>
                </a:solidFill>
              </a:rPr>
              <a:t>Selenoamino acid</a:t>
            </a:r>
            <a:r>
              <a:rPr i="1" lang="es" sz="900">
                <a:solidFill>
                  <a:srgbClr val="000000"/>
                </a:solidFill>
              </a:rPr>
              <a:t> metabolism</a:t>
            </a:r>
            <a:r>
              <a:rPr i="1" lang="es" sz="900"/>
              <a:t>: </a:t>
            </a:r>
            <a:r>
              <a:rPr b="1" i="1" lang="es" sz="900"/>
              <a:t>RPS27L, SARS1, CTH, RPS19</a:t>
            </a:r>
            <a:endParaRPr b="1" i="1" sz="900"/>
          </a:p>
          <a:p>
            <a:pPr indent="-285750" lvl="0" marL="457200" rtl="0" algn="l">
              <a:lnSpc>
                <a:spcPct val="105000"/>
              </a:lnSpc>
              <a:spcBef>
                <a:spcPts val="0"/>
              </a:spcBef>
              <a:spcAft>
                <a:spcPts val="0"/>
              </a:spcAft>
              <a:buSzPts val="900"/>
              <a:buChar char="●"/>
            </a:pPr>
            <a:r>
              <a:rPr i="1" lang="es" sz="900"/>
              <a:t>Urea cycle: </a:t>
            </a:r>
            <a:r>
              <a:rPr b="1" i="1" lang="es" sz="900"/>
              <a:t>NAGS</a:t>
            </a:r>
            <a:endParaRPr b="1" i="1" sz="900"/>
          </a:p>
          <a:p>
            <a:pPr indent="-285750" lvl="0" marL="457200" rtl="0" algn="l">
              <a:lnSpc>
                <a:spcPct val="105000"/>
              </a:lnSpc>
              <a:spcBef>
                <a:spcPts val="0"/>
              </a:spcBef>
              <a:spcAft>
                <a:spcPts val="0"/>
              </a:spcAft>
              <a:buSzPts val="900"/>
              <a:buChar char="●"/>
            </a:pPr>
            <a:r>
              <a:rPr i="1" lang="es" sz="900">
                <a:solidFill>
                  <a:srgbClr val="000000"/>
                </a:solidFill>
              </a:rPr>
              <a:t>Carnitine metabolism</a:t>
            </a:r>
            <a:r>
              <a:rPr i="1" lang="es" sz="900"/>
              <a:t>: </a:t>
            </a:r>
            <a:r>
              <a:rPr b="1" i="1" lang="es" sz="900"/>
              <a:t>SLC25A20, PRKAG2</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B oxidation</a:t>
            </a:r>
            <a:r>
              <a:rPr i="1" lang="es" sz="900"/>
              <a:t>: </a:t>
            </a:r>
            <a:r>
              <a:rPr b="1" i="1" lang="es" sz="900"/>
              <a:t>ECI1, ACOT9</a:t>
            </a:r>
            <a:endParaRPr b="1" i="1" sz="900"/>
          </a:p>
          <a:p>
            <a:pPr indent="-285750" lvl="0" marL="457200" rtl="0" algn="l">
              <a:lnSpc>
                <a:spcPct val="105000"/>
              </a:lnSpc>
              <a:spcBef>
                <a:spcPts val="0"/>
              </a:spcBef>
              <a:spcAft>
                <a:spcPts val="0"/>
              </a:spcAft>
              <a:buSzPts val="900"/>
              <a:buChar char="●"/>
            </a:pPr>
            <a:r>
              <a:rPr i="1" lang="es" sz="900"/>
              <a:t>Peroxisomal lipid metabolism: </a:t>
            </a:r>
            <a:r>
              <a:rPr b="1" i="1" lang="es" sz="900"/>
              <a:t>ABCD1, ACOX3</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Triglyceride catabolism</a:t>
            </a:r>
            <a:r>
              <a:rPr i="1" lang="es" sz="900">
                <a:highlight>
                  <a:schemeClr val="lt1"/>
                </a:highlight>
              </a:rPr>
              <a:t>:</a:t>
            </a:r>
            <a:r>
              <a:rPr i="1" lang="es" sz="900"/>
              <a:t> </a:t>
            </a:r>
            <a:r>
              <a:rPr b="1" i="1" lang="es" sz="900"/>
              <a:t>GK, GK3P </a:t>
            </a:r>
            <a:endParaRPr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Phospholipid metabolism</a:t>
            </a:r>
            <a:r>
              <a:rPr i="1" lang="es" sz="900">
                <a:highlight>
                  <a:schemeClr val="lt1"/>
                </a:highlight>
              </a:rPr>
              <a:t>:</a:t>
            </a:r>
            <a:r>
              <a:rPr i="1" lang="es" sz="900"/>
              <a:t> </a:t>
            </a:r>
            <a:r>
              <a:rPr b="1" i="1" lang="es" sz="900"/>
              <a:t>PLAAT2, PIP5K1A, ARF3, CDS1, CDS2, PTEN, PLEKHA6, PLA1A, PLA2G4C, AGK, PI4K2B</a:t>
            </a:r>
            <a:endParaRPr b="1" i="1" sz="900"/>
          </a:p>
          <a:p>
            <a:pPr indent="-285750" lvl="0" marL="457200" rtl="0" algn="l">
              <a:lnSpc>
                <a:spcPct val="105000"/>
              </a:lnSpc>
              <a:spcBef>
                <a:spcPts val="0"/>
              </a:spcBef>
              <a:spcAft>
                <a:spcPts val="0"/>
              </a:spcAft>
              <a:buSzPts val="900"/>
              <a:buChar char="●"/>
            </a:pPr>
            <a:r>
              <a:rPr i="1" lang="es" sz="900">
                <a:solidFill>
                  <a:srgbClr val="000000"/>
                </a:solidFill>
              </a:rPr>
              <a:t>Sphingolipid metabolism: </a:t>
            </a:r>
            <a:r>
              <a:rPr b="1" i="1" lang="es" sz="900">
                <a:solidFill>
                  <a:srgbClr val="000000"/>
                </a:solidFill>
              </a:rPr>
              <a:t>PLPP1, UGCG, B4FALNT1, SPHK1, FA2H, PRKD2, SPTLC1, SGPP2</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Steroids metabolism: </a:t>
            </a:r>
            <a:r>
              <a:rPr b="1" i="1" lang="es" sz="900">
                <a:solidFill>
                  <a:srgbClr val="000000"/>
                </a:solidFill>
              </a:rPr>
              <a:t>TBL1X, INSIG2, SEC21A, NCOA2, STARD4, KPNB1, CREBBP, MED1, HMGCS1, NCOA6, CYP7B1, SAR1B, VDR, SRD5A1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Nitric oxide metabolism</a:t>
            </a:r>
            <a:r>
              <a:rPr i="1" lang="es" sz="900">
                <a:solidFill>
                  <a:srgbClr val="000000"/>
                </a:solidFill>
              </a:rPr>
              <a:t>: </a:t>
            </a:r>
            <a:r>
              <a:rPr b="1" i="1" lang="es" sz="900">
                <a:solidFill>
                  <a:srgbClr val="000000"/>
                </a:solidFill>
              </a:rPr>
              <a:t>SPR</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Nucleotides metabolism: </a:t>
            </a:r>
            <a:r>
              <a:rPr b="1" i="1" lang="es" sz="900">
                <a:solidFill>
                  <a:srgbClr val="000000"/>
                </a:solidFill>
              </a:rPr>
              <a:t>UPP1, AK8, AMPD3, ADAL, GART</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Ascorbate metabolism: </a:t>
            </a:r>
            <a:r>
              <a:rPr b="1" i="1" lang="es" sz="900">
                <a:solidFill>
                  <a:srgbClr val="000000"/>
                </a:solidFill>
              </a:rPr>
              <a:t>CYB5R3, SLC2A1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Riboflavin</a:t>
            </a:r>
            <a:r>
              <a:rPr i="1" lang="es" sz="900">
                <a:solidFill>
                  <a:srgbClr val="000000"/>
                </a:solidFill>
              </a:rPr>
              <a:t> metabolism: </a:t>
            </a:r>
            <a:r>
              <a:rPr b="1" i="1" lang="es" sz="900">
                <a:solidFill>
                  <a:srgbClr val="000000"/>
                </a:solidFill>
              </a:rPr>
              <a:t>SLC52A1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Panthotenate metabolism: </a:t>
            </a:r>
            <a:r>
              <a:rPr b="1" i="1" lang="es" sz="900">
                <a:solidFill>
                  <a:srgbClr val="000000"/>
                </a:solidFill>
              </a:rPr>
              <a:t>PPCDC</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highlight>
                  <a:schemeClr val="lt1"/>
                </a:highlight>
              </a:rPr>
              <a:t>Cobalamin metabolism</a:t>
            </a:r>
            <a:r>
              <a:rPr i="1" lang="es" sz="900">
                <a:solidFill>
                  <a:srgbClr val="000000"/>
                </a:solidFill>
              </a:rPr>
              <a:t>: </a:t>
            </a:r>
            <a:r>
              <a:rPr b="1" i="1" lang="es" sz="900">
                <a:solidFill>
                  <a:srgbClr val="000000"/>
                </a:solidFill>
              </a:rPr>
              <a:t>TCN2, AMN, ABCC1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Nicotinate metabolism: </a:t>
            </a:r>
            <a:r>
              <a:rPr b="1" i="1" lang="es" sz="900">
                <a:solidFill>
                  <a:srgbClr val="000000"/>
                </a:solidFill>
              </a:rPr>
              <a:t>PARP6, PARP14, PTGS2, CD38, NAMPT, NMRK1</a:t>
            </a:r>
            <a:endParaRPr sz="900"/>
          </a:p>
          <a:p>
            <a:pPr indent="0" lvl="0" marL="0" rtl="0" algn="l">
              <a:lnSpc>
                <a:spcPct val="105000"/>
              </a:lnSpc>
              <a:spcBef>
                <a:spcPts val="0"/>
              </a:spcBef>
              <a:spcAft>
                <a:spcPts val="1200"/>
              </a:spcAft>
              <a:buSzPts val="523"/>
              <a:buNone/>
            </a:pPr>
            <a:r>
              <a:t/>
            </a:r>
            <a:endParaRPr sz="855"/>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5"/>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397" name="Google Shape;397;p45"/>
          <p:cNvSpPr txBox="1"/>
          <p:nvPr>
            <p:ph idx="1" type="body"/>
          </p:nvPr>
        </p:nvSpPr>
        <p:spPr>
          <a:xfrm>
            <a:off x="109950" y="1017800"/>
            <a:ext cx="8924100" cy="3339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s" sz="900">
                <a:latin typeface="Montserrat"/>
                <a:ea typeface="Montserrat"/>
                <a:cs typeface="Montserrat"/>
                <a:sym typeface="Montserrat"/>
              </a:rPr>
              <a:t>Genes sobreexpresados en células M1 masculinas (lfc &gt; 0.58), y que se encuentran en las listas deseadas:</a:t>
            </a:r>
            <a:endParaRPr sz="900">
              <a:latin typeface="Montserrat"/>
              <a:ea typeface="Montserrat"/>
              <a:cs typeface="Montserrat"/>
              <a:sym typeface="Montserrat"/>
            </a:endParaRPr>
          </a:p>
          <a:p>
            <a:pPr indent="-285750" lvl="0" marL="457200" rtl="0" algn="l">
              <a:lnSpc>
                <a:spcPct val="105000"/>
              </a:lnSpc>
              <a:spcBef>
                <a:spcPts val="1200"/>
              </a:spcBef>
              <a:spcAft>
                <a:spcPts val="0"/>
              </a:spcAft>
              <a:buSzPts val="900"/>
              <a:buChar char="●"/>
            </a:pPr>
            <a:r>
              <a:rPr i="1" lang="es" sz="900">
                <a:solidFill>
                  <a:srgbClr val="000000"/>
                </a:solidFill>
              </a:rPr>
              <a:t>Glycogen metabolism</a:t>
            </a:r>
            <a:r>
              <a:rPr i="1" lang="es" sz="900"/>
              <a:t>: </a:t>
            </a:r>
            <a:r>
              <a:rPr b="1" i="1" lang="es" sz="900"/>
              <a:t>NUP50, NUP98, NUP62, PFKP</a:t>
            </a:r>
            <a:endParaRPr b="1" i="1" sz="900"/>
          </a:p>
          <a:p>
            <a:pPr indent="-285750" lvl="0" marL="457200" rtl="0" algn="l">
              <a:lnSpc>
                <a:spcPct val="105000"/>
              </a:lnSpc>
              <a:spcBef>
                <a:spcPts val="0"/>
              </a:spcBef>
              <a:spcAft>
                <a:spcPts val="0"/>
              </a:spcAft>
              <a:buSzPts val="900"/>
              <a:buChar char="●"/>
            </a:pPr>
            <a:r>
              <a:rPr i="1" lang="es" sz="900"/>
              <a:t>Fructose biosynthesis: </a:t>
            </a:r>
            <a:r>
              <a:rPr b="1" i="1" lang="es" sz="900"/>
              <a:t>SLC2A1</a:t>
            </a:r>
            <a:endParaRPr b="1" i="1" sz="900"/>
          </a:p>
          <a:p>
            <a:pPr indent="-285750" lvl="0" marL="457200" rtl="0" algn="l">
              <a:lnSpc>
                <a:spcPct val="105000"/>
              </a:lnSpc>
              <a:spcBef>
                <a:spcPts val="0"/>
              </a:spcBef>
              <a:spcAft>
                <a:spcPts val="0"/>
              </a:spcAft>
              <a:buSzPts val="900"/>
              <a:buChar char="●"/>
            </a:pPr>
            <a:r>
              <a:rPr i="1" lang="es" sz="900"/>
              <a:t>Lactose synthesis: </a:t>
            </a:r>
            <a:r>
              <a:rPr b="1" i="1" lang="es" sz="900"/>
              <a:t>SLC2A1</a:t>
            </a:r>
            <a:endParaRPr b="1" i="1" sz="900"/>
          </a:p>
          <a:p>
            <a:pPr indent="-285750" lvl="0" marL="457200" rtl="0" algn="l">
              <a:lnSpc>
                <a:spcPct val="105000"/>
              </a:lnSpc>
              <a:spcBef>
                <a:spcPts val="0"/>
              </a:spcBef>
              <a:spcAft>
                <a:spcPts val="0"/>
              </a:spcAft>
              <a:buSzPts val="900"/>
              <a:buChar char="●"/>
            </a:pPr>
            <a:r>
              <a:rPr i="1" lang="es" sz="900"/>
              <a:t>PPP: </a:t>
            </a:r>
            <a:r>
              <a:rPr b="1" i="1" lang="es" sz="900"/>
              <a:t>G6PD, PGD</a:t>
            </a:r>
            <a:endParaRPr b="1" i="1" sz="900"/>
          </a:p>
          <a:p>
            <a:pPr indent="-285750" lvl="0" marL="457200" rtl="0" algn="l">
              <a:lnSpc>
                <a:spcPct val="105000"/>
              </a:lnSpc>
              <a:spcBef>
                <a:spcPts val="0"/>
              </a:spcBef>
              <a:spcAft>
                <a:spcPts val="0"/>
              </a:spcAft>
              <a:buSzPts val="900"/>
              <a:buChar char="●"/>
            </a:pPr>
            <a:r>
              <a:rPr i="1" lang="es" sz="900">
                <a:solidFill>
                  <a:srgbClr val="000000"/>
                </a:solidFill>
              </a:rPr>
              <a:t>Glycosaminoglycan metabolism</a:t>
            </a:r>
            <a:r>
              <a:rPr i="1" lang="es" sz="900"/>
              <a:t>: </a:t>
            </a:r>
            <a:r>
              <a:rPr b="1" i="1" lang="es" sz="900"/>
              <a:t>ST3GAL4, FMOD, AGRN, CHPF, GPC4, B4GALT6, HS3ST3B1, ST3GAL1, SDC4, XYLT2</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Inositol phosphate metabolism</a:t>
            </a:r>
            <a:r>
              <a:rPr i="1" lang="es" sz="900"/>
              <a:t>: </a:t>
            </a:r>
            <a:r>
              <a:rPr b="1" i="1" lang="es" sz="900"/>
              <a:t>IMPA1, IPPK, PTEN, INPP5B</a:t>
            </a:r>
            <a:endParaRPr b="1" i="1" sz="900"/>
          </a:p>
          <a:p>
            <a:pPr indent="-285750" lvl="0" marL="457200" rtl="0" algn="l">
              <a:lnSpc>
                <a:spcPct val="105000"/>
              </a:lnSpc>
              <a:spcBef>
                <a:spcPts val="0"/>
              </a:spcBef>
              <a:spcAft>
                <a:spcPts val="0"/>
              </a:spcAft>
              <a:buSzPts val="900"/>
              <a:buChar char="●"/>
            </a:pPr>
            <a:r>
              <a:rPr i="1" lang="es" sz="900">
                <a:solidFill>
                  <a:srgbClr val="000000"/>
                </a:solidFill>
              </a:rPr>
              <a:t>Fatty AcylCoA biosynthesis</a:t>
            </a:r>
            <a:r>
              <a:rPr i="1" lang="es" sz="900"/>
              <a:t>: </a:t>
            </a:r>
            <a:r>
              <a:rPr b="1" i="1" lang="es" sz="900"/>
              <a:t>SLC27A3</a:t>
            </a:r>
            <a:endParaRPr i="1" sz="900"/>
          </a:p>
          <a:p>
            <a:pPr indent="-285750" lvl="0" marL="457200" rtl="0" algn="l">
              <a:lnSpc>
                <a:spcPct val="105000"/>
              </a:lnSpc>
              <a:spcBef>
                <a:spcPts val="0"/>
              </a:spcBef>
              <a:spcAft>
                <a:spcPts val="0"/>
              </a:spcAft>
              <a:buSzPts val="900"/>
              <a:buChar char="●"/>
            </a:pPr>
            <a:r>
              <a:rPr i="1" lang="es" sz="900">
                <a:solidFill>
                  <a:srgbClr val="000000"/>
                </a:solidFill>
              </a:rPr>
              <a:t>Arachdonic Acid metabolism</a:t>
            </a:r>
            <a:r>
              <a:rPr i="1" lang="es" sz="900"/>
              <a:t>: </a:t>
            </a:r>
            <a:r>
              <a:rPr b="1" i="1" lang="es" sz="900"/>
              <a:t>CYP1B1, GPX4, PTGS2, ABCC1</a:t>
            </a:r>
            <a:endParaRPr b="1" i="1" sz="900"/>
          </a:p>
          <a:p>
            <a:pPr indent="-285750" lvl="0" marL="457200" rtl="0" algn="l">
              <a:lnSpc>
                <a:spcPct val="105000"/>
              </a:lnSpc>
              <a:spcBef>
                <a:spcPts val="0"/>
              </a:spcBef>
              <a:spcAft>
                <a:spcPts val="0"/>
              </a:spcAft>
              <a:buSzPts val="900"/>
              <a:buChar char="●"/>
            </a:pPr>
            <a:r>
              <a:rPr i="1" lang="es" sz="900"/>
              <a:t>O3 O6 metabolism: </a:t>
            </a:r>
            <a:r>
              <a:rPr b="1" i="1" lang="es" sz="900"/>
              <a:t>ABCD1</a:t>
            </a:r>
            <a:endParaRPr b="1" i="1" sz="900"/>
          </a:p>
          <a:p>
            <a:pPr indent="-285750" lvl="0" marL="457200" rtl="0" algn="l">
              <a:lnSpc>
                <a:spcPct val="105000"/>
              </a:lnSpc>
              <a:spcBef>
                <a:spcPts val="0"/>
              </a:spcBef>
              <a:spcAft>
                <a:spcPts val="0"/>
              </a:spcAft>
              <a:buSzPts val="900"/>
              <a:buChar char="●"/>
            </a:pPr>
            <a:r>
              <a:rPr i="1" lang="es" sz="900">
                <a:solidFill>
                  <a:srgbClr val="000000"/>
                </a:solidFill>
              </a:rPr>
              <a:t>Polyamines</a:t>
            </a:r>
            <a:r>
              <a:rPr i="1" lang="es" sz="900">
                <a:solidFill>
                  <a:srgbClr val="000000"/>
                </a:solidFill>
              </a:rPr>
              <a:t> metabolism</a:t>
            </a:r>
            <a:r>
              <a:rPr i="1" lang="es" sz="900"/>
              <a:t>: </a:t>
            </a:r>
            <a:r>
              <a:rPr b="1" i="1" lang="es" sz="900"/>
              <a:t>PSMA2, PSMB8, SAT1, PSMB10, PSMA3, PSME2, PSMA6, PSMA4, PSME1, PSMB9</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tRNA Aminoacylation</a:t>
            </a:r>
            <a:r>
              <a:rPr i="1" lang="es" sz="900"/>
              <a:t>: </a:t>
            </a:r>
            <a:r>
              <a:rPr b="1" i="1" lang="es" sz="900"/>
              <a:t>WARS1, HARS1, SARS1, PPA1, TARS1</a:t>
            </a:r>
            <a:endParaRPr b="1" i="1" sz="900"/>
          </a:p>
          <a:p>
            <a:pPr indent="-285750" lvl="0" marL="457200" rtl="0" algn="l">
              <a:lnSpc>
                <a:spcPct val="105000"/>
              </a:lnSpc>
              <a:spcBef>
                <a:spcPts val="0"/>
              </a:spcBef>
              <a:spcAft>
                <a:spcPts val="0"/>
              </a:spcAft>
              <a:buSzPts val="900"/>
              <a:buChar char="●"/>
            </a:pPr>
            <a:r>
              <a:rPr i="1" lang="es" sz="900"/>
              <a:t>Eukaryotic Translation Initiation</a:t>
            </a:r>
            <a:r>
              <a:rPr i="1" lang="es" sz="900"/>
              <a:t>: </a:t>
            </a:r>
            <a:r>
              <a:rPr b="1" i="1" lang="es" sz="900"/>
              <a:t>RPS27L, RPS19</a:t>
            </a:r>
            <a:endParaRPr b="1" i="1" sz="900"/>
          </a:p>
          <a:p>
            <a:pPr indent="-285750" lvl="0" marL="457200" rtl="0" algn="l">
              <a:lnSpc>
                <a:spcPct val="105000"/>
              </a:lnSpc>
              <a:spcBef>
                <a:spcPts val="0"/>
              </a:spcBef>
              <a:spcAft>
                <a:spcPts val="0"/>
              </a:spcAft>
              <a:buSzPts val="900"/>
              <a:buChar char="●"/>
            </a:pPr>
            <a:r>
              <a:rPr i="1" lang="es" sz="900">
                <a:solidFill>
                  <a:srgbClr val="000000"/>
                </a:solidFill>
              </a:rPr>
              <a:t>SRP-dependent co translational protein targeting to membrane</a:t>
            </a:r>
            <a:r>
              <a:rPr i="1" lang="es" sz="900">
                <a:highlight>
                  <a:schemeClr val="lt1"/>
                </a:highlight>
              </a:rPr>
              <a:t>:</a:t>
            </a:r>
            <a:r>
              <a:rPr i="1" lang="es" sz="900"/>
              <a:t> </a:t>
            </a:r>
            <a:r>
              <a:rPr b="1" i="1" lang="es" sz="900"/>
              <a:t>RPS27L, SEC61B, SEC61A2, RPS19</a:t>
            </a:r>
            <a:endParaRPr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Eukaryotic Translation Elongation</a:t>
            </a:r>
            <a:r>
              <a:rPr i="1" lang="es" sz="900">
                <a:highlight>
                  <a:schemeClr val="lt1"/>
                </a:highlight>
              </a:rPr>
              <a:t>:</a:t>
            </a:r>
            <a:r>
              <a:rPr i="1" lang="es" sz="900"/>
              <a:t> </a:t>
            </a:r>
            <a:r>
              <a:rPr b="1" i="1" lang="es" sz="900"/>
              <a:t>EEF11A1, RPS27L, EEF1A2, RPS19</a:t>
            </a:r>
            <a:endParaRPr b="1" i="1" sz="900"/>
          </a:p>
          <a:p>
            <a:pPr indent="-285750" lvl="0" marL="457200" rtl="0" algn="l">
              <a:lnSpc>
                <a:spcPct val="105000"/>
              </a:lnSpc>
              <a:spcBef>
                <a:spcPts val="0"/>
              </a:spcBef>
              <a:spcAft>
                <a:spcPts val="0"/>
              </a:spcAft>
              <a:buSzPts val="900"/>
              <a:buChar char="●"/>
            </a:pPr>
            <a:r>
              <a:rPr i="1" lang="es" sz="900">
                <a:solidFill>
                  <a:srgbClr val="000000"/>
                </a:solidFill>
              </a:rPr>
              <a:t>Eukaryotic Translation Termination</a:t>
            </a:r>
            <a:r>
              <a:rPr i="1" lang="es" sz="900">
                <a:solidFill>
                  <a:srgbClr val="000000"/>
                </a:solidFill>
              </a:rPr>
              <a:t>: </a:t>
            </a:r>
            <a:r>
              <a:rPr b="1" i="1" lang="es" sz="900">
                <a:solidFill>
                  <a:srgbClr val="000000"/>
                </a:solidFill>
              </a:rPr>
              <a:t>RPS27L, RPS19 </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Mitochondrial translation</a:t>
            </a:r>
            <a:r>
              <a:rPr i="1" lang="es" sz="900">
                <a:solidFill>
                  <a:srgbClr val="000000"/>
                </a:solidFill>
              </a:rPr>
              <a:t>: </a:t>
            </a:r>
            <a:r>
              <a:rPr b="1" i="1" lang="es" sz="900">
                <a:solidFill>
                  <a:srgbClr val="000000"/>
                </a:solidFill>
              </a:rPr>
              <a:t>MRPL51, MRPL32, MRPL49, MTRF1L</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Protein folding</a:t>
            </a:r>
            <a:r>
              <a:rPr i="1" lang="es" sz="900">
                <a:solidFill>
                  <a:srgbClr val="000000"/>
                </a:solidFill>
              </a:rPr>
              <a:t>: </a:t>
            </a:r>
            <a:r>
              <a:rPr b="1" i="1" lang="es" sz="900">
                <a:solidFill>
                  <a:srgbClr val="000000"/>
                </a:solidFill>
              </a:rPr>
              <a:t>STAT3, USP11, SPHK1, GNG5, FBXW4, RGS11, GNG11</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Gamma carboxylation hypusine formation and arylsulfatase activation</a:t>
            </a:r>
            <a:r>
              <a:rPr i="1" lang="es" sz="900">
                <a:solidFill>
                  <a:srgbClr val="000000"/>
                </a:solidFill>
              </a:rPr>
              <a:t>: </a:t>
            </a:r>
            <a:r>
              <a:rPr b="1" i="1" lang="es" sz="900">
                <a:solidFill>
                  <a:srgbClr val="000000"/>
                </a:solidFill>
              </a:rPr>
              <a:t>DPH3</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Post-translational modification: synthesis of GPI-anchored proteins</a:t>
            </a:r>
            <a:r>
              <a:rPr i="1" lang="es" sz="900">
                <a:solidFill>
                  <a:srgbClr val="000000"/>
                </a:solidFill>
              </a:rPr>
              <a:t>: </a:t>
            </a:r>
            <a:r>
              <a:rPr b="1" i="1" lang="es" sz="900">
                <a:solidFill>
                  <a:srgbClr val="000000"/>
                </a:solidFill>
              </a:rPr>
              <a:t>LY6E, NRN1, ALPG, TECTA</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Asparagine N-linked glycosylation</a:t>
            </a:r>
            <a:r>
              <a:rPr i="1" lang="es" sz="900">
                <a:solidFill>
                  <a:srgbClr val="000000"/>
                </a:solidFill>
              </a:rPr>
              <a:t>: </a:t>
            </a:r>
            <a:r>
              <a:rPr b="1" i="1" lang="es" sz="900">
                <a:solidFill>
                  <a:srgbClr val="000000"/>
                </a:solidFill>
              </a:rPr>
              <a:t>ST3GAL4, UBC, LMAN1, PMM1, ARF3, COPB1, ST3GAL1, B4GALT6, ST6GALNAC2,</a:t>
            </a:r>
            <a:endParaRPr b="1" i="1" sz="900">
              <a:solidFill>
                <a:srgbClr val="000000"/>
              </a:solidFill>
            </a:endParaRPr>
          </a:p>
          <a:p>
            <a:pPr indent="0" lvl="0" marL="457200" rtl="0" algn="l">
              <a:lnSpc>
                <a:spcPct val="105000"/>
              </a:lnSpc>
              <a:spcBef>
                <a:spcPts val="0"/>
              </a:spcBef>
              <a:spcAft>
                <a:spcPts val="0"/>
              </a:spcAft>
              <a:buNone/>
            </a:pPr>
            <a:r>
              <a:rPr b="1" i="1" lang="es" sz="900">
                <a:solidFill>
                  <a:srgbClr val="000000"/>
                </a:solidFill>
              </a:rPr>
              <a:t>BET1L, SEC22C, LMAN2L, STX17, SEC24A, ANKRD28, SAR1B, ST8SIA4</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O-linked glycosylation</a:t>
            </a:r>
            <a:r>
              <a:rPr i="1" lang="es" sz="900">
                <a:solidFill>
                  <a:srgbClr val="000000"/>
                </a:solidFill>
              </a:rPr>
              <a:t>: </a:t>
            </a:r>
            <a:r>
              <a:rPr b="1" i="1" lang="es" sz="900">
                <a:solidFill>
                  <a:srgbClr val="000000"/>
                </a:solidFill>
              </a:rPr>
              <a:t>ST3GAL4, GALNT10, POFUT2, GALNT4, ADAMTSL4, DAG1, B4GALT6, ST6GALNAC2,</a:t>
            </a:r>
            <a:endParaRPr b="1" i="1" sz="900">
              <a:solidFill>
                <a:srgbClr val="000000"/>
              </a:solidFill>
            </a:endParaRPr>
          </a:p>
          <a:p>
            <a:pPr indent="0" lvl="0" marL="457200" rtl="0" algn="l">
              <a:lnSpc>
                <a:spcPct val="105000"/>
              </a:lnSpc>
              <a:spcBef>
                <a:spcPts val="0"/>
              </a:spcBef>
              <a:spcAft>
                <a:spcPts val="0"/>
              </a:spcAft>
              <a:buNone/>
            </a:pPr>
            <a:r>
              <a:rPr b="1" i="1" lang="es" sz="900">
                <a:solidFill>
                  <a:srgbClr val="000000"/>
                </a:solidFill>
              </a:rPr>
              <a:t>ST3GAL1</a:t>
            </a:r>
            <a:endParaRPr b="1" i="1" sz="900">
              <a:solidFill>
                <a:srgbClr val="000000"/>
              </a:solidFill>
            </a:endParaRPr>
          </a:p>
          <a:p>
            <a:pPr indent="0" lvl="0" marL="457200" rtl="0" algn="l">
              <a:lnSpc>
                <a:spcPct val="105000"/>
              </a:lnSpc>
              <a:spcBef>
                <a:spcPts val="0"/>
              </a:spcBef>
              <a:spcAft>
                <a:spcPts val="0"/>
              </a:spcAft>
              <a:buNone/>
            </a:pPr>
            <a:r>
              <a:t/>
            </a:r>
            <a:endParaRPr sz="900">
              <a:latin typeface="Montserrat"/>
              <a:ea typeface="Montserrat"/>
              <a:cs typeface="Montserrat"/>
              <a:sym typeface="Montserrat"/>
            </a:endParaRPr>
          </a:p>
          <a:p>
            <a:pPr indent="0" lvl="0" marL="0" rtl="0" algn="l">
              <a:lnSpc>
                <a:spcPct val="105000"/>
              </a:lnSpc>
              <a:spcBef>
                <a:spcPts val="0"/>
              </a:spcBef>
              <a:spcAft>
                <a:spcPts val="1200"/>
              </a:spcAft>
              <a:buSzPts val="523"/>
              <a:buNone/>
            </a:pPr>
            <a:r>
              <a:t/>
            </a:r>
            <a:endParaRPr sz="855"/>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6"/>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403" name="Google Shape;403;p46"/>
          <p:cNvSpPr txBox="1"/>
          <p:nvPr>
            <p:ph idx="1" type="body"/>
          </p:nvPr>
        </p:nvSpPr>
        <p:spPr>
          <a:xfrm>
            <a:off x="109950" y="1017800"/>
            <a:ext cx="8924100" cy="3832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s" sz="900">
                <a:latin typeface="Montserrat"/>
                <a:ea typeface="Montserrat"/>
                <a:cs typeface="Montserrat"/>
                <a:sym typeface="Montserrat"/>
              </a:rPr>
              <a:t>Genes sobreexpresados en células M1 masculinas (lfc &gt; 0.58), y que se encuentran en las listas deseadas:</a:t>
            </a:r>
            <a:endParaRPr sz="900">
              <a:latin typeface="Montserrat"/>
              <a:ea typeface="Montserrat"/>
              <a:cs typeface="Montserrat"/>
              <a:sym typeface="Montserrat"/>
            </a:endParaRPr>
          </a:p>
          <a:p>
            <a:pPr indent="-285750" lvl="0" marL="457200" rtl="0" algn="l">
              <a:lnSpc>
                <a:spcPct val="105000"/>
              </a:lnSpc>
              <a:spcBef>
                <a:spcPts val="1200"/>
              </a:spcBef>
              <a:spcAft>
                <a:spcPts val="0"/>
              </a:spcAft>
              <a:buSzPts val="900"/>
              <a:buChar char="●"/>
            </a:pPr>
            <a:r>
              <a:rPr i="1" lang="es" sz="900">
                <a:solidFill>
                  <a:srgbClr val="000000"/>
                </a:solidFill>
              </a:rPr>
              <a:t>SUMOylation</a:t>
            </a:r>
            <a:r>
              <a:rPr i="1" lang="es" sz="900"/>
              <a:t>: </a:t>
            </a:r>
            <a:r>
              <a:rPr b="1" i="1" lang="es" sz="900"/>
              <a:t>NUP98, BLM, NCOA2, IKBKE, PHC3, VDR, NUP50, NUP62, NFKB2, CREBBP, RELA, NFKBIA, EID3, SENP1, ZNF350, TP53BP1, MDM2, BMI1, IKBKG, SENP5</a:t>
            </a:r>
            <a:endParaRPr b="1" i="1" sz="900"/>
          </a:p>
          <a:p>
            <a:pPr indent="-285750" lvl="0" marL="457200" rtl="0" algn="l">
              <a:lnSpc>
                <a:spcPct val="105000"/>
              </a:lnSpc>
              <a:spcBef>
                <a:spcPts val="0"/>
              </a:spcBef>
              <a:spcAft>
                <a:spcPts val="0"/>
              </a:spcAft>
              <a:buSzPts val="900"/>
              <a:buChar char="●"/>
            </a:pPr>
            <a:r>
              <a:rPr i="1" lang="es" sz="900">
                <a:solidFill>
                  <a:srgbClr val="000000"/>
                </a:solidFill>
              </a:rPr>
              <a:t>Deubiquitination</a:t>
            </a:r>
            <a:r>
              <a:rPr i="1" lang="es" sz="900"/>
              <a:t>: </a:t>
            </a:r>
            <a:r>
              <a:rPr b="1" i="1" lang="es" sz="900"/>
              <a:t>H2BC15, TNFAIP3, PSMB8, ATXN7, MAT2B, PSMB10, PSMA3, CCNA1, PSMA6, H2BC3, OTUD7B, PSME1, YY1, UBC, PSMA2, USP12, RIPK2, CLSPN, PSMA4, NFKBIA, USP42, H2BC11, USP11, JSD1, PSME2, MDM2, PSMB9, IKBKG, H2AC18, TRAF6, SMAD7, PTEN, BIRC3, TRAF3, H2BC21</a:t>
            </a:r>
            <a:endParaRPr b="1" i="1" sz="900"/>
          </a:p>
          <a:p>
            <a:pPr indent="-285750" lvl="0" marL="457200" rtl="0" algn="l">
              <a:lnSpc>
                <a:spcPct val="105000"/>
              </a:lnSpc>
              <a:spcBef>
                <a:spcPts val="0"/>
              </a:spcBef>
              <a:spcAft>
                <a:spcPts val="0"/>
              </a:spcAft>
              <a:buSzPts val="900"/>
              <a:buChar char="●"/>
            </a:pPr>
            <a:r>
              <a:rPr i="1" lang="es" sz="900">
                <a:solidFill>
                  <a:srgbClr val="000000"/>
                </a:solidFill>
              </a:rPr>
              <a:t>Protein ubiquitination:</a:t>
            </a:r>
            <a:r>
              <a:rPr i="1" lang="es" sz="900"/>
              <a:t> </a:t>
            </a:r>
            <a:r>
              <a:rPr b="1" i="1" lang="es" sz="900"/>
              <a:t>UBC, H2BC15, H2BC11, PEX13, UBE2A, UBE2Z, HLA-A, H2BC3, SELENOS</a:t>
            </a:r>
            <a:endParaRPr b="1" i="1" sz="900"/>
          </a:p>
          <a:p>
            <a:pPr indent="-285750" lvl="0" marL="457200" rtl="0" algn="l">
              <a:lnSpc>
                <a:spcPct val="105000"/>
              </a:lnSpc>
              <a:spcBef>
                <a:spcPts val="0"/>
              </a:spcBef>
              <a:spcAft>
                <a:spcPts val="0"/>
              </a:spcAft>
              <a:buSzPts val="900"/>
              <a:buChar char="●"/>
            </a:pPr>
            <a:r>
              <a:rPr i="1" lang="es" sz="900">
                <a:solidFill>
                  <a:srgbClr val="000000"/>
                </a:solidFill>
              </a:rPr>
              <a:t>RAB geranylgeranylation</a:t>
            </a:r>
            <a:r>
              <a:rPr i="1" lang="es" sz="900"/>
              <a:t>: </a:t>
            </a:r>
            <a:r>
              <a:rPr b="1" i="1" lang="es" sz="900"/>
              <a:t>RAB29, RAB12, RAB43, RAB23, RAB30</a:t>
            </a:r>
            <a:endParaRPr b="1" i="1" sz="900"/>
          </a:p>
          <a:p>
            <a:pPr indent="-285750" lvl="0" marL="457200" rtl="0" algn="l">
              <a:lnSpc>
                <a:spcPct val="105000"/>
              </a:lnSpc>
              <a:spcBef>
                <a:spcPts val="0"/>
              </a:spcBef>
              <a:spcAft>
                <a:spcPts val="0"/>
              </a:spcAft>
              <a:buSzPts val="900"/>
              <a:buChar char="●"/>
            </a:pPr>
            <a:r>
              <a:rPr i="1" lang="es" sz="900">
                <a:solidFill>
                  <a:srgbClr val="000000"/>
                </a:solidFill>
              </a:rPr>
              <a:t>Glycosaminoglycan metabolism</a:t>
            </a:r>
            <a:r>
              <a:rPr i="1" lang="es" sz="900"/>
              <a:t>: </a:t>
            </a:r>
            <a:r>
              <a:rPr b="1" i="1" lang="es" sz="900"/>
              <a:t>ST3GAL4, FMOD, AGRN, CHPF, GPC4, B4GALT6, HS3ST3B1, ST3GAL1, SDC4, XYLT2</a:t>
            </a:r>
            <a:endParaRPr b="1" i="1" sz="900"/>
          </a:p>
          <a:p>
            <a:pPr indent="-285750" lvl="0" marL="457200" rtl="0" algn="l">
              <a:lnSpc>
                <a:spcPct val="105000"/>
              </a:lnSpc>
              <a:spcBef>
                <a:spcPts val="0"/>
              </a:spcBef>
              <a:spcAft>
                <a:spcPts val="0"/>
              </a:spcAft>
              <a:buSzPts val="900"/>
              <a:buChar char="●"/>
            </a:pPr>
            <a:r>
              <a:rPr i="1" lang="es" sz="900">
                <a:solidFill>
                  <a:srgbClr val="000000"/>
                </a:solidFill>
              </a:rPr>
              <a:t>Protein methylation</a:t>
            </a:r>
            <a:r>
              <a:rPr i="1" lang="es" sz="900"/>
              <a:t>: </a:t>
            </a:r>
            <a:r>
              <a:rPr b="1" i="1" lang="es" sz="900"/>
              <a:t>EEF1A1</a:t>
            </a:r>
            <a:endParaRPr b="1" i="1" sz="900"/>
          </a:p>
          <a:p>
            <a:pPr indent="-285750" lvl="0" marL="457200" rtl="0" algn="l">
              <a:lnSpc>
                <a:spcPct val="105000"/>
              </a:lnSpc>
              <a:spcBef>
                <a:spcPts val="0"/>
              </a:spcBef>
              <a:spcAft>
                <a:spcPts val="0"/>
              </a:spcAft>
              <a:buSzPts val="900"/>
              <a:buChar char="●"/>
            </a:pPr>
            <a:r>
              <a:rPr i="1" lang="es" sz="900">
                <a:solidFill>
                  <a:srgbClr val="000000"/>
                </a:solidFill>
              </a:rPr>
              <a:t>Neddylation</a:t>
            </a:r>
            <a:r>
              <a:rPr i="1" lang="es" sz="900"/>
              <a:t>: </a:t>
            </a:r>
            <a:r>
              <a:rPr b="1" i="1" lang="es" sz="900"/>
              <a:t>PSMB8, PSMB10, PSMA3, KBTBD8, PSMA6, FBXO32, SOCS3, PSME1, FBXW4, SOCS2, UBC, PSMA2, UBE2F, PSMA4, PSME2, PSMB9, KLHL3, SPSB1, CUL1</a:t>
            </a:r>
            <a:endParaRPr i="1" sz="900"/>
          </a:p>
          <a:p>
            <a:pPr indent="-285750" lvl="0" marL="457200" rtl="0" algn="l">
              <a:lnSpc>
                <a:spcPct val="105000"/>
              </a:lnSpc>
              <a:spcBef>
                <a:spcPts val="0"/>
              </a:spcBef>
              <a:spcAft>
                <a:spcPts val="0"/>
              </a:spcAft>
              <a:buSzPts val="900"/>
              <a:buChar char="●"/>
            </a:pPr>
            <a:r>
              <a:rPr i="1" lang="es" sz="900">
                <a:solidFill>
                  <a:srgbClr val="000000"/>
                </a:solidFill>
              </a:rPr>
              <a:t>Post-translational protein phosphorylation</a:t>
            </a:r>
            <a:r>
              <a:rPr i="1" lang="es" sz="900"/>
              <a:t>: </a:t>
            </a:r>
            <a:r>
              <a:rPr b="1" i="1" lang="es" sz="900"/>
              <a:t>CP, IL6, APOL1, CKAP4, C4A</a:t>
            </a:r>
            <a:endParaRPr b="1" i="1" sz="900"/>
          </a:p>
          <a:p>
            <a:pPr indent="-285750" lvl="0" marL="457200" rtl="0" algn="l">
              <a:lnSpc>
                <a:spcPct val="105000"/>
              </a:lnSpc>
              <a:spcBef>
                <a:spcPts val="0"/>
              </a:spcBef>
              <a:spcAft>
                <a:spcPts val="0"/>
              </a:spcAft>
              <a:buSzPts val="900"/>
              <a:buChar char="●"/>
            </a:pPr>
            <a:r>
              <a:rPr i="1" lang="es" sz="900">
                <a:solidFill>
                  <a:srgbClr val="000000"/>
                </a:solidFill>
              </a:rPr>
              <a:t>Peptide hormone metabolism</a:t>
            </a:r>
            <a:r>
              <a:rPr i="1" lang="es" sz="900"/>
              <a:t>: </a:t>
            </a:r>
            <a:r>
              <a:rPr b="1" i="1" lang="es" sz="900"/>
              <a:t>CTNNB1, INHBA, CES1</a:t>
            </a:r>
            <a:endParaRPr b="1" i="1" sz="900"/>
          </a:p>
          <a:p>
            <a:pPr indent="-285750" lvl="0" marL="457200" rtl="0" algn="l">
              <a:lnSpc>
                <a:spcPct val="105000"/>
              </a:lnSpc>
              <a:spcBef>
                <a:spcPts val="0"/>
              </a:spcBef>
              <a:spcAft>
                <a:spcPts val="0"/>
              </a:spcAft>
              <a:buSzPts val="900"/>
              <a:buChar char="●"/>
            </a:pPr>
            <a:r>
              <a:rPr i="1" lang="es" sz="900">
                <a:solidFill>
                  <a:srgbClr val="000000"/>
                </a:solidFill>
              </a:rPr>
              <a:t>Regulation of (IGF) transport and uptake by Insulin-like Growth Factor Binding Proteins (IGFBPs)</a:t>
            </a:r>
            <a:r>
              <a:rPr i="1" lang="es" sz="900"/>
              <a:t>: </a:t>
            </a:r>
            <a:r>
              <a:rPr b="1" i="1" lang="es" sz="900"/>
              <a:t>CP, IL6, APOL1, CKAP4, C4A</a:t>
            </a:r>
            <a:endParaRPr b="1" i="1" sz="900"/>
          </a:p>
          <a:p>
            <a:pPr indent="-285750" lvl="0" marL="457200" rtl="0" algn="l">
              <a:lnSpc>
                <a:spcPct val="105000"/>
              </a:lnSpc>
              <a:spcBef>
                <a:spcPts val="0"/>
              </a:spcBef>
              <a:spcAft>
                <a:spcPts val="0"/>
              </a:spcAft>
              <a:buSzPts val="900"/>
              <a:buChar char="●"/>
            </a:pPr>
            <a:r>
              <a:rPr i="1" lang="es" sz="900">
                <a:solidFill>
                  <a:srgbClr val="000000"/>
                </a:solidFill>
                <a:highlight>
                  <a:schemeClr val="lt1"/>
                </a:highlight>
              </a:rPr>
              <a:t>UPR</a:t>
            </a:r>
            <a:r>
              <a:rPr i="1" lang="es" sz="900"/>
              <a:t>: </a:t>
            </a:r>
            <a:r>
              <a:rPr b="1" i="1" lang="es" sz="900"/>
              <a:t>XBP1, ATF3, CXCL8, CREBRF</a:t>
            </a:r>
            <a:endParaRPr b="1" i="1" sz="900"/>
          </a:p>
          <a:p>
            <a:pPr indent="-285750" lvl="0" marL="457200" rtl="0" algn="l">
              <a:lnSpc>
                <a:spcPct val="105000"/>
              </a:lnSpc>
              <a:spcBef>
                <a:spcPts val="0"/>
              </a:spcBef>
              <a:spcAft>
                <a:spcPts val="0"/>
              </a:spcAft>
              <a:buSzPts val="900"/>
              <a:buChar char="●"/>
            </a:pPr>
            <a:r>
              <a:rPr i="1" lang="es" sz="900">
                <a:solidFill>
                  <a:srgbClr val="000000"/>
                </a:solidFill>
              </a:rPr>
              <a:t>Protein repair</a:t>
            </a:r>
            <a:r>
              <a:rPr i="1" lang="es" sz="900"/>
              <a:t>: </a:t>
            </a:r>
            <a:r>
              <a:rPr b="1" i="1" lang="es" sz="900"/>
              <a:t>MSRB1</a:t>
            </a:r>
            <a:endParaRPr b="1" i="1" sz="900"/>
          </a:p>
          <a:p>
            <a:pPr indent="-285750" lvl="0" marL="457200" rtl="0" algn="l">
              <a:lnSpc>
                <a:spcPct val="105000"/>
              </a:lnSpc>
              <a:spcBef>
                <a:spcPts val="0"/>
              </a:spcBef>
              <a:spcAft>
                <a:spcPts val="0"/>
              </a:spcAft>
              <a:buSzPts val="900"/>
              <a:buChar char="●"/>
            </a:pPr>
            <a:r>
              <a:rPr i="1" lang="es" sz="900">
                <a:solidFill>
                  <a:srgbClr val="000000"/>
                </a:solidFill>
              </a:rPr>
              <a:t>Surfactant metabolism</a:t>
            </a:r>
            <a:r>
              <a:rPr i="1" lang="es" sz="900">
                <a:highlight>
                  <a:schemeClr val="lt1"/>
                </a:highlight>
              </a:rPr>
              <a:t>:</a:t>
            </a:r>
            <a:r>
              <a:rPr i="1" lang="es" sz="900"/>
              <a:t> </a:t>
            </a:r>
            <a:r>
              <a:rPr b="1" i="1" lang="es" sz="900">
                <a:highlight>
                  <a:srgbClr val="FCE5CD"/>
                </a:highlight>
              </a:rPr>
              <a:t>GATA6</a:t>
            </a:r>
            <a:r>
              <a:rPr b="1" i="1" lang="es" sz="900"/>
              <a:t>, ADORA2A, CKAP4</a:t>
            </a:r>
            <a:endParaRPr i="1" sz="900"/>
          </a:p>
          <a:p>
            <a:pPr indent="-285750" lvl="0" marL="457200" rtl="0" algn="l">
              <a:lnSpc>
                <a:spcPct val="105000"/>
              </a:lnSpc>
              <a:spcBef>
                <a:spcPts val="0"/>
              </a:spcBef>
              <a:spcAft>
                <a:spcPts val="0"/>
              </a:spcAft>
              <a:buSzPts val="900"/>
              <a:buChar char="●"/>
            </a:pPr>
            <a:r>
              <a:rPr i="1" lang="es" sz="900">
                <a:solidFill>
                  <a:srgbClr val="000000"/>
                </a:solidFill>
              </a:rPr>
              <a:t>mRNA Capping</a:t>
            </a:r>
            <a:r>
              <a:rPr i="1" lang="es" sz="900">
                <a:highlight>
                  <a:schemeClr val="lt1"/>
                </a:highlight>
              </a:rPr>
              <a:t>:</a:t>
            </a:r>
            <a:r>
              <a:rPr i="1" lang="es" sz="900"/>
              <a:t> </a:t>
            </a:r>
            <a:r>
              <a:rPr b="1" i="1" lang="es" sz="900"/>
              <a:t>CDK7, MNAT1</a:t>
            </a:r>
            <a:endParaRPr b="1" i="1" sz="900"/>
          </a:p>
          <a:p>
            <a:pPr indent="-285750" lvl="0" marL="457200" rtl="0" algn="l">
              <a:lnSpc>
                <a:spcPct val="105000"/>
              </a:lnSpc>
              <a:spcBef>
                <a:spcPts val="0"/>
              </a:spcBef>
              <a:spcAft>
                <a:spcPts val="0"/>
              </a:spcAft>
              <a:buSzPts val="900"/>
              <a:buChar char="●"/>
            </a:pPr>
            <a:r>
              <a:rPr i="1" lang="es" sz="900">
                <a:solidFill>
                  <a:srgbClr val="000000"/>
                </a:solidFill>
              </a:rPr>
              <a:t>Processing of Capped Intron-Containing Pre-mRNA: </a:t>
            </a:r>
            <a:r>
              <a:rPr b="1" i="1" lang="es" sz="900">
                <a:solidFill>
                  <a:srgbClr val="000000"/>
                </a:solidFill>
              </a:rPr>
              <a:t>NUP50, CSTF3, NUP98, NUP62, WDR33, BCAS2, SMNDC1, PRPF3, GPKOW,</a:t>
            </a:r>
            <a:endParaRPr b="1" i="1" sz="900">
              <a:solidFill>
                <a:srgbClr val="000000"/>
              </a:solidFill>
            </a:endParaRPr>
          </a:p>
          <a:p>
            <a:pPr indent="0" lvl="0" marL="457200" rtl="0" algn="l">
              <a:lnSpc>
                <a:spcPct val="105000"/>
              </a:lnSpc>
              <a:spcBef>
                <a:spcPts val="0"/>
              </a:spcBef>
              <a:spcAft>
                <a:spcPts val="0"/>
              </a:spcAft>
              <a:buNone/>
            </a:pPr>
            <a:r>
              <a:rPr b="1" i="1" lang="es" sz="900">
                <a:solidFill>
                  <a:srgbClr val="000000"/>
                </a:solidFill>
              </a:rPr>
              <a:t>SARNP</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Processing of Capped Intronless Pre-mRNA: </a:t>
            </a:r>
            <a:r>
              <a:rPr b="1" i="1" lang="es" sz="900">
                <a:solidFill>
                  <a:srgbClr val="000000"/>
                </a:solidFill>
              </a:rPr>
              <a:t>CSTF3, WDR33</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mRNA Editing: </a:t>
            </a:r>
            <a:r>
              <a:rPr b="1" i="1" lang="es" sz="900">
                <a:solidFill>
                  <a:srgbClr val="000000"/>
                </a:solidFill>
              </a:rPr>
              <a:t>ADARB1</a:t>
            </a:r>
            <a:endParaRPr b="1" i="1" sz="900">
              <a:solidFill>
                <a:srgbClr val="000000"/>
              </a:solidFill>
            </a:endParaRPr>
          </a:p>
          <a:p>
            <a:pPr indent="-279400" lvl="0" marL="457200" rtl="0" algn="l">
              <a:lnSpc>
                <a:spcPct val="105000"/>
              </a:lnSpc>
              <a:spcBef>
                <a:spcPts val="0"/>
              </a:spcBef>
              <a:spcAft>
                <a:spcPts val="0"/>
              </a:spcAft>
              <a:buClr>
                <a:srgbClr val="000000"/>
              </a:buClr>
              <a:buSzPts val="800"/>
              <a:buChar char="●"/>
            </a:pPr>
            <a:r>
              <a:rPr i="1" lang="es" sz="900">
                <a:solidFill>
                  <a:srgbClr val="000000"/>
                </a:solidFill>
              </a:rPr>
              <a:t>Regulation of mRNA stability by proteins that bind AU-rich elements: </a:t>
            </a:r>
            <a:r>
              <a:rPr b="1" i="1" lang="es" sz="900">
                <a:solidFill>
                  <a:srgbClr val="000000"/>
                </a:solidFill>
              </a:rPr>
              <a:t>UBC, PSMA2, PSMB8, PSMB10, PSMA3,</a:t>
            </a:r>
            <a:endParaRPr b="1" i="1" sz="900">
              <a:solidFill>
                <a:srgbClr val="000000"/>
              </a:solidFill>
            </a:endParaRPr>
          </a:p>
          <a:p>
            <a:pPr indent="0" lvl="0" marL="457200" rtl="0" algn="l">
              <a:lnSpc>
                <a:spcPct val="105000"/>
              </a:lnSpc>
              <a:spcBef>
                <a:spcPts val="0"/>
              </a:spcBef>
              <a:spcAft>
                <a:spcPts val="0"/>
              </a:spcAft>
              <a:buNone/>
            </a:pPr>
            <a:r>
              <a:rPr b="1" i="1" lang="es" sz="900">
                <a:solidFill>
                  <a:srgbClr val="000000"/>
                </a:solidFill>
              </a:rPr>
              <a:t>PSME2, PSMA6, PSMA4, PSME1, PSMB9</a:t>
            </a:r>
            <a:endParaRPr b="1" i="1" sz="800">
              <a:solidFill>
                <a:srgbClr val="000000"/>
              </a:solidFill>
            </a:endParaRPr>
          </a:p>
          <a:p>
            <a:pPr indent="0" lvl="0" marL="457200" rtl="0" algn="l">
              <a:lnSpc>
                <a:spcPct val="105000"/>
              </a:lnSpc>
              <a:spcBef>
                <a:spcPts val="0"/>
              </a:spcBef>
              <a:spcAft>
                <a:spcPts val="0"/>
              </a:spcAft>
              <a:buNone/>
            </a:pPr>
            <a:r>
              <a:t/>
            </a:r>
            <a:endParaRPr sz="900">
              <a:latin typeface="Montserrat"/>
              <a:ea typeface="Montserrat"/>
              <a:cs typeface="Montserrat"/>
              <a:sym typeface="Montserrat"/>
            </a:endParaRPr>
          </a:p>
          <a:p>
            <a:pPr indent="0" lvl="0" marL="0" rtl="0" algn="l">
              <a:lnSpc>
                <a:spcPct val="105000"/>
              </a:lnSpc>
              <a:spcBef>
                <a:spcPts val="0"/>
              </a:spcBef>
              <a:spcAft>
                <a:spcPts val="1200"/>
              </a:spcAft>
              <a:buSzPts val="523"/>
              <a:buNone/>
            </a:pPr>
            <a:r>
              <a:t/>
            </a:r>
            <a:endParaRPr sz="855"/>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7"/>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409" name="Google Shape;409;p47"/>
          <p:cNvSpPr txBox="1"/>
          <p:nvPr>
            <p:ph idx="1" type="body"/>
          </p:nvPr>
        </p:nvSpPr>
        <p:spPr>
          <a:xfrm>
            <a:off x="109950" y="1017800"/>
            <a:ext cx="8924100" cy="3832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s" sz="900">
                <a:latin typeface="Montserrat"/>
                <a:ea typeface="Montserrat"/>
                <a:cs typeface="Montserrat"/>
                <a:sym typeface="Montserrat"/>
              </a:rPr>
              <a:t>Genes sobreexpresados en células M1 masculinas (lfc &gt; 0.58), y que se encuentran en las listas deseadas:</a:t>
            </a:r>
            <a:endParaRPr sz="900">
              <a:latin typeface="Montserrat"/>
              <a:ea typeface="Montserrat"/>
              <a:cs typeface="Montserrat"/>
              <a:sym typeface="Montserrat"/>
            </a:endParaRPr>
          </a:p>
          <a:p>
            <a:pPr indent="-285750" lvl="0" marL="457200" rtl="0" algn="l">
              <a:lnSpc>
                <a:spcPct val="105000"/>
              </a:lnSpc>
              <a:spcBef>
                <a:spcPts val="1200"/>
              </a:spcBef>
              <a:spcAft>
                <a:spcPts val="0"/>
              </a:spcAft>
              <a:buSzPts val="900"/>
              <a:buChar char="●"/>
            </a:pPr>
            <a:r>
              <a:rPr i="1" lang="es" sz="900">
                <a:solidFill>
                  <a:srgbClr val="000000"/>
                </a:solidFill>
              </a:rPr>
              <a:t>Deadenylation-dependent mRNA decay</a:t>
            </a:r>
            <a:r>
              <a:rPr i="1" lang="es" sz="900"/>
              <a:t>: </a:t>
            </a:r>
            <a:r>
              <a:rPr b="1" i="1" lang="es" sz="900"/>
              <a:t>DDX6, PATL1</a:t>
            </a:r>
            <a:endParaRPr b="1" i="1" sz="900"/>
          </a:p>
          <a:p>
            <a:pPr indent="-285750" lvl="0" marL="457200" rtl="0" algn="l">
              <a:lnSpc>
                <a:spcPct val="105000"/>
              </a:lnSpc>
              <a:spcBef>
                <a:spcPts val="0"/>
              </a:spcBef>
              <a:spcAft>
                <a:spcPts val="0"/>
              </a:spcAft>
              <a:buSzPts val="900"/>
              <a:buChar char="●"/>
            </a:pPr>
            <a:r>
              <a:rPr i="1" lang="es" sz="900">
                <a:solidFill>
                  <a:srgbClr val="000000"/>
                </a:solidFill>
              </a:rPr>
              <a:t>Nonsense-Mediated Decay (NMD)</a:t>
            </a:r>
            <a:r>
              <a:rPr i="1" lang="es" sz="900"/>
              <a:t>: </a:t>
            </a:r>
            <a:r>
              <a:rPr b="1" i="1" lang="es" sz="900"/>
              <a:t>RPS27L, PPP2R2A, RPS19</a:t>
            </a:r>
            <a:endParaRPr b="1" i="1" sz="900"/>
          </a:p>
          <a:p>
            <a:pPr indent="-285750" lvl="0" marL="457200" rtl="0" algn="l">
              <a:lnSpc>
                <a:spcPct val="105000"/>
              </a:lnSpc>
              <a:spcBef>
                <a:spcPts val="0"/>
              </a:spcBef>
              <a:spcAft>
                <a:spcPts val="0"/>
              </a:spcAft>
              <a:buSzPts val="900"/>
              <a:buChar char="●"/>
            </a:pPr>
            <a:r>
              <a:rPr i="1" lang="es" sz="900">
                <a:solidFill>
                  <a:srgbClr val="000000"/>
                </a:solidFill>
              </a:rPr>
              <a:t>rRNA processing in the nucleus and cytosol:</a:t>
            </a:r>
            <a:r>
              <a:rPr i="1" lang="es" sz="900"/>
              <a:t> </a:t>
            </a:r>
            <a:r>
              <a:rPr b="1" i="1" lang="es" sz="900"/>
              <a:t>RPS27L, DDX52, RPS19, KRR1</a:t>
            </a:r>
            <a:endParaRPr b="1" i="1" sz="900"/>
          </a:p>
          <a:p>
            <a:pPr indent="-285750" lvl="0" marL="457200" rtl="0" algn="l">
              <a:lnSpc>
                <a:spcPct val="105000"/>
              </a:lnSpc>
              <a:spcBef>
                <a:spcPts val="0"/>
              </a:spcBef>
              <a:spcAft>
                <a:spcPts val="0"/>
              </a:spcAft>
              <a:buSzPts val="900"/>
              <a:buChar char="●"/>
            </a:pPr>
            <a:r>
              <a:rPr i="1" lang="es" sz="900">
                <a:solidFill>
                  <a:srgbClr val="000000"/>
                </a:solidFill>
              </a:rPr>
              <a:t>tRNA processing in the nucleus</a:t>
            </a:r>
            <a:r>
              <a:rPr i="1" lang="es" sz="900"/>
              <a:t>: </a:t>
            </a:r>
            <a:r>
              <a:rPr b="1" i="1" lang="es" sz="900"/>
              <a:t>NUP50, NUP98, NUP62, RTCB, </a:t>
            </a:r>
            <a:endParaRPr b="1" i="1" sz="900"/>
          </a:p>
          <a:p>
            <a:pPr indent="-285750" lvl="0" marL="457200" rtl="0" algn="l">
              <a:lnSpc>
                <a:spcPct val="105000"/>
              </a:lnSpc>
              <a:spcBef>
                <a:spcPts val="0"/>
              </a:spcBef>
              <a:spcAft>
                <a:spcPts val="0"/>
              </a:spcAft>
              <a:buSzPts val="900"/>
              <a:buChar char="●"/>
            </a:pPr>
            <a:r>
              <a:rPr i="1" lang="es" sz="900">
                <a:solidFill>
                  <a:srgbClr val="000000"/>
                </a:solidFill>
              </a:rPr>
              <a:t>tRNA modification in the nucleus and cytosol</a:t>
            </a:r>
            <a:r>
              <a:rPr i="1" lang="es" sz="900"/>
              <a:t>: </a:t>
            </a:r>
            <a:r>
              <a:rPr b="1" i="1" lang="es" sz="900"/>
              <a:t>TYW5</a:t>
            </a:r>
            <a:endParaRPr b="1" i="1" sz="900"/>
          </a:p>
          <a:p>
            <a:pPr indent="-285750" lvl="0" marL="457200" rtl="0" algn="l">
              <a:lnSpc>
                <a:spcPct val="105000"/>
              </a:lnSpc>
              <a:spcBef>
                <a:spcPts val="0"/>
              </a:spcBef>
              <a:spcAft>
                <a:spcPts val="0"/>
              </a:spcAft>
              <a:buSzPts val="900"/>
              <a:buChar char="●"/>
            </a:pPr>
            <a:r>
              <a:rPr i="1" lang="es" sz="900">
                <a:solidFill>
                  <a:srgbClr val="000000"/>
                </a:solidFill>
              </a:rPr>
              <a:t>Metabolism of non-coding RNA</a:t>
            </a:r>
            <a:r>
              <a:rPr i="1" lang="es" sz="900"/>
              <a:t>: </a:t>
            </a:r>
            <a:r>
              <a:rPr b="1" i="1" lang="es" sz="900"/>
              <a:t>NUP50, NUP98, NUP62</a:t>
            </a:r>
            <a:endParaRPr i="1" sz="900"/>
          </a:p>
          <a:p>
            <a:pPr indent="-285750" lvl="0" marL="457200" rtl="0" algn="l">
              <a:lnSpc>
                <a:spcPct val="105000"/>
              </a:lnSpc>
              <a:spcBef>
                <a:spcPts val="0"/>
              </a:spcBef>
              <a:spcAft>
                <a:spcPts val="0"/>
              </a:spcAft>
              <a:buSzPts val="900"/>
              <a:buChar char="●"/>
            </a:pPr>
            <a:r>
              <a:rPr i="1" lang="es" sz="900">
                <a:solidFill>
                  <a:srgbClr val="000000"/>
                </a:solidFill>
              </a:rPr>
              <a:t>PRC2 methylates histones and DNA</a:t>
            </a:r>
            <a:r>
              <a:rPr i="1" lang="es" sz="900"/>
              <a:t>: </a:t>
            </a:r>
            <a:r>
              <a:rPr b="1" i="1" lang="es" sz="900"/>
              <a:t>H2BC15, H2BC11, H2BC3, H2BC21, H2AC18</a:t>
            </a:r>
            <a:endParaRPr b="1" i="1" sz="900"/>
          </a:p>
          <a:p>
            <a:pPr indent="-285750" lvl="0" marL="457200" rtl="0" algn="l">
              <a:lnSpc>
                <a:spcPct val="105000"/>
              </a:lnSpc>
              <a:spcBef>
                <a:spcPts val="0"/>
              </a:spcBef>
              <a:spcAft>
                <a:spcPts val="0"/>
              </a:spcAft>
              <a:buSzPts val="900"/>
              <a:buChar char="●"/>
            </a:pPr>
            <a:r>
              <a:rPr i="1" lang="es" sz="900">
                <a:solidFill>
                  <a:srgbClr val="000000"/>
                </a:solidFill>
              </a:rPr>
              <a:t>Positive epigenetic regulation of rRNA expression</a:t>
            </a:r>
            <a:r>
              <a:rPr i="1" lang="es" sz="900"/>
              <a:t>: </a:t>
            </a:r>
            <a:r>
              <a:rPr b="1" i="1" lang="es" sz="900"/>
              <a:t>H2BC15, H2BC11, H2BC3, H2BC21, H2AC18</a:t>
            </a:r>
            <a:endParaRPr b="1" i="1" sz="900"/>
          </a:p>
          <a:p>
            <a:pPr indent="-285750" lvl="0" marL="457200" rtl="0" algn="l">
              <a:lnSpc>
                <a:spcPct val="105000"/>
              </a:lnSpc>
              <a:spcBef>
                <a:spcPts val="0"/>
              </a:spcBef>
              <a:spcAft>
                <a:spcPts val="0"/>
              </a:spcAft>
              <a:buSzPts val="900"/>
              <a:buChar char="●"/>
            </a:pPr>
            <a:r>
              <a:rPr i="1" lang="es" sz="900">
                <a:solidFill>
                  <a:srgbClr val="000000"/>
                </a:solidFill>
              </a:rPr>
              <a:t>Negative epigenetic regulation of rRNA expression</a:t>
            </a:r>
            <a:r>
              <a:rPr i="1" lang="es" sz="900"/>
              <a:t>: </a:t>
            </a:r>
            <a:r>
              <a:rPr b="1" i="1" lang="es" sz="900"/>
              <a:t>ARID4B, H2BC15, H2BC11, MNAT1, H2BC3, CDK7, H2BC21, H2AC18</a:t>
            </a:r>
            <a:endParaRPr b="1" i="1" sz="900"/>
          </a:p>
          <a:p>
            <a:pPr indent="-285750" lvl="0" marL="457200" rtl="0" algn="l">
              <a:lnSpc>
                <a:spcPct val="105000"/>
              </a:lnSpc>
              <a:spcBef>
                <a:spcPts val="0"/>
              </a:spcBef>
              <a:spcAft>
                <a:spcPts val="0"/>
              </a:spcAft>
              <a:buSzPts val="900"/>
              <a:buChar char="●"/>
            </a:pPr>
            <a:r>
              <a:rPr i="1" lang="es" sz="900">
                <a:solidFill>
                  <a:srgbClr val="000000"/>
                </a:solidFill>
              </a:rPr>
              <a:t>DNA methylation</a:t>
            </a:r>
            <a:r>
              <a:rPr i="1" lang="es" sz="900"/>
              <a:t>: </a:t>
            </a:r>
            <a:r>
              <a:rPr b="1" i="1" lang="es" sz="900"/>
              <a:t>H2BC15, H2BC11, H2BC3, H2BC21, H2AC18</a:t>
            </a:r>
            <a:endParaRPr b="1" i="1" sz="900"/>
          </a:p>
          <a:p>
            <a:pPr indent="-285750" lvl="0" marL="457200" rtl="0" algn="l">
              <a:lnSpc>
                <a:spcPct val="105000"/>
              </a:lnSpc>
              <a:spcBef>
                <a:spcPts val="0"/>
              </a:spcBef>
              <a:spcAft>
                <a:spcPts val="0"/>
              </a:spcAft>
              <a:buSzPts val="900"/>
              <a:buChar char="●"/>
            </a:pPr>
            <a:r>
              <a:rPr i="1" lang="es" sz="900">
                <a:solidFill>
                  <a:srgbClr val="000000"/>
                </a:solidFill>
              </a:rPr>
              <a:t>HATs acetylate histones</a:t>
            </a:r>
            <a:r>
              <a:rPr i="1" lang="es" sz="900"/>
              <a:t>: </a:t>
            </a:r>
            <a:r>
              <a:rPr b="1" i="1" lang="es" sz="900"/>
              <a:t>H2BC15, H2BC11, ZZZ3, NCOA2, ATXN7, CREBBP, JADE3, H2BC3, H2BC21, H2AC18</a:t>
            </a:r>
            <a:endParaRPr b="1" i="1" sz="900"/>
          </a:p>
          <a:p>
            <a:pPr indent="-285750" lvl="0" marL="457200" rtl="0" algn="l">
              <a:lnSpc>
                <a:spcPct val="105000"/>
              </a:lnSpc>
              <a:spcBef>
                <a:spcPts val="0"/>
              </a:spcBef>
              <a:spcAft>
                <a:spcPts val="0"/>
              </a:spcAft>
              <a:buSzPts val="900"/>
              <a:buChar char="●"/>
            </a:pPr>
            <a:r>
              <a:rPr i="1" lang="es" sz="900">
                <a:solidFill>
                  <a:srgbClr val="000000"/>
                </a:solidFill>
              </a:rPr>
              <a:t>HDACs deacetylate histones</a:t>
            </a:r>
            <a:r>
              <a:rPr i="1" lang="es" sz="900">
                <a:highlight>
                  <a:schemeClr val="lt1"/>
                </a:highlight>
              </a:rPr>
              <a:t>:</a:t>
            </a:r>
            <a:r>
              <a:rPr i="1" lang="es" sz="900"/>
              <a:t> </a:t>
            </a:r>
            <a:r>
              <a:rPr b="1" i="1" lang="es" sz="900"/>
              <a:t>TBL1X, ARID4B, H2BC15, H2BC11, H2BC3, H2BC21, H2AC18, KDM6B, PHF8, KDM2A, ARID5B</a:t>
            </a:r>
            <a:endParaRPr b="1" i="1" sz="900">
              <a:highlight>
                <a:schemeClr val="lt1"/>
              </a:highlight>
            </a:endParaRPr>
          </a:p>
          <a:p>
            <a:pPr indent="-285750" lvl="0" marL="457200" rtl="0" algn="l">
              <a:lnSpc>
                <a:spcPct val="105000"/>
              </a:lnSpc>
              <a:spcBef>
                <a:spcPts val="0"/>
              </a:spcBef>
              <a:spcAft>
                <a:spcPts val="0"/>
              </a:spcAft>
              <a:buSzPts val="900"/>
              <a:buChar char="●"/>
            </a:pPr>
            <a:r>
              <a:rPr i="1" lang="es" sz="900">
                <a:solidFill>
                  <a:srgbClr val="000000"/>
                </a:solidFill>
              </a:rPr>
              <a:t>PKMTs methylate histone lysine</a:t>
            </a:r>
            <a:r>
              <a:rPr i="1" lang="es" sz="900">
                <a:highlight>
                  <a:schemeClr val="lt1"/>
                </a:highlight>
              </a:rPr>
              <a:t>:</a:t>
            </a:r>
            <a:r>
              <a:rPr i="1" lang="es" sz="900"/>
              <a:t> </a:t>
            </a:r>
            <a:r>
              <a:rPr b="1" i="1" lang="es" sz="900"/>
              <a:t>RELA, DOT1L, NFKB2, NFKB1</a:t>
            </a:r>
            <a:endParaRPr b="1" i="1" sz="900"/>
          </a:p>
          <a:p>
            <a:pPr indent="-285750" lvl="0" marL="457200" rtl="0" algn="l">
              <a:lnSpc>
                <a:spcPct val="105000"/>
              </a:lnSpc>
              <a:spcBef>
                <a:spcPts val="0"/>
              </a:spcBef>
              <a:spcAft>
                <a:spcPts val="0"/>
              </a:spcAft>
              <a:buSzPts val="900"/>
              <a:buChar char="●"/>
            </a:pPr>
            <a:r>
              <a:rPr i="1" lang="es" sz="900">
                <a:solidFill>
                  <a:srgbClr val="000000"/>
                </a:solidFill>
              </a:rPr>
              <a:t>RMTs methylate histone arginine</a:t>
            </a:r>
            <a:r>
              <a:rPr i="1" lang="es" sz="900">
                <a:solidFill>
                  <a:srgbClr val="000000"/>
                </a:solidFill>
              </a:rPr>
              <a:t>: </a:t>
            </a:r>
            <a:r>
              <a:rPr b="1" i="1" lang="es" sz="900">
                <a:solidFill>
                  <a:srgbClr val="000000"/>
                </a:solidFill>
              </a:rPr>
              <a:t>JAK2, H2AC18</a:t>
            </a:r>
            <a:endParaRPr b="1" i="1" sz="900">
              <a:solidFill>
                <a:srgbClr val="000000"/>
              </a:solidFill>
            </a:endParaRPr>
          </a:p>
          <a:p>
            <a:pPr indent="-285750" lvl="0" marL="457200" rtl="0" algn="l">
              <a:lnSpc>
                <a:spcPct val="105000"/>
              </a:lnSpc>
              <a:spcBef>
                <a:spcPts val="0"/>
              </a:spcBef>
              <a:spcAft>
                <a:spcPts val="0"/>
              </a:spcAft>
              <a:buSzPts val="900"/>
              <a:buChar char="●"/>
            </a:pPr>
            <a:r>
              <a:rPr i="1" lang="es" sz="900">
                <a:solidFill>
                  <a:srgbClr val="000000"/>
                </a:solidFill>
              </a:rPr>
              <a:t>Cellular response to hypoxia</a:t>
            </a:r>
            <a:r>
              <a:rPr i="1" lang="es" sz="900">
                <a:solidFill>
                  <a:srgbClr val="000000"/>
                </a:solidFill>
              </a:rPr>
              <a:t>: </a:t>
            </a:r>
            <a:r>
              <a:rPr b="1" i="1" lang="es" sz="900">
                <a:solidFill>
                  <a:srgbClr val="000000"/>
                </a:solidFill>
              </a:rPr>
              <a:t>UBC, PSMA2, PSMB8, CREBBP, PSMB10, PSMA3, PSME2, PSMA6, PSMA4, PSME1, PSMB9, VEGFA</a:t>
            </a:r>
            <a:endParaRPr b="1" i="1" sz="900">
              <a:solidFill>
                <a:srgbClr val="000000"/>
              </a:solidFill>
            </a:endParaRPr>
          </a:p>
          <a:p>
            <a:pPr indent="-285750" lvl="0" marL="457200" rtl="0" algn="l">
              <a:lnSpc>
                <a:spcPct val="105000"/>
              </a:lnSpc>
              <a:spcBef>
                <a:spcPts val="0"/>
              </a:spcBef>
              <a:spcAft>
                <a:spcPts val="0"/>
              </a:spcAft>
              <a:buClr>
                <a:srgbClr val="000000"/>
              </a:buClr>
              <a:buSzPts val="900"/>
              <a:buChar char="●"/>
            </a:pPr>
            <a:r>
              <a:rPr i="1" lang="es" sz="900">
                <a:solidFill>
                  <a:srgbClr val="000000"/>
                </a:solidFill>
              </a:rPr>
              <a:t>Detoxification of Reactive Oxygen Species</a:t>
            </a:r>
            <a:r>
              <a:rPr i="1" lang="es" sz="900">
                <a:solidFill>
                  <a:srgbClr val="000000"/>
                </a:solidFill>
              </a:rPr>
              <a:t>: </a:t>
            </a:r>
            <a:r>
              <a:rPr b="1" i="1" lang="es" sz="900">
                <a:solidFill>
                  <a:srgbClr val="000000"/>
                </a:solidFill>
              </a:rPr>
              <a:t>SOD2</a:t>
            </a:r>
            <a:endParaRPr b="1" i="1" sz="900">
              <a:solidFill>
                <a:srgbClr val="000000"/>
              </a:solidFill>
            </a:endParaRPr>
          </a:p>
          <a:p>
            <a:pPr indent="0" lvl="0" marL="0" rtl="0" algn="l">
              <a:lnSpc>
                <a:spcPct val="105000"/>
              </a:lnSpc>
              <a:spcBef>
                <a:spcPts val="0"/>
              </a:spcBef>
              <a:spcAft>
                <a:spcPts val="0"/>
              </a:spcAft>
              <a:buNone/>
            </a:pPr>
            <a:r>
              <a:t/>
            </a:r>
            <a:endParaRPr b="1" i="1" sz="800">
              <a:solidFill>
                <a:srgbClr val="000000"/>
              </a:solidFill>
              <a:latin typeface="Arial"/>
              <a:ea typeface="Arial"/>
              <a:cs typeface="Arial"/>
              <a:sym typeface="Arial"/>
            </a:endParaRPr>
          </a:p>
          <a:p>
            <a:pPr indent="0" lvl="0" marL="457200" rtl="0" algn="l">
              <a:lnSpc>
                <a:spcPct val="105000"/>
              </a:lnSpc>
              <a:spcBef>
                <a:spcPts val="0"/>
              </a:spcBef>
              <a:spcAft>
                <a:spcPts val="0"/>
              </a:spcAft>
              <a:buNone/>
            </a:pPr>
            <a:r>
              <a:t/>
            </a:r>
            <a:endParaRPr sz="900">
              <a:latin typeface="Montserrat"/>
              <a:ea typeface="Montserrat"/>
              <a:cs typeface="Montserrat"/>
              <a:sym typeface="Montserrat"/>
            </a:endParaRPr>
          </a:p>
          <a:p>
            <a:pPr indent="0" lvl="0" marL="0" rtl="0" algn="l">
              <a:lnSpc>
                <a:spcPct val="105000"/>
              </a:lnSpc>
              <a:spcBef>
                <a:spcPts val="0"/>
              </a:spcBef>
              <a:spcAft>
                <a:spcPts val="1200"/>
              </a:spcAft>
              <a:buSzPts val="523"/>
              <a:buNone/>
            </a:pPr>
            <a:r>
              <a:t/>
            </a:r>
            <a:endParaRPr sz="855"/>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8"/>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415" name="Google Shape;415;p48"/>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M2 femeninas (lfc &lt; -0.58), y que se encuentran en las listas deseadas:</a:t>
            </a:r>
            <a:endParaRPr i="1"/>
          </a:p>
          <a:p>
            <a:pPr indent="-288694" lvl="0" marL="457200" rtl="0" algn="l">
              <a:spcBef>
                <a:spcPts val="1200"/>
              </a:spcBef>
              <a:spcAft>
                <a:spcPts val="0"/>
              </a:spcAft>
              <a:buSzPct val="100000"/>
              <a:buChar char="●"/>
            </a:pPr>
            <a:r>
              <a:rPr i="1" lang="es" sz="1992"/>
              <a:t>Interleukin-1 processing: </a:t>
            </a:r>
            <a:r>
              <a:rPr b="1" i="1" lang="es" sz="1992"/>
              <a:t>IL1B</a:t>
            </a:r>
            <a:endParaRPr b="1" i="1" sz="1992"/>
          </a:p>
          <a:p>
            <a:pPr indent="-288694" lvl="0" marL="457200" rtl="0" algn="l">
              <a:spcBef>
                <a:spcPts val="0"/>
              </a:spcBef>
              <a:spcAft>
                <a:spcPts val="0"/>
              </a:spcAft>
              <a:buSzPct val="100000"/>
              <a:buChar char="●"/>
            </a:pPr>
            <a:r>
              <a:rPr i="1" lang="es" sz="1992"/>
              <a:t>Interleukin-1 signaling: </a:t>
            </a:r>
            <a:r>
              <a:rPr b="1" i="1" lang="es" sz="1992"/>
              <a:t>IL1B, IRAK3, MYD88</a:t>
            </a:r>
            <a:endParaRPr b="1" i="1" sz="1992"/>
          </a:p>
          <a:p>
            <a:pPr indent="-288694" lvl="0" marL="457200" rtl="0" algn="l">
              <a:spcBef>
                <a:spcPts val="0"/>
              </a:spcBef>
              <a:spcAft>
                <a:spcPts val="0"/>
              </a:spcAft>
              <a:buSzPct val="100000"/>
              <a:buChar char="●"/>
            </a:pPr>
            <a:r>
              <a:rPr i="1" lang="es" sz="1992"/>
              <a:t>Interleukin-10 signaling: </a:t>
            </a:r>
            <a:r>
              <a:rPr b="1" i="1" lang="es" sz="1992"/>
              <a:t>IL1B, CXCL10, PTGS2, CXCL2, CXCL1, CXCL8</a:t>
            </a:r>
            <a:endParaRPr i="1" sz="1992"/>
          </a:p>
          <a:p>
            <a:pPr indent="-288694" lvl="0" marL="457200" rtl="0" algn="l">
              <a:spcBef>
                <a:spcPts val="0"/>
              </a:spcBef>
              <a:spcAft>
                <a:spcPts val="0"/>
              </a:spcAft>
              <a:buSzPct val="100000"/>
              <a:buChar char="●"/>
            </a:pPr>
            <a:r>
              <a:rPr i="1" lang="es" sz="1992"/>
              <a:t>Unfolded Protein Response (UPR): </a:t>
            </a:r>
            <a:r>
              <a:rPr b="1" i="1" lang="es" sz="1992"/>
              <a:t>CXCL8</a:t>
            </a:r>
            <a:endParaRPr b="1" i="1" sz="1992"/>
          </a:p>
          <a:p>
            <a:pPr indent="-288694" lvl="0" marL="457200" rtl="0" algn="l">
              <a:spcBef>
                <a:spcPts val="0"/>
              </a:spcBef>
              <a:spcAft>
                <a:spcPts val="0"/>
              </a:spcAft>
              <a:buSzPct val="100000"/>
              <a:buChar char="●"/>
            </a:pPr>
            <a:r>
              <a:rPr i="1" lang="es" sz="1992"/>
              <a:t>Cellular Senescence: </a:t>
            </a:r>
            <a:r>
              <a:rPr b="1" i="1" lang="es" sz="1992"/>
              <a:t>CXCL8, ETS2</a:t>
            </a:r>
            <a:endParaRPr b="1" i="1" sz="1992"/>
          </a:p>
          <a:p>
            <a:pPr indent="-288694" lvl="0" marL="457200" rtl="0" algn="l">
              <a:spcBef>
                <a:spcPts val="0"/>
              </a:spcBef>
              <a:spcAft>
                <a:spcPts val="0"/>
              </a:spcAft>
              <a:buSzPct val="100000"/>
              <a:buChar char="●"/>
            </a:pPr>
            <a:r>
              <a:rPr i="1" lang="es" sz="1992">
                <a:solidFill>
                  <a:srgbClr val="000000"/>
                </a:solidFill>
              </a:rPr>
              <a:t>Glycosaminoglycan metabolism: </a:t>
            </a:r>
            <a:r>
              <a:rPr b="1" i="1" lang="es" sz="1992">
                <a:solidFill>
                  <a:srgbClr val="000000"/>
                </a:solidFill>
              </a:rPr>
              <a:t>VCAN</a:t>
            </a:r>
            <a:endParaRPr b="1" i="1" sz="1992">
              <a:solidFill>
                <a:srgbClr val="000000"/>
              </a:solidFill>
            </a:endParaRPr>
          </a:p>
          <a:p>
            <a:pPr indent="-288694" lvl="0" marL="457200" rtl="0" algn="l">
              <a:spcBef>
                <a:spcPts val="0"/>
              </a:spcBef>
              <a:spcAft>
                <a:spcPts val="0"/>
              </a:spcAft>
              <a:buClr>
                <a:srgbClr val="000000"/>
              </a:buClr>
              <a:buSzPct val="100000"/>
              <a:buChar char="●"/>
            </a:pPr>
            <a:r>
              <a:rPr i="1" lang="es" sz="1992">
                <a:solidFill>
                  <a:srgbClr val="000000"/>
                </a:solidFill>
              </a:rPr>
              <a:t>Arachdonic Acid metabolism</a:t>
            </a:r>
            <a:r>
              <a:rPr lang="es" sz="1992">
                <a:solidFill>
                  <a:srgbClr val="000000"/>
                </a:solidFill>
              </a:rPr>
              <a:t>: </a:t>
            </a:r>
            <a:r>
              <a:rPr b="1" i="1" lang="es" sz="1992">
                <a:solidFill>
                  <a:srgbClr val="000000"/>
                </a:solidFill>
              </a:rPr>
              <a:t>PTGS2</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Phospholipid metabolism</a:t>
            </a:r>
            <a:r>
              <a:rPr lang="es" sz="1992">
                <a:solidFill>
                  <a:srgbClr val="000000"/>
                </a:solidFill>
              </a:rPr>
              <a:t>:</a:t>
            </a:r>
            <a:r>
              <a:rPr i="1" lang="es" sz="1992">
                <a:solidFill>
                  <a:srgbClr val="000000"/>
                </a:solidFill>
              </a:rPr>
              <a:t> </a:t>
            </a:r>
            <a:r>
              <a:rPr b="1" i="1" lang="es" sz="1992">
                <a:solidFill>
                  <a:srgbClr val="000000"/>
                </a:solidFill>
              </a:rPr>
              <a:t>GDPD3, PLB1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Panthotenate metabolism</a:t>
            </a:r>
            <a:r>
              <a:rPr lang="es" sz="1992">
                <a:solidFill>
                  <a:srgbClr val="000000"/>
                </a:solidFill>
              </a:rPr>
              <a:t>: </a:t>
            </a:r>
            <a:r>
              <a:rPr b="1" i="1" lang="es" sz="1992">
                <a:solidFill>
                  <a:srgbClr val="000000"/>
                </a:solidFill>
              </a:rPr>
              <a:t>VNN2, VNN1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Nicotinate metabolism: </a:t>
            </a:r>
            <a:r>
              <a:rPr b="1" i="1" lang="es" sz="1992">
                <a:solidFill>
                  <a:srgbClr val="000000"/>
                </a:solidFill>
              </a:rPr>
              <a:t>NAMPT, PTGS2</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Retinoid metabolism: </a:t>
            </a:r>
            <a:r>
              <a:rPr b="1" i="1" lang="es" sz="1992">
                <a:solidFill>
                  <a:srgbClr val="000000"/>
                </a:solidFill>
              </a:rPr>
              <a:t>PLB1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CoFactors metabolism: </a:t>
            </a:r>
            <a:r>
              <a:rPr b="1" i="1" lang="es" sz="1992">
                <a:solidFill>
                  <a:srgbClr val="000000"/>
                </a:solidFill>
              </a:rPr>
              <a:t>GCH1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Post-translational modification: synthesis of GPI-anchored proteins: </a:t>
            </a:r>
            <a:r>
              <a:rPr b="1" i="1" lang="es" sz="1992">
                <a:solidFill>
                  <a:srgbClr val="000000"/>
                </a:solidFill>
              </a:rPr>
              <a:t>VNN2, VNN1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Asparagine N-linked glycosylation</a:t>
            </a:r>
            <a:r>
              <a:rPr lang="es" sz="1992">
                <a:solidFill>
                  <a:srgbClr val="000000"/>
                </a:solidFill>
              </a:rPr>
              <a:t>: </a:t>
            </a:r>
            <a:r>
              <a:rPr b="1" i="1" lang="es" sz="1992">
                <a:solidFill>
                  <a:srgbClr val="000000"/>
                </a:solidFill>
              </a:rPr>
              <a:t>CD55</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SUMOylation</a:t>
            </a:r>
            <a:r>
              <a:rPr lang="es" sz="1992">
                <a:solidFill>
                  <a:srgbClr val="000000"/>
                </a:solidFill>
              </a:rPr>
              <a:t>: </a:t>
            </a:r>
            <a:r>
              <a:rPr b="1" i="1" lang="es" sz="1992">
                <a:solidFill>
                  <a:srgbClr val="000000"/>
                </a:solidFill>
              </a:rPr>
              <a:t>NRIP1</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RAB geranylgeranylation</a:t>
            </a:r>
            <a:r>
              <a:rPr lang="es" sz="1992">
                <a:solidFill>
                  <a:srgbClr val="000000"/>
                </a:solidFill>
              </a:rPr>
              <a:t>: </a:t>
            </a:r>
            <a:r>
              <a:rPr b="1" i="1" lang="es" sz="1992">
                <a:solidFill>
                  <a:srgbClr val="000000"/>
                </a:solidFill>
              </a:rPr>
              <a:t>RAB27A, RAB37</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Neddylation</a:t>
            </a:r>
            <a:r>
              <a:rPr lang="es" sz="1992">
                <a:solidFill>
                  <a:srgbClr val="000000"/>
                </a:solidFill>
              </a:rPr>
              <a:t>: </a:t>
            </a:r>
            <a:r>
              <a:rPr b="1" i="1" lang="es" sz="1992">
                <a:solidFill>
                  <a:srgbClr val="000000"/>
                </a:solidFill>
              </a:rPr>
              <a:t>SOCS3</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Post-translational protein phosphorylation:</a:t>
            </a:r>
            <a:r>
              <a:rPr lang="es" sz="1992">
                <a:solidFill>
                  <a:srgbClr val="000000"/>
                </a:solidFill>
              </a:rPr>
              <a:t> </a:t>
            </a:r>
            <a:r>
              <a:rPr b="1" i="1" lang="es" sz="1992">
                <a:solidFill>
                  <a:srgbClr val="000000"/>
                </a:solidFill>
              </a:rPr>
              <a:t>VCAN</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Peptide hormone metabolism</a:t>
            </a:r>
            <a:r>
              <a:rPr lang="es" sz="1992">
                <a:solidFill>
                  <a:srgbClr val="000000"/>
                </a:solidFill>
              </a:rPr>
              <a:t>: </a:t>
            </a:r>
            <a:r>
              <a:rPr b="1" i="1" lang="es" sz="1992">
                <a:solidFill>
                  <a:srgbClr val="000000"/>
                </a:solidFill>
              </a:rPr>
              <a:t>RAB27A</a:t>
            </a:r>
            <a:endParaRPr b="1" i="1" sz="1992">
              <a:solidFill>
                <a:srgbClr val="000000"/>
              </a:solidFill>
            </a:endParaRPr>
          </a:p>
          <a:p>
            <a:pPr indent="-288694" lvl="0" marL="457200" rtl="0" algn="l">
              <a:spcBef>
                <a:spcPts val="0"/>
              </a:spcBef>
              <a:spcAft>
                <a:spcPts val="0"/>
              </a:spcAft>
              <a:buClr>
                <a:srgbClr val="000000"/>
              </a:buClr>
              <a:buSzPct val="100000"/>
              <a:buFont typeface="Arial"/>
              <a:buChar char="●"/>
            </a:pPr>
            <a:r>
              <a:rPr i="1" lang="es" sz="1992">
                <a:solidFill>
                  <a:srgbClr val="000000"/>
                </a:solidFill>
              </a:rPr>
              <a:t>Regulation of (IGF) transport and uptake by Insulin-like Growth Factor Binding Proteins (IGFBPs)</a:t>
            </a:r>
            <a:r>
              <a:rPr lang="es" sz="1992">
                <a:solidFill>
                  <a:srgbClr val="000000"/>
                </a:solidFill>
              </a:rPr>
              <a:t>: </a:t>
            </a:r>
            <a:r>
              <a:rPr b="1" i="1" lang="es" sz="1992">
                <a:solidFill>
                  <a:srgbClr val="000000"/>
                </a:solidFill>
              </a:rPr>
              <a:t>VCAN</a:t>
            </a:r>
            <a:endParaRPr b="1" i="1" sz="1992"/>
          </a:p>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421" name="Google Shape;421;p49"/>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M2 masculinas (lfc &gt; 0.58), y que se encuentran en las listas deseadas:</a:t>
            </a:r>
            <a:endParaRPr b="1" i="1"/>
          </a:p>
          <a:p>
            <a:pPr indent="-285274" lvl="0" marL="457200" rtl="0" algn="l">
              <a:spcBef>
                <a:spcPts val="1200"/>
              </a:spcBef>
              <a:spcAft>
                <a:spcPts val="0"/>
              </a:spcAft>
              <a:buSzPct val="100000"/>
              <a:buChar char="●"/>
            </a:pPr>
            <a:r>
              <a:rPr i="1" lang="es" sz="1050"/>
              <a:t>Interleukin-1 signaling: </a:t>
            </a:r>
            <a:r>
              <a:rPr b="1" i="1" lang="es" sz="1050"/>
              <a:t>IL1R2, IL1R1</a:t>
            </a:r>
            <a:endParaRPr b="1" i="1" sz="1050"/>
          </a:p>
          <a:p>
            <a:pPr indent="-285274" lvl="0" marL="457200" rtl="0" algn="l">
              <a:spcBef>
                <a:spcPts val="0"/>
              </a:spcBef>
              <a:spcAft>
                <a:spcPts val="0"/>
              </a:spcAft>
              <a:buSzPct val="100000"/>
              <a:buChar char="●"/>
            </a:pPr>
            <a:r>
              <a:rPr i="1" lang="es" sz="1050"/>
              <a:t>Interleukin-10 signaling: </a:t>
            </a:r>
            <a:r>
              <a:rPr b="1" i="1" lang="es" sz="1050"/>
              <a:t>IL1R2, IL1R1, FCER2, CCL22</a:t>
            </a:r>
            <a:endParaRPr b="1" i="1" sz="1050"/>
          </a:p>
          <a:p>
            <a:pPr indent="-285274" lvl="0" marL="457200" rtl="0" algn="l">
              <a:spcBef>
                <a:spcPts val="0"/>
              </a:spcBef>
              <a:spcAft>
                <a:spcPts val="0"/>
              </a:spcAft>
              <a:buSzPct val="100000"/>
              <a:buChar char="●"/>
            </a:pPr>
            <a:r>
              <a:rPr i="1" lang="es" sz="1050"/>
              <a:t>Glycolysis: </a:t>
            </a:r>
            <a:r>
              <a:rPr b="1" i="1" lang="es" sz="1050"/>
              <a:t>PFKP</a:t>
            </a:r>
            <a:endParaRPr b="1" i="1" sz="1050"/>
          </a:p>
          <a:p>
            <a:pPr indent="-285274" lvl="0" marL="457200" rtl="0" algn="l">
              <a:spcBef>
                <a:spcPts val="0"/>
              </a:spcBef>
              <a:spcAft>
                <a:spcPts val="0"/>
              </a:spcAft>
              <a:buSzPct val="100000"/>
              <a:buChar char="●"/>
            </a:pPr>
            <a:r>
              <a:rPr i="1" lang="es" sz="1050"/>
              <a:t>Mitochondrial Fatty Acid Beta-Oxidation: </a:t>
            </a:r>
            <a:r>
              <a:rPr b="1" i="1" lang="es" sz="1050"/>
              <a:t>ACOT7</a:t>
            </a:r>
            <a:endParaRPr b="1" i="1" sz="1050"/>
          </a:p>
          <a:p>
            <a:pPr indent="-285274" lvl="0" marL="457200" rtl="0" algn="l">
              <a:spcBef>
                <a:spcPts val="0"/>
              </a:spcBef>
              <a:spcAft>
                <a:spcPts val="0"/>
              </a:spcAft>
              <a:buSzPct val="100000"/>
              <a:buChar char="●"/>
            </a:pPr>
            <a:r>
              <a:rPr i="1" lang="es" sz="1050"/>
              <a:t>Binding and uptake of ligands by scavenger receptors: </a:t>
            </a:r>
            <a:r>
              <a:rPr b="1" i="1" lang="es" sz="1050"/>
              <a:t>HSPH1</a:t>
            </a:r>
            <a:endParaRPr b="1" i="1" sz="1050"/>
          </a:p>
          <a:p>
            <a:pPr indent="-285274" lvl="0" marL="457200" rtl="0" algn="l">
              <a:spcBef>
                <a:spcPts val="0"/>
              </a:spcBef>
              <a:spcAft>
                <a:spcPts val="0"/>
              </a:spcAft>
              <a:buSzPct val="100000"/>
              <a:buChar char="●"/>
            </a:pPr>
            <a:r>
              <a:rPr i="1" lang="es" sz="1050"/>
              <a:t>Cellular Senescence: </a:t>
            </a:r>
            <a:r>
              <a:rPr b="1" i="1" lang="es" sz="1050"/>
              <a:t>CCNA1</a:t>
            </a:r>
            <a:endParaRPr b="1" i="1" sz="1050"/>
          </a:p>
          <a:p>
            <a:pPr indent="-285274" lvl="0" marL="457200" rtl="0" algn="l">
              <a:spcBef>
                <a:spcPts val="0"/>
              </a:spcBef>
              <a:spcAft>
                <a:spcPts val="0"/>
              </a:spcAft>
              <a:buSzPct val="100000"/>
              <a:buChar char="●"/>
            </a:pPr>
            <a:r>
              <a:rPr i="1" lang="es" sz="1050">
                <a:solidFill>
                  <a:srgbClr val="000000"/>
                </a:solidFill>
              </a:rPr>
              <a:t>Glycogen metabolism</a:t>
            </a:r>
            <a:r>
              <a:rPr lang="es" sz="1050">
                <a:solidFill>
                  <a:srgbClr val="000000"/>
                </a:solidFill>
              </a:rPr>
              <a:t>: </a:t>
            </a:r>
            <a:r>
              <a:rPr b="1" i="1" lang="es" sz="1050">
                <a:solidFill>
                  <a:srgbClr val="000000"/>
                </a:solidFill>
              </a:rPr>
              <a:t>PFKP</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PPP: </a:t>
            </a:r>
            <a:r>
              <a:rPr b="1" i="1" lang="es" sz="1050">
                <a:solidFill>
                  <a:srgbClr val="000000"/>
                </a:solidFill>
              </a:rPr>
              <a:t>PRPS1L1</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Glycosaminoglycan metabolism: </a:t>
            </a:r>
            <a:r>
              <a:rPr b="1" i="1" lang="es" sz="1050">
                <a:solidFill>
                  <a:srgbClr val="000000"/>
                </a:solidFill>
              </a:rPr>
              <a:t>AGRN, SDC2, HS3ST1</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Fatty AcylCoA biosynthesis: </a:t>
            </a:r>
            <a:r>
              <a:rPr b="1" i="1" lang="es" sz="1050">
                <a:solidFill>
                  <a:srgbClr val="000000"/>
                </a:solidFill>
              </a:rPr>
              <a:t>HACD1</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Arachdonic Acid metabolism: </a:t>
            </a:r>
            <a:r>
              <a:rPr b="1" i="1" lang="es" sz="1050">
                <a:solidFill>
                  <a:srgbClr val="000000"/>
                </a:solidFill>
              </a:rPr>
              <a:t>PTGS1, ALOX15</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B oxidation: </a:t>
            </a:r>
            <a:r>
              <a:rPr b="1" i="1" lang="es" sz="1050">
                <a:solidFill>
                  <a:srgbClr val="000000"/>
                </a:solidFill>
              </a:rPr>
              <a:t>ACOT7</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Triglyceride catabolism: </a:t>
            </a:r>
            <a:r>
              <a:rPr b="1" i="1" lang="es" sz="1050">
                <a:solidFill>
                  <a:srgbClr val="000000"/>
                </a:solidFill>
              </a:rPr>
              <a:t>FABP3</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Phospholipid metabolism: </a:t>
            </a:r>
            <a:r>
              <a:rPr b="1" i="1" lang="es" sz="1050">
                <a:solidFill>
                  <a:srgbClr val="000000"/>
                </a:solidFill>
              </a:rPr>
              <a:t>PITPNM2</a:t>
            </a:r>
            <a:endParaRPr b="1" i="1" sz="1050">
              <a:solidFill>
                <a:srgbClr val="000000"/>
              </a:solidFill>
            </a:endParaRPr>
          </a:p>
          <a:p>
            <a:pPr indent="-285274" lvl="0" marL="457200" rtl="0" algn="l">
              <a:spcBef>
                <a:spcPts val="0"/>
              </a:spcBef>
              <a:spcAft>
                <a:spcPts val="0"/>
              </a:spcAft>
              <a:buClr>
                <a:srgbClr val="000000"/>
              </a:buClr>
              <a:buSzPct val="100000"/>
              <a:buFont typeface="Arial"/>
              <a:buChar char="●"/>
            </a:pPr>
            <a:r>
              <a:rPr i="1" lang="es" sz="1050">
                <a:solidFill>
                  <a:srgbClr val="000000"/>
                </a:solidFill>
              </a:rPr>
              <a:t>Sphingolipid metabolism: </a:t>
            </a:r>
            <a:r>
              <a:rPr b="1" i="1" lang="es" sz="1050">
                <a:solidFill>
                  <a:srgbClr val="000000"/>
                </a:solidFill>
              </a:rPr>
              <a:t>PPM1L</a:t>
            </a:r>
            <a:endParaRPr b="1" i="1" sz="1050">
              <a:solidFill>
                <a:srgbClr val="000000"/>
              </a:solidFill>
            </a:endParaRPr>
          </a:p>
          <a:p>
            <a:pPr indent="-285274" lvl="0" marL="457200" rtl="0" algn="l">
              <a:spcBef>
                <a:spcPts val="0"/>
              </a:spcBef>
              <a:spcAft>
                <a:spcPts val="0"/>
              </a:spcAft>
              <a:buClr>
                <a:srgbClr val="000000"/>
              </a:buClr>
              <a:buSzPct val="105000"/>
              <a:buChar char="●"/>
            </a:pPr>
            <a:r>
              <a:rPr i="1" lang="es" sz="1000">
                <a:solidFill>
                  <a:srgbClr val="000000"/>
                </a:solidFill>
                <a:latin typeface="Arial"/>
                <a:ea typeface="Arial"/>
                <a:cs typeface="Arial"/>
                <a:sym typeface="Arial"/>
              </a:rPr>
              <a:t>Steroids metabolism: </a:t>
            </a:r>
            <a:r>
              <a:rPr b="1" i="1" lang="es" sz="1000">
                <a:solidFill>
                  <a:srgbClr val="000000"/>
                </a:solidFill>
                <a:latin typeface="Arial"/>
                <a:ea typeface="Arial"/>
                <a:cs typeface="Arial"/>
                <a:sym typeface="Arial"/>
              </a:rPr>
              <a:t>CYP51A1</a:t>
            </a:r>
            <a:endParaRPr b="1" i="1" sz="1000">
              <a:solidFill>
                <a:srgbClr val="000000"/>
              </a:solidFill>
              <a:latin typeface="Arial"/>
              <a:ea typeface="Arial"/>
              <a:cs typeface="Arial"/>
              <a:sym typeface="Arial"/>
            </a:endParaRPr>
          </a:p>
          <a:p>
            <a:pPr indent="-282575" lvl="0" marL="457200" rtl="0" algn="l">
              <a:spcBef>
                <a:spcPts val="0"/>
              </a:spcBef>
              <a:spcAft>
                <a:spcPts val="0"/>
              </a:spcAft>
              <a:buClr>
                <a:srgbClr val="000000"/>
              </a:buClr>
              <a:buSzPct val="100000"/>
              <a:buFont typeface="Arial"/>
              <a:buChar char="●"/>
            </a:pPr>
            <a:r>
              <a:rPr i="1" lang="es" sz="1000">
                <a:solidFill>
                  <a:srgbClr val="000000"/>
                </a:solidFill>
                <a:latin typeface="Arial"/>
                <a:ea typeface="Arial"/>
                <a:cs typeface="Arial"/>
                <a:sym typeface="Arial"/>
              </a:rPr>
              <a:t>Nicotinate metabolism: </a:t>
            </a:r>
            <a:r>
              <a:rPr b="1" i="1" lang="es" sz="1000">
                <a:solidFill>
                  <a:srgbClr val="000000"/>
                </a:solidFill>
                <a:latin typeface="Arial"/>
                <a:ea typeface="Arial"/>
                <a:cs typeface="Arial"/>
                <a:sym typeface="Arial"/>
              </a:rPr>
              <a:t>QPRT</a:t>
            </a:r>
            <a:endParaRPr b="1" i="1" sz="1000">
              <a:solidFill>
                <a:srgbClr val="000000"/>
              </a:solidFill>
              <a:latin typeface="Arial"/>
              <a:ea typeface="Arial"/>
              <a:cs typeface="Arial"/>
              <a:sym typeface="Arial"/>
            </a:endParaRPr>
          </a:p>
          <a:p>
            <a:pPr indent="-282575" lvl="0" marL="457200" rtl="0" algn="l">
              <a:spcBef>
                <a:spcPts val="0"/>
              </a:spcBef>
              <a:spcAft>
                <a:spcPts val="0"/>
              </a:spcAft>
              <a:buClr>
                <a:srgbClr val="000000"/>
              </a:buClr>
              <a:buSzPct val="100000"/>
              <a:buFont typeface="Arial"/>
              <a:buChar char="●"/>
            </a:pPr>
            <a:r>
              <a:rPr i="1" lang="es" sz="1000">
                <a:solidFill>
                  <a:srgbClr val="000000"/>
                </a:solidFill>
                <a:latin typeface="Arial"/>
                <a:ea typeface="Arial"/>
                <a:cs typeface="Arial"/>
                <a:sym typeface="Arial"/>
              </a:rPr>
              <a:t>Retinoid metabolism: </a:t>
            </a:r>
            <a:r>
              <a:rPr b="1" i="1" lang="es" sz="1000">
                <a:solidFill>
                  <a:srgbClr val="000000"/>
                </a:solidFill>
                <a:latin typeface="Arial"/>
                <a:ea typeface="Arial"/>
                <a:cs typeface="Arial"/>
                <a:sym typeface="Arial"/>
              </a:rPr>
              <a:t>AGRN, SDC2</a:t>
            </a:r>
            <a:endParaRPr b="1" i="1" sz="1000">
              <a:solidFill>
                <a:srgbClr val="000000"/>
              </a:solidFill>
              <a:latin typeface="Arial"/>
              <a:ea typeface="Arial"/>
              <a:cs typeface="Arial"/>
              <a:sym typeface="Arial"/>
            </a:endParaRPr>
          </a:p>
          <a:p>
            <a:pPr indent="-282575" lvl="0" marL="457200" rtl="0" algn="l">
              <a:spcBef>
                <a:spcPts val="0"/>
              </a:spcBef>
              <a:spcAft>
                <a:spcPts val="0"/>
              </a:spcAft>
              <a:buClr>
                <a:srgbClr val="000000"/>
              </a:buClr>
              <a:buSzPct val="100000"/>
              <a:buFont typeface="Arial"/>
              <a:buChar char="●"/>
            </a:pPr>
            <a:r>
              <a:rPr i="1" lang="es" sz="1000">
                <a:solidFill>
                  <a:srgbClr val="000000"/>
                </a:solidFill>
                <a:latin typeface="Arial"/>
                <a:ea typeface="Arial"/>
                <a:cs typeface="Arial"/>
                <a:sym typeface="Arial"/>
              </a:rPr>
              <a:t>Regulation of (IGF) transport and uptake by Insulin-like Growth Factor Binding Proteins (IGFBPs): </a:t>
            </a:r>
            <a:r>
              <a:rPr b="1" i="1" lang="es" sz="1000">
                <a:solidFill>
                  <a:srgbClr val="000000"/>
                </a:solidFill>
                <a:latin typeface="Arial"/>
                <a:ea typeface="Arial"/>
                <a:cs typeface="Arial"/>
                <a:sym typeface="Arial"/>
              </a:rPr>
              <a:t>GAS6, SDC2</a:t>
            </a:r>
            <a:endParaRPr b="1" i="1" sz="1000">
              <a:solidFill>
                <a:srgbClr val="000000"/>
              </a:solidFill>
              <a:latin typeface="Arial"/>
              <a:ea typeface="Arial"/>
              <a:cs typeface="Arial"/>
              <a:sym typeface="Arial"/>
            </a:endParaRPr>
          </a:p>
        </p:txBody>
      </p:sp>
      <p:sp>
        <p:nvSpPr>
          <p:cNvPr id="422" name="Google Shape;422;p49"/>
          <p:cNvSpPr txBox="1"/>
          <p:nvPr/>
        </p:nvSpPr>
        <p:spPr>
          <a:xfrm>
            <a:off x="4572000" y="1600550"/>
            <a:ext cx="3925500" cy="2173500"/>
          </a:xfrm>
          <a:prstGeom prst="rect">
            <a:avLst/>
          </a:prstGeom>
          <a:noFill/>
          <a:ln>
            <a:noFill/>
          </a:ln>
        </p:spPr>
        <p:txBody>
          <a:bodyPr anchorCtr="0" anchor="t" bIns="91425" lIns="91425" spcFirstLastPara="1" rIns="91425" wrap="square" tIns="91425">
            <a:noAutofit/>
          </a:bodyPr>
          <a:lstStyle/>
          <a:p>
            <a:pPr indent="-282575" lvl="0" marL="457200" rtl="0" algn="l">
              <a:spcBef>
                <a:spcPts val="0"/>
              </a:spcBef>
              <a:spcAft>
                <a:spcPts val="0"/>
              </a:spcAft>
              <a:buClr>
                <a:schemeClr val="dk2"/>
              </a:buClr>
              <a:buSzPts val="850"/>
              <a:buFont typeface="Roboto"/>
              <a:buChar char="●"/>
            </a:pPr>
            <a:r>
              <a:rPr i="1" lang="es" sz="1000">
                <a:latin typeface="Roboto"/>
                <a:ea typeface="Roboto"/>
                <a:cs typeface="Roboto"/>
                <a:sym typeface="Roboto"/>
              </a:rPr>
              <a:t>Aspartate asparigine metabolism: </a:t>
            </a:r>
            <a:r>
              <a:rPr b="1" i="1" lang="es" sz="1000">
                <a:latin typeface="Roboto"/>
                <a:ea typeface="Roboto"/>
                <a:cs typeface="Roboto"/>
                <a:sym typeface="Roboto"/>
              </a:rPr>
              <a:t>NAT8L</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Choline catabolism: </a:t>
            </a:r>
            <a:r>
              <a:rPr b="1" i="1" lang="es" sz="1000">
                <a:latin typeface="Roboto"/>
                <a:ea typeface="Roboto"/>
                <a:cs typeface="Roboto"/>
                <a:sym typeface="Roboto"/>
              </a:rPr>
              <a:t>CHDH</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Gamma carboxylation hypusine formation and arylsulfatase activation: </a:t>
            </a:r>
            <a:r>
              <a:rPr b="1" i="1" lang="es" sz="1000">
                <a:latin typeface="Roboto"/>
                <a:ea typeface="Roboto"/>
                <a:cs typeface="Roboto"/>
                <a:sym typeface="Roboto"/>
              </a:rPr>
              <a:t>GAS6</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Post-translational modification: synthesis of GPI-anchored proteins: </a:t>
            </a:r>
            <a:r>
              <a:rPr b="1" i="1" lang="es" sz="1000">
                <a:latin typeface="Roboto"/>
                <a:ea typeface="Roboto"/>
                <a:cs typeface="Roboto"/>
                <a:sym typeface="Roboto"/>
              </a:rPr>
              <a:t>NRN1</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Asparagine N-linked glycosylation: </a:t>
            </a:r>
            <a:r>
              <a:rPr b="1" i="1" lang="es" sz="1000">
                <a:latin typeface="Roboto"/>
                <a:ea typeface="Roboto"/>
                <a:cs typeface="Roboto"/>
                <a:sym typeface="Roboto"/>
              </a:rPr>
              <a:t>ST6GAL1, CTSC</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O-linked glycosylation: </a:t>
            </a:r>
            <a:r>
              <a:rPr b="1" i="1" lang="es" sz="1000">
                <a:latin typeface="Roboto"/>
                <a:ea typeface="Roboto"/>
                <a:cs typeface="Roboto"/>
                <a:sym typeface="Roboto"/>
              </a:rPr>
              <a:t>MUC5B, ST6GAL1</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Deubiquitination: </a:t>
            </a:r>
            <a:r>
              <a:rPr b="1" i="1" lang="es" sz="1000">
                <a:latin typeface="Roboto"/>
                <a:ea typeface="Roboto"/>
                <a:cs typeface="Roboto"/>
                <a:sym typeface="Roboto"/>
              </a:rPr>
              <a:t>CCNA1</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RAB geranylgeranylation: </a:t>
            </a:r>
            <a:r>
              <a:rPr b="1" i="1" lang="es" sz="1000">
                <a:latin typeface="Roboto"/>
                <a:ea typeface="Roboto"/>
                <a:cs typeface="Roboto"/>
                <a:sym typeface="Roboto"/>
              </a:rPr>
              <a:t>RAB30</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Neddylation: </a:t>
            </a:r>
            <a:r>
              <a:rPr b="1" i="1" lang="es" sz="1000">
                <a:latin typeface="Roboto"/>
                <a:ea typeface="Roboto"/>
                <a:cs typeface="Roboto"/>
                <a:sym typeface="Roboto"/>
              </a:rPr>
              <a:t>SPSB1</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Post-translational protein phosphorylation: </a:t>
            </a:r>
            <a:r>
              <a:rPr b="1" i="1" lang="es" sz="1000">
                <a:latin typeface="Roboto"/>
                <a:ea typeface="Roboto"/>
                <a:cs typeface="Roboto"/>
                <a:sym typeface="Roboto"/>
              </a:rPr>
              <a:t>GAS6, SDC2</a:t>
            </a:r>
            <a:endParaRPr b="1" i="1" sz="1000">
              <a:latin typeface="Roboto"/>
              <a:ea typeface="Roboto"/>
              <a:cs typeface="Roboto"/>
              <a:sym typeface="Roboto"/>
            </a:endParaRPr>
          </a:p>
          <a:p>
            <a:pPr indent="-292100" lvl="0" marL="457200" rtl="0" algn="l">
              <a:spcBef>
                <a:spcPts val="0"/>
              </a:spcBef>
              <a:spcAft>
                <a:spcPts val="0"/>
              </a:spcAft>
              <a:buSzPts val="1000"/>
              <a:buChar char="●"/>
            </a:pPr>
            <a:r>
              <a:rPr i="1" lang="es" sz="1000">
                <a:latin typeface="Roboto"/>
                <a:ea typeface="Roboto"/>
                <a:cs typeface="Roboto"/>
                <a:sym typeface="Roboto"/>
              </a:rPr>
              <a:t>rRNA processing in the nucleus and cytosol: </a:t>
            </a:r>
            <a:r>
              <a:rPr b="1" i="1" lang="es" sz="1000">
                <a:latin typeface="Roboto"/>
                <a:ea typeface="Roboto"/>
                <a:cs typeface="Roboto"/>
                <a:sym typeface="Roboto"/>
              </a:rPr>
              <a:t>ERI1</a:t>
            </a:r>
            <a:endParaRPr b="1" i="1" sz="1000">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Genes de los pathways</a:t>
            </a:r>
            <a:endParaRPr u="sng">
              <a:latin typeface="Montserrat"/>
              <a:ea typeface="Montserrat"/>
              <a:cs typeface="Montserrat"/>
              <a:sym typeface="Montserrat"/>
            </a:endParaRPr>
          </a:p>
        </p:txBody>
      </p:sp>
      <p:sp>
        <p:nvSpPr>
          <p:cNvPr id="428" name="Google Shape;428;p50"/>
          <p:cNvSpPr txBox="1"/>
          <p:nvPr>
            <p:ph idx="1" type="body"/>
          </p:nvPr>
        </p:nvSpPr>
        <p:spPr>
          <a:xfrm>
            <a:off x="3531775" y="1232550"/>
            <a:ext cx="761700" cy="4413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s">
                <a:latin typeface="Montserrat"/>
                <a:ea typeface="Montserrat"/>
                <a:cs typeface="Montserrat"/>
                <a:sym typeface="Montserrat"/>
              </a:rPr>
              <a:t>Male</a:t>
            </a:r>
            <a:endParaRPr>
              <a:latin typeface="Montserrat"/>
              <a:ea typeface="Montserrat"/>
              <a:cs typeface="Montserrat"/>
              <a:sym typeface="Montserrat"/>
            </a:endParaRPr>
          </a:p>
        </p:txBody>
      </p:sp>
      <p:sp>
        <p:nvSpPr>
          <p:cNvPr id="429" name="Google Shape;429;p50"/>
          <p:cNvSpPr txBox="1"/>
          <p:nvPr/>
        </p:nvSpPr>
        <p:spPr>
          <a:xfrm>
            <a:off x="6044000" y="1215450"/>
            <a:ext cx="1152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Female</a:t>
            </a:r>
            <a:endParaRPr sz="1800">
              <a:solidFill>
                <a:schemeClr val="dk2"/>
              </a:solidFill>
              <a:latin typeface="Montserrat"/>
              <a:ea typeface="Montserrat"/>
              <a:cs typeface="Montserrat"/>
              <a:sym typeface="Montserrat"/>
            </a:endParaRPr>
          </a:p>
        </p:txBody>
      </p:sp>
      <p:sp>
        <p:nvSpPr>
          <p:cNvPr id="430" name="Google Shape;430;p50"/>
          <p:cNvSpPr txBox="1"/>
          <p:nvPr/>
        </p:nvSpPr>
        <p:spPr>
          <a:xfrm>
            <a:off x="5770675" y="1672950"/>
            <a:ext cx="68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OAZ3</a:t>
            </a:r>
            <a:endParaRPr/>
          </a:p>
        </p:txBody>
      </p:sp>
      <p:sp>
        <p:nvSpPr>
          <p:cNvPr id="431" name="Google Shape;431;p50"/>
          <p:cNvSpPr txBox="1"/>
          <p:nvPr/>
        </p:nvSpPr>
        <p:spPr>
          <a:xfrm>
            <a:off x="2413250" y="1610250"/>
            <a:ext cx="3148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PSME1-PSME2-PSMA6-PSMA3-PSMB9-SAT1-PSMA4-PSMB10-PSMA2PSMB8</a:t>
            </a:r>
            <a:endParaRPr/>
          </a:p>
        </p:txBody>
      </p:sp>
      <p:sp>
        <p:nvSpPr>
          <p:cNvPr id="432" name="Google Shape;432;p50"/>
          <p:cNvSpPr txBox="1"/>
          <p:nvPr/>
        </p:nvSpPr>
        <p:spPr>
          <a:xfrm>
            <a:off x="360200" y="1672950"/>
            <a:ext cx="1570500" cy="7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Polyamines</a:t>
            </a:r>
            <a:r>
              <a:rPr lang="es" sz="1800">
                <a:solidFill>
                  <a:schemeClr val="dk2"/>
                </a:solidFill>
                <a:latin typeface="Montserrat"/>
                <a:ea typeface="Montserrat"/>
                <a:cs typeface="Montserrat"/>
                <a:sym typeface="Montserrat"/>
              </a:rPr>
              <a:t> Metabolism</a:t>
            </a:r>
            <a:endParaRPr sz="1800">
              <a:solidFill>
                <a:schemeClr val="dk2"/>
              </a:solidFill>
              <a:latin typeface="Montserrat"/>
              <a:ea typeface="Montserrat"/>
              <a:cs typeface="Montserrat"/>
              <a:sym typeface="Montserrat"/>
            </a:endParaRPr>
          </a:p>
        </p:txBody>
      </p:sp>
      <p:sp>
        <p:nvSpPr>
          <p:cNvPr id="433" name="Google Shape;433;p50"/>
          <p:cNvSpPr txBox="1"/>
          <p:nvPr/>
        </p:nvSpPr>
        <p:spPr>
          <a:xfrm>
            <a:off x="2412625" y="2441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NUP62-NUP50-NUP98-PFKP</a:t>
            </a:r>
            <a:endParaRPr/>
          </a:p>
        </p:txBody>
      </p:sp>
      <p:sp>
        <p:nvSpPr>
          <p:cNvPr id="434" name="Google Shape;434;p50"/>
          <p:cNvSpPr txBox="1"/>
          <p:nvPr/>
        </p:nvSpPr>
        <p:spPr>
          <a:xfrm>
            <a:off x="464750" y="2441550"/>
            <a:ext cx="1361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Glycolysis</a:t>
            </a:r>
            <a:endParaRPr sz="1800">
              <a:solidFill>
                <a:schemeClr val="dk2"/>
              </a:solidFill>
              <a:latin typeface="Montserrat"/>
              <a:ea typeface="Montserrat"/>
              <a:cs typeface="Montserrat"/>
              <a:sym typeface="Montserrat"/>
            </a:endParaRPr>
          </a:p>
        </p:txBody>
      </p:sp>
      <p:sp>
        <p:nvSpPr>
          <p:cNvPr id="435" name="Google Shape;435;p50"/>
          <p:cNvSpPr txBox="1"/>
          <p:nvPr/>
        </p:nvSpPr>
        <p:spPr>
          <a:xfrm>
            <a:off x="5770675" y="2441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HK3-PRKACB-GPI-SEC13-PGK1</a:t>
            </a:r>
            <a:endParaRPr/>
          </a:p>
        </p:txBody>
      </p:sp>
      <p:sp>
        <p:nvSpPr>
          <p:cNvPr id="436" name="Google Shape;436;p50"/>
          <p:cNvSpPr txBox="1"/>
          <p:nvPr/>
        </p:nvSpPr>
        <p:spPr>
          <a:xfrm>
            <a:off x="464750" y="3134225"/>
            <a:ext cx="1361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TCA cycle</a:t>
            </a:r>
            <a:endParaRPr sz="1800">
              <a:solidFill>
                <a:schemeClr val="dk2"/>
              </a:solidFill>
              <a:latin typeface="Montserrat"/>
              <a:ea typeface="Montserrat"/>
              <a:cs typeface="Montserrat"/>
              <a:sym typeface="Montserrat"/>
            </a:endParaRPr>
          </a:p>
        </p:txBody>
      </p:sp>
      <p:sp>
        <p:nvSpPr>
          <p:cNvPr id="437" name="Google Shape;437;p50"/>
          <p:cNvSpPr txBox="1"/>
          <p:nvPr/>
        </p:nvSpPr>
        <p:spPr>
          <a:xfrm>
            <a:off x="2412625" y="29319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SUCLG2-MT-ND1-LRPPRC-NNT</a:t>
            </a:r>
            <a:endParaRPr/>
          </a:p>
          <a:p>
            <a:pPr indent="0" lvl="0" marL="0" rtl="0" algn="l">
              <a:spcBef>
                <a:spcPts val="0"/>
              </a:spcBef>
              <a:spcAft>
                <a:spcPts val="0"/>
              </a:spcAft>
              <a:buNone/>
            </a:pPr>
            <a:r>
              <a:rPr lang="es"/>
              <a:t>IDH3G-NDUFB8-PDK3-UQCRC2</a:t>
            </a:r>
            <a:endParaRPr/>
          </a:p>
          <a:p>
            <a:pPr indent="0" lvl="0" marL="0" rtl="0" algn="l">
              <a:spcBef>
                <a:spcPts val="0"/>
              </a:spcBef>
              <a:spcAft>
                <a:spcPts val="0"/>
              </a:spcAft>
              <a:buNone/>
            </a:pPr>
            <a:r>
              <a:rPr lang="es"/>
              <a:t>TIMMDC1-(MT-CYB)-NDUFV3</a:t>
            </a:r>
            <a:endParaRPr/>
          </a:p>
          <a:p>
            <a:pPr indent="0" lvl="0" marL="0" rtl="0" algn="l">
              <a:spcBef>
                <a:spcPts val="0"/>
              </a:spcBef>
              <a:spcAft>
                <a:spcPts val="0"/>
              </a:spcAft>
              <a:buNone/>
            </a:pPr>
            <a:r>
              <a:rPr lang="es"/>
              <a:t>PDK4-UCP2-RXRA</a:t>
            </a:r>
            <a:endParaRPr/>
          </a:p>
        </p:txBody>
      </p:sp>
      <p:sp>
        <p:nvSpPr>
          <p:cNvPr id="438" name="Google Shape;438;p50"/>
          <p:cNvSpPr txBox="1"/>
          <p:nvPr/>
        </p:nvSpPr>
        <p:spPr>
          <a:xfrm>
            <a:off x="5770675" y="3255200"/>
            <a:ext cx="943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L2HGDH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Genes de los pathways</a:t>
            </a:r>
            <a:endParaRPr u="sng">
              <a:latin typeface="Montserrat"/>
              <a:ea typeface="Montserrat"/>
              <a:cs typeface="Montserrat"/>
              <a:sym typeface="Montserrat"/>
            </a:endParaRPr>
          </a:p>
        </p:txBody>
      </p:sp>
      <p:sp>
        <p:nvSpPr>
          <p:cNvPr id="444" name="Google Shape;444;p51"/>
          <p:cNvSpPr txBox="1"/>
          <p:nvPr>
            <p:ph idx="1" type="body"/>
          </p:nvPr>
        </p:nvSpPr>
        <p:spPr>
          <a:xfrm>
            <a:off x="3531775" y="1232550"/>
            <a:ext cx="761700" cy="4413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s">
                <a:latin typeface="Montserrat"/>
                <a:ea typeface="Montserrat"/>
                <a:cs typeface="Montserrat"/>
                <a:sym typeface="Montserrat"/>
              </a:rPr>
              <a:t>Male</a:t>
            </a:r>
            <a:endParaRPr>
              <a:latin typeface="Montserrat"/>
              <a:ea typeface="Montserrat"/>
              <a:cs typeface="Montserrat"/>
              <a:sym typeface="Montserrat"/>
            </a:endParaRPr>
          </a:p>
        </p:txBody>
      </p:sp>
      <p:sp>
        <p:nvSpPr>
          <p:cNvPr id="445" name="Google Shape;445;p51"/>
          <p:cNvSpPr txBox="1"/>
          <p:nvPr/>
        </p:nvSpPr>
        <p:spPr>
          <a:xfrm>
            <a:off x="6044000" y="1215450"/>
            <a:ext cx="1152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Female</a:t>
            </a:r>
            <a:endParaRPr sz="1800">
              <a:solidFill>
                <a:schemeClr val="dk2"/>
              </a:solidFill>
              <a:latin typeface="Montserrat"/>
              <a:ea typeface="Montserrat"/>
              <a:cs typeface="Montserrat"/>
              <a:sym typeface="Montserrat"/>
            </a:endParaRPr>
          </a:p>
        </p:txBody>
      </p:sp>
      <p:sp>
        <p:nvSpPr>
          <p:cNvPr id="446" name="Google Shape;446;p51"/>
          <p:cNvSpPr txBox="1"/>
          <p:nvPr/>
        </p:nvSpPr>
        <p:spPr>
          <a:xfrm>
            <a:off x="5770675" y="1672950"/>
            <a:ext cx="191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NEC</a:t>
            </a:r>
            <a:r>
              <a:rPr lang="es"/>
              <a:t>T</a:t>
            </a:r>
            <a:r>
              <a:rPr lang="es"/>
              <a:t>IN1-ZEB2</a:t>
            </a:r>
            <a:endParaRPr/>
          </a:p>
        </p:txBody>
      </p:sp>
      <p:sp>
        <p:nvSpPr>
          <p:cNvPr id="447" name="Google Shape;447;p51"/>
          <p:cNvSpPr txBox="1"/>
          <p:nvPr/>
        </p:nvSpPr>
        <p:spPr>
          <a:xfrm>
            <a:off x="2413250" y="1610250"/>
            <a:ext cx="3148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FERMT2-CTNNA1-LAMB3-NECTIN2</a:t>
            </a:r>
            <a:endParaRPr/>
          </a:p>
          <a:p>
            <a:pPr indent="0" lvl="0" marL="0" rtl="0" algn="l">
              <a:spcBef>
                <a:spcPts val="0"/>
              </a:spcBef>
              <a:spcAft>
                <a:spcPts val="0"/>
              </a:spcAft>
              <a:buNone/>
            </a:pPr>
            <a:r>
              <a:rPr lang="es"/>
              <a:t>BHLHE22-NECTIN3-MOV10-CTNNB1-PATJ-RSU1-F11R-CLDN23</a:t>
            </a:r>
            <a:endParaRPr/>
          </a:p>
        </p:txBody>
      </p:sp>
      <p:sp>
        <p:nvSpPr>
          <p:cNvPr id="448" name="Google Shape;448;p51"/>
          <p:cNvSpPr txBox="1"/>
          <p:nvPr/>
        </p:nvSpPr>
        <p:spPr>
          <a:xfrm>
            <a:off x="360200" y="1672950"/>
            <a:ext cx="1694400" cy="7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Cell Junction </a:t>
            </a:r>
            <a:endParaRPr sz="1800">
              <a:solidFill>
                <a:schemeClr val="dk2"/>
              </a:solidFill>
              <a:latin typeface="Montserrat"/>
              <a:ea typeface="Montserrat"/>
              <a:cs typeface="Montserrat"/>
              <a:sym typeface="Montserrat"/>
            </a:endParaRPr>
          </a:p>
        </p:txBody>
      </p:sp>
      <p:sp>
        <p:nvSpPr>
          <p:cNvPr id="449" name="Google Shape;449;p51"/>
          <p:cNvSpPr txBox="1"/>
          <p:nvPr/>
        </p:nvSpPr>
        <p:spPr>
          <a:xfrm>
            <a:off x="2412625" y="39712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PSME1-PSME2-PSMA6-CREBBP</a:t>
            </a:r>
            <a:endParaRPr/>
          </a:p>
          <a:p>
            <a:pPr indent="0" lvl="0" marL="0" rtl="0" algn="l">
              <a:spcBef>
                <a:spcPts val="0"/>
              </a:spcBef>
              <a:spcAft>
                <a:spcPts val="0"/>
              </a:spcAft>
              <a:buNone/>
            </a:pPr>
            <a:r>
              <a:rPr lang="es"/>
              <a:t>PSMA3-PSMB9-PSMA4-PSMB10</a:t>
            </a:r>
            <a:endParaRPr/>
          </a:p>
          <a:p>
            <a:pPr indent="0" lvl="0" marL="0" rtl="0" algn="l">
              <a:spcBef>
                <a:spcPts val="0"/>
              </a:spcBef>
              <a:spcAft>
                <a:spcPts val="0"/>
              </a:spcAft>
              <a:buNone/>
            </a:pPr>
            <a:r>
              <a:rPr lang="es"/>
              <a:t>VEGFA-PSMA2-PSMB8-UBC</a:t>
            </a:r>
            <a:endParaRPr/>
          </a:p>
        </p:txBody>
      </p:sp>
      <p:sp>
        <p:nvSpPr>
          <p:cNvPr id="450" name="Google Shape;450;p51"/>
          <p:cNvSpPr txBox="1"/>
          <p:nvPr/>
        </p:nvSpPr>
        <p:spPr>
          <a:xfrm>
            <a:off x="360200" y="4045650"/>
            <a:ext cx="159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Response to Hypoxia</a:t>
            </a:r>
            <a:endParaRPr sz="1800">
              <a:solidFill>
                <a:schemeClr val="dk2"/>
              </a:solidFill>
              <a:latin typeface="Montserrat"/>
              <a:ea typeface="Montserrat"/>
              <a:cs typeface="Montserrat"/>
              <a:sym typeface="Montserrat"/>
            </a:endParaRPr>
          </a:p>
        </p:txBody>
      </p:sp>
      <p:sp>
        <p:nvSpPr>
          <p:cNvPr id="451" name="Google Shape;451;p51"/>
          <p:cNvSpPr txBox="1"/>
          <p:nvPr/>
        </p:nvSpPr>
        <p:spPr>
          <a:xfrm>
            <a:off x="5770675" y="40456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H</a:t>
            </a:r>
            <a:r>
              <a:rPr lang="es"/>
              <a:t>EPAS1</a:t>
            </a:r>
            <a:endParaRPr/>
          </a:p>
        </p:txBody>
      </p:sp>
      <p:sp>
        <p:nvSpPr>
          <p:cNvPr id="452" name="Google Shape;452;p51"/>
          <p:cNvSpPr txBox="1"/>
          <p:nvPr/>
        </p:nvSpPr>
        <p:spPr>
          <a:xfrm>
            <a:off x="360200" y="2493713"/>
            <a:ext cx="159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Response to </a:t>
            </a:r>
            <a:r>
              <a:rPr lang="es" sz="1800">
                <a:solidFill>
                  <a:schemeClr val="dk2"/>
                </a:solidFill>
                <a:latin typeface="Montserrat"/>
                <a:ea typeface="Montserrat"/>
                <a:cs typeface="Montserrat"/>
                <a:sym typeface="Montserrat"/>
              </a:rPr>
              <a:t>chemical</a:t>
            </a:r>
            <a:r>
              <a:rPr lang="es" sz="1800">
                <a:solidFill>
                  <a:schemeClr val="dk2"/>
                </a:solidFill>
                <a:latin typeface="Montserrat"/>
                <a:ea typeface="Montserrat"/>
                <a:cs typeface="Montserrat"/>
                <a:sym typeface="Montserrat"/>
              </a:rPr>
              <a:t> stress</a:t>
            </a:r>
            <a:endParaRPr sz="1800">
              <a:solidFill>
                <a:schemeClr val="dk2"/>
              </a:solidFill>
              <a:latin typeface="Montserrat"/>
              <a:ea typeface="Montserrat"/>
              <a:cs typeface="Montserrat"/>
              <a:sym typeface="Montserrat"/>
            </a:endParaRPr>
          </a:p>
        </p:txBody>
      </p:sp>
      <p:sp>
        <p:nvSpPr>
          <p:cNvPr id="453" name="Google Shape;453;p51"/>
          <p:cNvSpPr txBox="1"/>
          <p:nvPr/>
        </p:nvSpPr>
        <p:spPr>
          <a:xfrm>
            <a:off x="2412625" y="2441550"/>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PSME2-AKT3-RELA-TBL1X-ABCC1-MAFG-PGD-PSMA2-NFKB1-STAT3-MED1-PSMA3-MAFK-PSMB9</a:t>
            </a:r>
            <a:endParaRPr/>
          </a:p>
          <a:p>
            <a:pPr indent="0" lvl="0" marL="0" rtl="0" algn="l">
              <a:spcBef>
                <a:spcPts val="0"/>
              </a:spcBef>
              <a:spcAft>
                <a:spcPts val="0"/>
              </a:spcAft>
              <a:buNone/>
            </a:pPr>
            <a:r>
              <a:rPr lang="es"/>
              <a:t>PSMA4-CUL1-PSMB10-PSMB8</a:t>
            </a:r>
            <a:endParaRPr/>
          </a:p>
          <a:p>
            <a:pPr indent="0" lvl="0" marL="0" rtl="0" algn="l">
              <a:spcBef>
                <a:spcPts val="0"/>
              </a:spcBef>
              <a:spcAft>
                <a:spcPts val="0"/>
              </a:spcAft>
              <a:buNone/>
            </a:pPr>
            <a:r>
              <a:rPr lang="es"/>
              <a:t>SOD2-SQSTM1-CREBBP-BCL2L1</a:t>
            </a:r>
            <a:endParaRPr/>
          </a:p>
          <a:p>
            <a:pPr indent="0" lvl="0" marL="0" rtl="0" algn="l">
              <a:spcBef>
                <a:spcPts val="0"/>
              </a:spcBef>
              <a:spcAft>
                <a:spcPts val="0"/>
              </a:spcAft>
              <a:buNone/>
            </a:pPr>
            <a:r>
              <a:rPr lang="es"/>
              <a:t>NCOA2-G6PD-BCL2 …</a:t>
            </a:r>
            <a:endParaRPr/>
          </a:p>
        </p:txBody>
      </p:sp>
      <p:sp>
        <p:nvSpPr>
          <p:cNvPr id="454" name="Google Shape;454;p51"/>
          <p:cNvSpPr txBox="1"/>
          <p:nvPr/>
        </p:nvSpPr>
        <p:spPr>
          <a:xfrm>
            <a:off x="5752675" y="2493725"/>
            <a:ext cx="195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LRPPR-ABCG2-TXN2</a:t>
            </a:r>
            <a:endParaRPr/>
          </a:p>
          <a:p>
            <a:pPr indent="0" lvl="0" marL="0" rtl="0" algn="l">
              <a:spcBef>
                <a:spcPts val="0"/>
              </a:spcBef>
              <a:spcAft>
                <a:spcPts val="0"/>
              </a:spcAft>
              <a:buNone/>
            </a:pPr>
            <a:r>
              <a:rPr lang="es"/>
              <a:t>CAT-BLVRB-BRCA1-CYBB-GSK3B-RXRA</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Genes de los pathways</a:t>
            </a:r>
            <a:endParaRPr u="sng">
              <a:latin typeface="Montserrat"/>
              <a:ea typeface="Montserrat"/>
              <a:cs typeface="Montserrat"/>
              <a:sym typeface="Montserrat"/>
            </a:endParaRPr>
          </a:p>
        </p:txBody>
      </p:sp>
      <p:sp>
        <p:nvSpPr>
          <p:cNvPr id="460" name="Google Shape;460;p52"/>
          <p:cNvSpPr txBox="1"/>
          <p:nvPr>
            <p:ph idx="1" type="body"/>
          </p:nvPr>
        </p:nvSpPr>
        <p:spPr>
          <a:xfrm>
            <a:off x="3531775" y="1232550"/>
            <a:ext cx="761700" cy="4413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s">
                <a:latin typeface="Montserrat"/>
                <a:ea typeface="Montserrat"/>
                <a:cs typeface="Montserrat"/>
                <a:sym typeface="Montserrat"/>
              </a:rPr>
              <a:t>Male</a:t>
            </a:r>
            <a:endParaRPr>
              <a:latin typeface="Montserrat"/>
              <a:ea typeface="Montserrat"/>
              <a:cs typeface="Montserrat"/>
              <a:sym typeface="Montserrat"/>
            </a:endParaRPr>
          </a:p>
        </p:txBody>
      </p:sp>
      <p:sp>
        <p:nvSpPr>
          <p:cNvPr id="461" name="Google Shape;461;p52"/>
          <p:cNvSpPr txBox="1"/>
          <p:nvPr/>
        </p:nvSpPr>
        <p:spPr>
          <a:xfrm>
            <a:off x="6044000" y="1215450"/>
            <a:ext cx="1152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Female</a:t>
            </a:r>
            <a:endParaRPr sz="1800">
              <a:solidFill>
                <a:schemeClr val="dk2"/>
              </a:solidFill>
              <a:latin typeface="Montserrat"/>
              <a:ea typeface="Montserrat"/>
              <a:cs typeface="Montserrat"/>
              <a:sym typeface="Montserrat"/>
            </a:endParaRPr>
          </a:p>
        </p:txBody>
      </p:sp>
      <p:sp>
        <p:nvSpPr>
          <p:cNvPr id="462" name="Google Shape;462;p52"/>
          <p:cNvSpPr txBox="1"/>
          <p:nvPr/>
        </p:nvSpPr>
        <p:spPr>
          <a:xfrm>
            <a:off x="5770675" y="1672950"/>
            <a:ext cx="191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CDC6-H3C1-CCNA2</a:t>
            </a:r>
            <a:endParaRPr/>
          </a:p>
          <a:p>
            <a:pPr indent="0" lvl="0" marL="0" rtl="0" algn="l">
              <a:spcBef>
                <a:spcPts val="0"/>
              </a:spcBef>
              <a:spcAft>
                <a:spcPts val="0"/>
              </a:spcAft>
              <a:buNone/>
            </a:pPr>
            <a:r>
              <a:rPr lang="es"/>
              <a:t>(H3-3A)-PRIM2</a:t>
            </a:r>
            <a:endParaRPr/>
          </a:p>
        </p:txBody>
      </p:sp>
      <p:sp>
        <p:nvSpPr>
          <p:cNvPr id="463" name="Google Shape;463;p52"/>
          <p:cNvSpPr txBox="1"/>
          <p:nvPr/>
        </p:nvSpPr>
        <p:spPr>
          <a:xfrm>
            <a:off x="2413250" y="1610250"/>
            <a:ext cx="3148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PSME2-H3C3-CDC23-PSMA2-H2BC21-PSMA3-PSMB9-PSMA4-CUL1</a:t>
            </a:r>
            <a:endParaRPr/>
          </a:p>
          <a:p>
            <a:pPr indent="0" lvl="0" marL="0" rtl="0" algn="l">
              <a:spcBef>
                <a:spcPts val="0"/>
              </a:spcBef>
              <a:spcAft>
                <a:spcPts val="0"/>
              </a:spcAft>
              <a:buNone/>
            </a:pPr>
            <a:r>
              <a:rPr lang="es"/>
              <a:t>PSMB10-PSMB8-H2AC18-H2BC3</a:t>
            </a:r>
            <a:endParaRPr/>
          </a:p>
          <a:p>
            <a:pPr indent="0" lvl="0" marL="0" rtl="0" algn="l">
              <a:spcBef>
                <a:spcPts val="0"/>
              </a:spcBef>
              <a:spcAft>
                <a:spcPts val="0"/>
              </a:spcAft>
              <a:buNone/>
            </a:pPr>
            <a:r>
              <a:rPr lang="es"/>
              <a:t>CCNA1-CDK2-KPNB1-...</a:t>
            </a:r>
            <a:endParaRPr/>
          </a:p>
        </p:txBody>
      </p:sp>
      <p:sp>
        <p:nvSpPr>
          <p:cNvPr id="464" name="Google Shape;464;p52"/>
          <p:cNvSpPr txBox="1"/>
          <p:nvPr/>
        </p:nvSpPr>
        <p:spPr>
          <a:xfrm>
            <a:off x="360200" y="1672950"/>
            <a:ext cx="1951800" cy="7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DNA replication</a:t>
            </a:r>
            <a:r>
              <a:rPr lang="es" sz="1800">
                <a:solidFill>
                  <a:schemeClr val="dk2"/>
                </a:solidFill>
                <a:latin typeface="Montserrat"/>
                <a:ea typeface="Montserrat"/>
                <a:cs typeface="Montserrat"/>
                <a:sym typeface="Montserrat"/>
              </a:rPr>
              <a:t> </a:t>
            </a:r>
            <a:endParaRPr sz="1800">
              <a:solidFill>
                <a:schemeClr val="dk2"/>
              </a:solidFill>
              <a:latin typeface="Montserrat"/>
              <a:ea typeface="Montserrat"/>
              <a:cs typeface="Montserrat"/>
              <a:sym typeface="Montserrat"/>
            </a:endParaRPr>
          </a:p>
        </p:txBody>
      </p:sp>
      <p:sp>
        <p:nvSpPr>
          <p:cNvPr id="465" name="Google Shape;465;p52"/>
          <p:cNvSpPr txBox="1"/>
          <p:nvPr/>
        </p:nvSpPr>
        <p:spPr>
          <a:xfrm>
            <a:off x="2412625" y="38086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PSME2-IL1A-AKT3-FLOT1</a:t>
            </a:r>
            <a:endParaRPr/>
          </a:p>
          <a:p>
            <a:pPr indent="0" lvl="0" marL="0" rtl="0" algn="l">
              <a:spcBef>
                <a:spcPts val="0"/>
              </a:spcBef>
              <a:spcAft>
                <a:spcPts val="0"/>
              </a:spcAft>
              <a:buNone/>
            </a:pPr>
            <a:r>
              <a:rPr lang="es"/>
              <a:t>TNFSF10-CASP3-GSDME</a:t>
            </a:r>
            <a:endParaRPr/>
          </a:p>
          <a:p>
            <a:pPr indent="0" lvl="0" marL="0" rtl="0" algn="l">
              <a:spcBef>
                <a:spcPts val="0"/>
              </a:spcBef>
              <a:spcAft>
                <a:spcPts val="0"/>
              </a:spcAft>
              <a:buNone/>
            </a:pPr>
            <a:r>
              <a:rPr lang="es"/>
              <a:t>PSMA2-RIPK3-DSP-IRF1</a:t>
            </a:r>
            <a:endParaRPr/>
          </a:p>
          <a:p>
            <a:pPr indent="0" lvl="0" marL="0" rtl="0" algn="l">
              <a:spcBef>
                <a:spcPts val="0"/>
              </a:spcBef>
              <a:spcAft>
                <a:spcPts val="0"/>
              </a:spcAft>
              <a:buNone/>
            </a:pPr>
            <a:r>
              <a:rPr lang="es"/>
              <a:t>TNFRSF10B-LMNB1-...</a:t>
            </a:r>
            <a:endParaRPr/>
          </a:p>
        </p:txBody>
      </p:sp>
      <p:sp>
        <p:nvSpPr>
          <p:cNvPr id="466" name="Google Shape;466;p52"/>
          <p:cNvSpPr txBox="1"/>
          <p:nvPr/>
        </p:nvSpPr>
        <p:spPr>
          <a:xfrm>
            <a:off x="360200" y="4045650"/>
            <a:ext cx="159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Cell death</a:t>
            </a:r>
            <a:endParaRPr sz="1800">
              <a:solidFill>
                <a:schemeClr val="dk2"/>
              </a:solidFill>
              <a:latin typeface="Montserrat"/>
              <a:ea typeface="Montserrat"/>
              <a:cs typeface="Montserrat"/>
              <a:sym typeface="Montserrat"/>
            </a:endParaRPr>
          </a:p>
        </p:txBody>
      </p:sp>
      <p:sp>
        <p:nvSpPr>
          <p:cNvPr id="467" name="Google Shape;467;p52"/>
          <p:cNvSpPr txBox="1"/>
          <p:nvPr/>
        </p:nvSpPr>
        <p:spPr>
          <a:xfrm>
            <a:off x="5698625" y="39163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CHMP2A-SATB1-C1QBP</a:t>
            </a:r>
            <a:endParaRPr/>
          </a:p>
          <a:p>
            <a:pPr indent="0" lvl="0" marL="0" rtl="0" algn="l">
              <a:spcBef>
                <a:spcPts val="0"/>
              </a:spcBef>
              <a:spcAft>
                <a:spcPts val="0"/>
              </a:spcAft>
              <a:buNone/>
            </a:pPr>
            <a:r>
              <a:rPr lang="es"/>
              <a:t>PTK2-ELANE</a:t>
            </a:r>
            <a:endParaRPr/>
          </a:p>
          <a:p>
            <a:pPr indent="0" lvl="0" marL="0" rtl="0" algn="l">
              <a:spcBef>
                <a:spcPts val="0"/>
              </a:spcBef>
              <a:spcAft>
                <a:spcPts val="0"/>
              </a:spcAft>
              <a:buNone/>
            </a:pPr>
            <a:r>
              <a:rPr lang="es"/>
              <a:t>TLR4</a:t>
            </a:r>
            <a:endParaRPr/>
          </a:p>
        </p:txBody>
      </p:sp>
      <p:sp>
        <p:nvSpPr>
          <p:cNvPr id="468" name="Google Shape;468;p52"/>
          <p:cNvSpPr txBox="1"/>
          <p:nvPr/>
        </p:nvSpPr>
        <p:spPr>
          <a:xfrm>
            <a:off x="360200" y="2622438"/>
            <a:ext cx="1590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Montserrat"/>
                <a:ea typeface="Montserrat"/>
                <a:cs typeface="Montserrat"/>
                <a:sym typeface="Montserrat"/>
              </a:rPr>
              <a:t>Cytokine signaling</a:t>
            </a:r>
            <a:endParaRPr sz="1800">
              <a:solidFill>
                <a:schemeClr val="dk2"/>
              </a:solidFill>
              <a:latin typeface="Montserrat"/>
              <a:ea typeface="Montserrat"/>
              <a:cs typeface="Montserrat"/>
              <a:sym typeface="Montserrat"/>
            </a:endParaRPr>
          </a:p>
        </p:txBody>
      </p:sp>
      <p:sp>
        <p:nvSpPr>
          <p:cNvPr id="469" name="Google Shape;469;p52"/>
          <p:cNvSpPr txBox="1"/>
          <p:nvPr/>
        </p:nvSpPr>
        <p:spPr>
          <a:xfrm>
            <a:off x="2412625" y="2622438"/>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GBP5-</a:t>
            </a:r>
            <a:r>
              <a:rPr lang="es"/>
              <a:t>P</a:t>
            </a:r>
            <a:r>
              <a:rPr lang="es"/>
              <a:t>SME2-AKT3-TNF-IL32</a:t>
            </a:r>
            <a:endParaRPr/>
          </a:p>
          <a:p>
            <a:pPr indent="0" lvl="0" marL="0" rtl="0" algn="l">
              <a:spcBef>
                <a:spcPts val="0"/>
              </a:spcBef>
              <a:spcAft>
                <a:spcPts val="0"/>
              </a:spcAft>
              <a:buNone/>
            </a:pPr>
            <a:r>
              <a:rPr lang="es"/>
              <a:t>FAAP24-EIF2AK2-HLA-B</a:t>
            </a:r>
            <a:endParaRPr/>
          </a:p>
          <a:p>
            <a:pPr indent="0" lvl="0" marL="0" rtl="0" algn="l">
              <a:spcBef>
                <a:spcPts val="0"/>
              </a:spcBef>
              <a:spcAft>
                <a:spcPts val="0"/>
              </a:spcAft>
              <a:buNone/>
            </a:pPr>
            <a:r>
              <a:rPr lang="es"/>
              <a:t>GBP4-PSMA4-SOD2-TRAF3</a:t>
            </a:r>
            <a:endParaRPr/>
          </a:p>
          <a:p>
            <a:pPr indent="0" lvl="0" marL="0" rtl="0" algn="l">
              <a:spcBef>
                <a:spcPts val="0"/>
              </a:spcBef>
              <a:spcAft>
                <a:spcPts val="0"/>
              </a:spcAft>
              <a:buNone/>
            </a:pPr>
            <a:r>
              <a:rPr lang="es"/>
              <a:t>SQSTM1-KPNB1-GBP3</a:t>
            </a:r>
            <a:endParaRPr/>
          </a:p>
          <a:p>
            <a:pPr indent="0" lvl="0" marL="0" rtl="0" algn="l">
              <a:spcBef>
                <a:spcPts val="0"/>
              </a:spcBef>
              <a:spcAft>
                <a:spcPts val="0"/>
              </a:spcAft>
              <a:buNone/>
            </a:pPr>
            <a:r>
              <a:rPr lang="es"/>
              <a:t>TNFSF13B-IF</a:t>
            </a:r>
            <a:r>
              <a:rPr lang="es"/>
              <a:t>IT1-....</a:t>
            </a:r>
            <a:endParaRPr/>
          </a:p>
        </p:txBody>
      </p:sp>
      <p:sp>
        <p:nvSpPr>
          <p:cNvPr id="470" name="Google Shape;470;p52"/>
          <p:cNvSpPr txBox="1"/>
          <p:nvPr/>
        </p:nvSpPr>
        <p:spPr>
          <a:xfrm>
            <a:off x="5752675" y="2622450"/>
            <a:ext cx="19518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t>PPIA-FN1-PRL-F13A1-CCR2-VAV1-CSF1R-EGR1-EIF4G3</a:t>
            </a:r>
            <a:endParaRPr/>
          </a:p>
          <a:p>
            <a:pPr indent="0" lvl="0" marL="0" rtl="0" algn="l">
              <a:spcBef>
                <a:spcPts val="0"/>
              </a:spcBef>
              <a:spcAft>
                <a:spcPts val="0"/>
              </a:spcAft>
              <a:buNone/>
            </a:pPr>
            <a:r>
              <a:rPr lang="es"/>
              <a:t>IL10-BLNK-ITGAM</a:t>
            </a:r>
            <a:endParaRPr/>
          </a:p>
          <a:p>
            <a:pPr indent="0" lvl="0" marL="0" rtl="0" algn="l">
              <a:spcBef>
                <a:spcPts val="0"/>
              </a:spcBef>
              <a:spcAft>
                <a:spcPts val="0"/>
              </a:spcAft>
              <a:buNone/>
            </a:pPr>
            <a:r>
              <a:rPr lang="es"/>
              <a:t>TGFB1-...</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Análisis de muestras M-CSF y GM-CSF</a:t>
            </a:r>
            <a:endParaRPr u="sng">
              <a:latin typeface="Montserrat"/>
              <a:ea typeface="Montserrat"/>
              <a:cs typeface="Montserrat"/>
              <a:sym typeface="Montserrat"/>
            </a:endParaRPr>
          </a:p>
        </p:txBody>
      </p:sp>
      <p:sp>
        <p:nvSpPr>
          <p:cNvPr id="476" name="Google Shape;476;p53"/>
          <p:cNvSpPr txBox="1"/>
          <p:nvPr>
            <p:ph idx="1" type="body"/>
          </p:nvPr>
        </p:nvSpPr>
        <p:spPr>
          <a:xfrm>
            <a:off x="316975" y="1017800"/>
            <a:ext cx="8520600" cy="1341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s"/>
              <a:t>Criterio clásico</a:t>
            </a:r>
            <a:endParaRPr/>
          </a:p>
          <a:p>
            <a:pPr indent="-317500" lvl="1" marL="914400" rtl="0" algn="l">
              <a:spcBef>
                <a:spcPts val="0"/>
              </a:spcBef>
              <a:spcAft>
                <a:spcPts val="0"/>
              </a:spcAft>
              <a:buSzPts val="1400"/>
              <a:buChar char="○"/>
            </a:pPr>
            <a:r>
              <a:rPr lang="es"/>
              <a:t>GM presenta un perfil similar y/o tendiendo al de un macrófago M1.</a:t>
            </a:r>
            <a:endParaRPr/>
          </a:p>
          <a:p>
            <a:pPr indent="-317500" lvl="1" marL="914400" rtl="0" algn="l">
              <a:spcBef>
                <a:spcPts val="0"/>
              </a:spcBef>
              <a:spcAft>
                <a:spcPts val="0"/>
              </a:spcAft>
              <a:buSzPts val="1400"/>
              <a:buChar char="○"/>
            </a:pPr>
            <a:r>
              <a:rPr lang="es"/>
              <a:t>M presenta un perfil similar y/o tendiendo al de un macrófago M2.</a:t>
            </a:r>
            <a:endParaRPr/>
          </a:p>
        </p:txBody>
      </p:sp>
      <p:sp>
        <p:nvSpPr>
          <p:cNvPr id="477" name="Google Shape;477;p53"/>
          <p:cNvSpPr txBox="1"/>
          <p:nvPr/>
        </p:nvSpPr>
        <p:spPr>
          <a:xfrm>
            <a:off x="316975" y="2629375"/>
            <a:ext cx="8520600" cy="1159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Roboto"/>
              <a:buChar char="●"/>
            </a:pPr>
            <a:r>
              <a:rPr lang="es" sz="1800">
                <a:solidFill>
                  <a:schemeClr val="dk2"/>
                </a:solidFill>
                <a:latin typeface="Roboto"/>
                <a:ea typeface="Roboto"/>
                <a:cs typeface="Roboto"/>
                <a:sym typeface="Roboto"/>
              </a:rPr>
              <a:t>Identificación del sexo de las muestras</a:t>
            </a:r>
            <a:endParaRPr sz="1800">
              <a:solidFill>
                <a:schemeClr val="dk2"/>
              </a:solidFill>
              <a:latin typeface="Roboto"/>
              <a:ea typeface="Roboto"/>
              <a:cs typeface="Roboto"/>
              <a:sym typeface="Roboto"/>
            </a:endParaRPr>
          </a:p>
          <a:p>
            <a:pPr indent="-317500" lvl="1" marL="914400" rtl="0" algn="l">
              <a:lnSpc>
                <a:spcPct val="115000"/>
              </a:lnSpc>
              <a:spcBef>
                <a:spcPts val="0"/>
              </a:spcBef>
              <a:spcAft>
                <a:spcPts val="0"/>
              </a:spcAft>
              <a:buClr>
                <a:schemeClr val="dk2"/>
              </a:buClr>
              <a:buSzPts val="1400"/>
              <a:buFont typeface="Roboto"/>
              <a:buChar char="○"/>
            </a:pPr>
            <a:r>
              <a:rPr lang="es">
                <a:solidFill>
                  <a:schemeClr val="dk2"/>
                </a:solidFill>
                <a:latin typeface="Roboto"/>
                <a:ea typeface="Roboto"/>
                <a:cs typeface="Roboto"/>
                <a:sym typeface="Roboto"/>
              </a:rPr>
              <a:t>Tomamos en cuenta el sexo determinado en muestras anteriores. Asumiendo que el numeral indica un dador, se pudieron vincular casi todas las nuevas muestras a un sexo determinado.</a:t>
            </a:r>
            <a:endParaRPr sz="1800">
              <a:solidFill>
                <a:schemeClr val="dk2"/>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4"/>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483" name="Google Shape;483;p54"/>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femeninas (lfc &lt; -0.58), y que se encuentran en las listas deseadas:</a:t>
            </a:r>
            <a:endParaRPr b="1" i="1"/>
          </a:p>
          <a:p>
            <a:pPr indent="-334328" lvl="0" marL="457200" rtl="0" algn="l">
              <a:spcBef>
                <a:spcPts val="1200"/>
              </a:spcBef>
              <a:spcAft>
                <a:spcPts val="0"/>
              </a:spcAft>
              <a:buSzPct val="100000"/>
              <a:buChar char="●"/>
            </a:pPr>
            <a:r>
              <a:rPr i="1" lang="es"/>
              <a:t>Interleukin-10 signaling: </a:t>
            </a:r>
            <a:r>
              <a:rPr b="1" i="1" lang="es"/>
              <a:t>CCL4, CXCL1, CSF3, IL10RA, TNFRSF1A, IL10</a:t>
            </a:r>
            <a:endParaRPr b="1" i="1"/>
          </a:p>
          <a:p>
            <a:pPr indent="-334328" lvl="0" marL="457200" rtl="0" algn="l">
              <a:spcBef>
                <a:spcPts val="0"/>
              </a:spcBef>
              <a:spcAft>
                <a:spcPts val="0"/>
              </a:spcAft>
              <a:buSzPct val="100000"/>
              <a:buChar char="●"/>
            </a:pPr>
            <a:r>
              <a:rPr i="1" lang="es"/>
              <a:t>Signaling by TGF-beta Receptor Complex: </a:t>
            </a:r>
            <a:r>
              <a:rPr b="1" i="1" lang="es"/>
              <a:t> TGFBR3</a:t>
            </a:r>
            <a:endParaRPr b="1" i="1"/>
          </a:p>
          <a:p>
            <a:pPr indent="-334328" lvl="0" marL="457200" rtl="0" algn="l">
              <a:spcBef>
                <a:spcPts val="0"/>
              </a:spcBef>
              <a:spcAft>
                <a:spcPts val="0"/>
              </a:spcAft>
              <a:buSzPct val="100000"/>
              <a:buChar char="●"/>
            </a:pPr>
            <a:r>
              <a:rPr i="1" lang="es"/>
              <a:t>Glycolysis: </a:t>
            </a:r>
            <a:r>
              <a:rPr b="1" i="1" lang="es"/>
              <a:t>PGK2</a:t>
            </a:r>
            <a:endParaRPr b="1" i="1"/>
          </a:p>
          <a:p>
            <a:pPr indent="-334328" lvl="0" marL="457200" rtl="0" algn="l">
              <a:spcBef>
                <a:spcPts val="0"/>
              </a:spcBef>
              <a:spcAft>
                <a:spcPts val="0"/>
              </a:spcAft>
              <a:buSzPct val="100000"/>
              <a:buChar char="●"/>
            </a:pPr>
            <a:r>
              <a:rPr i="1" lang="es"/>
              <a:t>Regulation of lipid metabolism by PPARalpha: </a:t>
            </a:r>
            <a:r>
              <a:rPr b="1" i="1" lang="es"/>
              <a:t>PPARGC1A, APOA2, CPT1A</a:t>
            </a:r>
            <a:endParaRPr b="1" i="1"/>
          </a:p>
          <a:p>
            <a:pPr indent="-334328" lvl="0" marL="457200" rtl="0" algn="l">
              <a:spcBef>
                <a:spcPts val="0"/>
              </a:spcBef>
              <a:spcAft>
                <a:spcPts val="0"/>
              </a:spcAft>
              <a:buSzPct val="100000"/>
              <a:buChar char="●"/>
            </a:pPr>
            <a:r>
              <a:rPr i="1" lang="es"/>
              <a:t>Mitochondrial Fatty Acid Beta-Oxidation: </a:t>
            </a:r>
            <a:r>
              <a:rPr b="1" i="1" lang="es"/>
              <a:t>ACADL</a:t>
            </a:r>
            <a:endParaRPr b="1" i="1"/>
          </a:p>
          <a:p>
            <a:pPr indent="-334328" lvl="0" marL="457200" rtl="0" algn="l">
              <a:spcBef>
                <a:spcPts val="0"/>
              </a:spcBef>
              <a:spcAft>
                <a:spcPts val="0"/>
              </a:spcAft>
              <a:buSzPct val="114341"/>
              <a:buChar char="●"/>
            </a:pPr>
            <a:r>
              <a:rPr i="1" lang="es"/>
              <a:t>Binding and uptake of ligands by scavenger receptors</a:t>
            </a:r>
            <a:r>
              <a:rPr i="1" lang="es" sz="1574"/>
              <a:t>: </a:t>
            </a:r>
            <a:r>
              <a:rPr b="1" i="1" lang="es" sz="1574"/>
              <a:t>STAB1, IGKV1D-16, CD163, ALB, COL3A1</a:t>
            </a:r>
            <a:endParaRPr b="1" i="1" sz="1574"/>
          </a:p>
          <a:p>
            <a:pPr indent="-321067" lvl="0" marL="457200" rtl="0" algn="l">
              <a:spcBef>
                <a:spcPts val="0"/>
              </a:spcBef>
              <a:spcAft>
                <a:spcPts val="0"/>
              </a:spcAft>
              <a:buSzPct val="89957"/>
              <a:buChar char="●"/>
            </a:pPr>
            <a:r>
              <a:rPr i="1" lang="es" sz="1750"/>
              <a:t>Unfolded Protein Response</a:t>
            </a:r>
            <a:r>
              <a:rPr i="1" lang="es" sz="1574"/>
              <a:t>: </a:t>
            </a:r>
            <a:r>
              <a:rPr b="1" i="1" lang="es" sz="1574"/>
              <a:t>DCTN1</a:t>
            </a:r>
            <a:endParaRPr b="1" i="1" sz="1574"/>
          </a:p>
          <a:p>
            <a:pPr indent="-334328" lvl="0" marL="457200" rtl="0" algn="l">
              <a:spcBef>
                <a:spcPts val="0"/>
              </a:spcBef>
              <a:spcAft>
                <a:spcPts val="0"/>
              </a:spcAft>
              <a:buSzPct val="100000"/>
              <a:buChar char="●"/>
            </a:pPr>
            <a:r>
              <a:rPr i="1" lang="es"/>
              <a:t>Cellular Senescence: </a:t>
            </a:r>
            <a:r>
              <a:rPr b="1" i="1" lang="es"/>
              <a:t>MRE11, ETS2</a:t>
            </a:r>
            <a:endParaRPr b="1" i="1"/>
          </a:p>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5"/>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489" name="Google Shape;489;p55"/>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femeninas (lfc &lt; -0.58), y que se encuentran en las listas deseadas:</a:t>
            </a:r>
            <a:endParaRPr>
              <a:latin typeface="Montserrat"/>
              <a:ea typeface="Montserrat"/>
              <a:cs typeface="Montserrat"/>
              <a:sym typeface="Montserrat"/>
            </a:endParaRPr>
          </a:p>
          <a:p>
            <a:pPr indent="-283580" lvl="0" marL="457200" rtl="0" algn="l">
              <a:spcBef>
                <a:spcPts val="1200"/>
              </a:spcBef>
              <a:spcAft>
                <a:spcPts val="0"/>
              </a:spcAft>
              <a:buSzPct val="101564"/>
              <a:buChar char="●"/>
            </a:pPr>
            <a:r>
              <a:rPr i="1" lang="es" sz="1550">
                <a:solidFill>
                  <a:srgbClr val="000000"/>
                </a:solidFill>
              </a:rPr>
              <a:t>Glycogen metabolism</a:t>
            </a:r>
            <a:r>
              <a:rPr i="1" lang="es" sz="1574"/>
              <a:t>: </a:t>
            </a:r>
            <a:r>
              <a:rPr b="1" i="1" lang="es" sz="1574"/>
              <a:t>PGK2</a:t>
            </a:r>
            <a:endParaRPr b="1" i="1" sz="1574"/>
          </a:p>
          <a:p>
            <a:pPr indent="-283580" lvl="0" marL="457200" rtl="0" algn="l">
              <a:spcBef>
                <a:spcPts val="0"/>
              </a:spcBef>
              <a:spcAft>
                <a:spcPts val="0"/>
              </a:spcAft>
              <a:buSzPct val="101564"/>
              <a:buChar char="●"/>
            </a:pPr>
            <a:r>
              <a:rPr i="1" lang="es" sz="1550">
                <a:solidFill>
                  <a:srgbClr val="000000"/>
                </a:solidFill>
              </a:rPr>
              <a:t>Glycosaminoglycan metabolism</a:t>
            </a:r>
            <a:r>
              <a:rPr i="1" lang="es" sz="1574"/>
              <a:t>: </a:t>
            </a:r>
            <a:r>
              <a:rPr b="1" i="1" lang="es" sz="1574"/>
              <a:t>HS6ST2, GPC6, HS6ST3, HS3ST2</a:t>
            </a:r>
            <a:endParaRPr b="1" i="1" sz="1574"/>
          </a:p>
          <a:p>
            <a:pPr indent="-283580" lvl="0" marL="457200" rtl="0" algn="l">
              <a:spcBef>
                <a:spcPts val="0"/>
              </a:spcBef>
              <a:spcAft>
                <a:spcPts val="0"/>
              </a:spcAft>
              <a:buSzPct val="101564"/>
              <a:buChar char="●"/>
            </a:pPr>
            <a:r>
              <a:rPr i="1" lang="es" sz="1550">
                <a:solidFill>
                  <a:srgbClr val="000000"/>
                </a:solidFill>
                <a:highlight>
                  <a:srgbClr val="FFFF00"/>
                </a:highlight>
              </a:rPr>
              <a:t>Inositol phosphate metabolism</a:t>
            </a:r>
            <a:r>
              <a:rPr i="1" lang="es" sz="1574"/>
              <a:t>: </a:t>
            </a:r>
            <a:r>
              <a:rPr b="1" i="1" lang="es" sz="1574"/>
              <a:t>INPP4B</a:t>
            </a:r>
            <a:endParaRPr b="1"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Fatty AcylCoA biosynthesis</a:t>
            </a:r>
            <a:r>
              <a:rPr i="1" lang="es" sz="1574"/>
              <a:t>: </a:t>
            </a:r>
            <a:r>
              <a:rPr b="1" i="1" lang="es" sz="1574"/>
              <a:t>ACSL6</a:t>
            </a:r>
            <a:endParaRPr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Arachdonic Acid metabolism</a:t>
            </a:r>
            <a:r>
              <a:rPr i="1" lang="es" sz="1574"/>
              <a:t>: </a:t>
            </a:r>
            <a:r>
              <a:rPr b="1" i="1" lang="es" sz="1574"/>
              <a:t>CYP2U1, PTGIS, CYP8B1, CYP2C8, PON1</a:t>
            </a:r>
            <a:endParaRPr b="1" i="1" sz="1574"/>
          </a:p>
          <a:p>
            <a:pPr indent="-283580" lvl="0" marL="457200" rtl="0" algn="l">
              <a:spcBef>
                <a:spcPts val="0"/>
              </a:spcBef>
              <a:spcAft>
                <a:spcPts val="0"/>
              </a:spcAft>
              <a:buSzPct val="101564"/>
              <a:buChar char="●"/>
            </a:pPr>
            <a:r>
              <a:rPr i="1" lang="es" sz="1550">
                <a:solidFill>
                  <a:srgbClr val="000000"/>
                </a:solidFill>
                <a:highlight>
                  <a:srgbClr val="FF9900"/>
                </a:highlight>
              </a:rPr>
              <a:t>Carnitine metabolism</a:t>
            </a:r>
            <a:r>
              <a:rPr i="1" lang="es" sz="1574">
                <a:highlight>
                  <a:srgbClr val="FF9900"/>
                </a:highlight>
              </a:rPr>
              <a:t>: </a:t>
            </a:r>
            <a:r>
              <a:rPr b="1" i="1" lang="es" sz="1574">
                <a:highlight>
                  <a:srgbClr val="FF9900"/>
                </a:highlight>
              </a:rPr>
              <a:t>CPT1A</a:t>
            </a:r>
            <a:endParaRPr b="1" i="1" sz="1574">
              <a:highlight>
                <a:srgbClr val="FF9900"/>
              </a:highlight>
            </a:endParaRPr>
          </a:p>
          <a:p>
            <a:pPr indent="-283580" lvl="0" marL="457200" rtl="0" algn="l">
              <a:spcBef>
                <a:spcPts val="0"/>
              </a:spcBef>
              <a:spcAft>
                <a:spcPts val="0"/>
              </a:spcAft>
              <a:buSzPct val="101564"/>
              <a:buChar char="●"/>
            </a:pPr>
            <a:r>
              <a:rPr i="1" lang="es" sz="1550">
                <a:solidFill>
                  <a:srgbClr val="000000"/>
                </a:solidFill>
                <a:highlight>
                  <a:srgbClr val="FF9900"/>
                </a:highlight>
                <a:latin typeface="Arial"/>
                <a:ea typeface="Arial"/>
                <a:cs typeface="Arial"/>
                <a:sym typeface="Arial"/>
              </a:rPr>
              <a:t>B oxidation</a:t>
            </a:r>
            <a:r>
              <a:rPr i="1" lang="es" sz="1574">
                <a:highlight>
                  <a:srgbClr val="FF9900"/>
                </a:highlight>
              </a:rPr>
              <a:t>: </a:t>
            </a:r>
            <a:r>
              <a:rPr b="1" i="1" lang="es" sz="1574">
                <a:highlight>
                  <a:srgbClr val="FF9900"/>
                </a:highlight>
              </a:rPr>
              <a:t>ACADL</a:t>
            </a:r>
            <a:endParaRPr i="1" sz="1574">
              <a:highlight>
                <a:srgbClr val="FF9900"/>
              </a:highlight>
            </a:endParaRPr>
          </a:p>
          <a:p>
            <a:pPr indent="-283580" lvl="0" marL="457200" rtl="0" algn="l">
              <a:spcBef>
                <a:spcPts val="0"/>
              </a:spcBef>
              <a:spcAft>
                <a:spcPts val="0"/>
              </a:spcAft>
              <a:buSzPct val="108568"/>
              <a:buChar char="●"/>
            </a:pPr>
            <a:r>
              <a:rPr i="1" lang="es" sz="1450">
                <a:solidFill>
                  <a:srgbClr val="000000"/>
                </a:solidFill>
                <a:highlight>
                  <a:srgbClr val="FF9900"/>
                </a:highlight>
                <a:latin typeface="Arial"/>
                <a:ea typeface="Arial"/>
                <a:cs typeface="Arial"/>
                <a:sym typeface="Arial"/>
              </a:rPr>
              <a:t>Triglyceride catabolism</a:t>
            </a:r>
            <a:r>
              <a:rPr i="1" lang="es" sz="1574">
                <a:highlight>
                  <a:srgbClr val="FF9900"/>
                </a:highlight>
              </a:rPr>
              <a:t>: </a:t>
            </a:r>
            <a:r>
              <a:rPr b="1" i="1" lang="es" sz="1574">
                <a:highlight>
                  <a:srgbClr val="FF9900"/>
                </a:highlight>
              </a:rPr>
              <a:t>FABP7</a:t>
            </a:r>
            <a:endParaRPr i="1" sz="1574">
              <a:highlight>
                <a:srgbClr val="FF9900"/>
              </a:highlight>
            </a:endParaRPr>
          </a:p>
          <a:p>
            <a:pPr indent="-283580" lvl="0" marL="457200" rtl="0" algn="l">
              <a:spcBef>
                <a:spcPts val="0"/>
              </a:spcBef>
              <a:spcAft>
                <a:spcPts val="0"/>
              </a:spcAft>
              <a:buSzPct val="108568"/>
              <a:buChar char="●"/>
            </a:pPr>
            <a:r>
              <a:rPr i="1" lang="es" sz="1450">
                <a:solidFill>
                  <a:srgbClr val="000000"/>
                </a:solidFill>
                <a:highlight>
                  <a:srgbClr val="FF9900"/>
                </a:highlight>
              </a:rPr>
              <a:t>Phospholipid metabolism</a:t>
            </a:r>
            <a:r>
              <a:rPr i="1" lang="es" sz="1574">
                <a:highlight>
                  <a:srgbClr val="FF9900"/>
                </a:highlight>
              </a:rPr>
              <a:t>: </a:t>
            </a:r>
            <a:r>
              <a:rPr b="1" i="1" lang="es" sz="1574">
                <a:highlight>
                  <a:srgbClr val="FF9900"/>
                </a:highlight>
              </a:rPr>
              <a:t>PCYT1B, PLB1, PLA2G10, INPP4B, PLEKHA2, PLAAT1</a:t>
            </a:r>
            <a:endParaRPr b="1" i="1" sz="1574">
              <a:highlight>
                <a:srgbClr val="FF9900"/>
              </a:highlight>
            </a:endParaRPr>
          </a:p>
          <a:p>
            <a:pPr indent="-277495" lvl="0" marL="457200" rtl="0" algn="l">
              <a:spcBef>
                <a:spcPts val="0"/>
              </a:spcBef>
              <a:spcAft>
                <a:spcPts val="0"/>
              </a:spcAft>
              <a:buSzPct val="100000"/>
              <a:buChar char="●"/>
            </a:pPr>
            <a:r>
              <a:rPr i="1" lang="es" sz="1400">
                <a:solidFill>
                  <a:srgbClr val="000000"/>
                </a:solidFill>
                <a:highlight>
                  <a:srgbClr val="FF9900"/>
                </a:highlight>
              </a:rPr>
              <a:t>Sphingolipid metabolism</a:t>
            </a:r>
            <a:r>
              <a:rPr i="1" lang="es" sz="1400">
                <a:solidFill>
                  <a:srgbClr val="000000"/>
                </a:solidFill>
              </a:rPr>
              <a:t>: </a:t>
            </a:r>
            <a:r>
              <a:rPr b="1" i="1" lang="es" sz="1550">
                <a:solidFill>
                  <a:srgbClr val="000000"/>
                </a:solidFill>
              </a:rPr>
              <a:t>PPM1L, CERS3</a:t>
            </a:r>
            <a:endParaRPr b="1" i="1" sz="1550">
              <a:solidFill>
                <a:srgbClr val="000000"/>
              </a:solidFill>
            </a:endParaRPr>
          </a:p>
          <a:p>
            <a:pPr indent="-282734" lvl="0" marL="457200" rtl="0" algn="l">
              <a:spcBef>
                <a:spcPts val="0"/>
              </a:spcBef>
              <a:spcAft>
                <a:spcPts val="0"/>
              </a:spcAft>
              <a:buClr>
                <a:srgbClr val="000000"/>
              </a:buClr>
              <a:buSzPct val="108214"/>
              <a:buChar char="●"/>
            </a:pPr>
            <a:r>
              <a:rPr i="1" lang="es" sz="1432">
                <a:solidFill>
                  <a:srgbClr val="000000"/>
                </a:solidFill>
              </a:rPr>
              <a:t>Steroids metabolism</a:t>
            </a:r>
            <a:r>
              <a:rPr i="1" lang="es" sz="1550">
                <a:solidFill>
                  <a:srgbClr val="000000"/>
                </a:solidFill>
              </a:rPr>
              <a:t>: </a:t>
            </a:r>
            <a:r>
              <a:rPr b="1" i="1" lang="es" sz="1550">
                <a:solidFill>
                  <a:srgbClr val="000000"/>
                </a:solidFill>
              </a:rPr>
              <a:t>ALB, PTGIS, CYP8B1, CYP19A1, SLCO1B1, SLCO1B3</a:t>
            </a:r>
            <a:endParaRPr b="1" i="1" sz="1550">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Nucleotides metabolism: </a:t>
            </a:r>
            <a:r>
              <a:rPr b="1" i="1" lang="es" sz="1432">
                <a:solidFill>
                  <a:srgbClr val="000000"/>
                </a:solidFill>
              </a:rPr>
              <a:t>ADA</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Cobalamin metabolism: </a:t>
            </a:r>
            <a:r>
              <a:rPr b="1" i="1" lang="es" sz="1432">
                <a:solidFill>
                  <a:srgbClr val="000000"/>
                </a:solidFill>
              </a:rPr>
              <a:t>TCN2</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Nicotinate metabolism: </a:t>
            </a:r>
            <a:r>
              <a:rPr b="1" i="1" lang="es" sz="1432">
                <a:solidFill>
                  <a:srgbClr val="000000"/>
                </a:solidFill>
              </a:rPr>
              <a:t>PTGIS, CYP8B1, SLC5A8</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highlight>
                  <a:srgbClr val="FFFF00"/>
                </a:highlight>
              </a:rPr>
              <a:t>Folate metabolism</a:t>
            </a:r>
            <a:r>
              <a:rPr i="1" lang="es" sz="1432">
                <a:solidFill>
                  <a:srgbClr val="000000"/>
                </a:solidFill>
              </a:rPr>
              <a:t>: </a:t>
            </a:r>
            <a:r>
              <a:rPr b="1" i="1" lang="es" sz="1432">
                <a:solidFill>
                  <a:srgbClr val="000000"/>
                </a:solidFill>
              </a:rPr>
              <a:t>FOLR2</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Reinoid metabolism: </a:t>
            </a:r>
            <a:r>
              <a:rPr b="1" i="1" lang="es" sz="1432">
                <a:solidFill>
                  <a:srgbClr val="000000"/>
                </a:solidFill>
              </a:rPr>
              <a:t>APOA2, PLB1, GPC6, RBP1</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Vitamin E metabolism: </a:t>
            </a:r>
            <a:r>
              <a:rPr b="1" i="1" lang="es" sz="1432">
                <a:solidFill>
                  <a:srgbClr val="000000"/>
                </a:solidFill>
              </a:rPr>
              <a:t>TTPA</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Surfactant metabolism: </a:t>
            </a:r>
            <a:r>
              <a:rPr b="1" i="1" lang="es" sz="1432">
                <a:solidFill>
                  <a:srgbClr val="000000"/>
                </a:solidFill>
              </a:rPr>
              <a:t>ADA2, SLC34A2</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Amyloid fiber formation: </a:t>
            </a:r>
            <a:r>
              <a:rPr b="1" i="1" lang="es" sz="1432">
                <a:solidFill>
                  <a:srgbClr val="000000"/>
                </a:solidFill>
              </a:rPr>
              <a:t>FGA</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HDMs demethylate histones: </a:t>
            </a:r>
            <a:r>
              <a:rPr b="1" i="1" lang="es" sz="1432">
                <a:solidFill>
                  <a:srgbClr val="000000"/>
                </a:solidFill>
              </a:rPr>
              <a:t>PHF2, UTY</a:t>
            </a:r>
            <a:endParaRPr b="1" i="1" sz="1432">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6"/>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495" name="Google Shape;495;p56"/>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femeninas (lfc &lt; -0.58), y que se encuentran en las listas deseadas:</a:t>
            </a:r>
            <a:endParaRPr>
              <a:latin typeface="Montserrat"/>
              <a:ea typeface="Montserrat"/>
              <a:cs typeface="Montserrat"/>
              <a:sym typeface="Montserrat"/>
            </a:endParaRPr>
          </a:p>
          <a:p>
            <a:pPr indent="-283580" lvl="0" marL="457200" rtl="0" algn="l">
              <a:spcBef>
                <a:spcPts val="1200"/>
              </a:spcBef>
              <a:spcAft>
                <a:spcPts val="0"/>
              </a:spcAft>
              <a:buSzPct val="101564"/>
              <a:buChar char="●"/>
            </a:pPr>
            <a:r>
              <a:rPr i="1" lang="es" sz="1550">
                <a:solidFill>
                  <a:srgbClr val="000000"/>
                </a:solidFill>
              </a:rPr>
              <a:t>Aspartate asparigine metabolism</a:t>
            </a:r>
            <a:r>
              <a:rPr i="1" lang="es" sz="1574"/>
              <a:t>: </a:t>
            </a:r>
            <a:r>
              <a:rPr b="1" i="1" lang="es" sz="1574"/>
              <a:t>FOLH1B</a:t>
            </a:r>
            <a:endParaRPr b="1" i="1" sz="1574"/>
          </a:p>
          <a:p>
            <a:pPr indent="-283580" lvl="0" marL="457200" rtl="0" algn="l">
              <a:spcBef>
                <a:spcPts val="0"/>
              </a:spcBef>
              <a:spcAft>
                <a:spcPts val="0"/>
              </a:spcAft>
              <a:buSzPct val="101564"/>
              <a:buChar char="●"/>
            </a:pPr>
            <a:r>
              <a:rPr i="1" lang="es" sz="1550">
                <a:solidFill>
                  <a:srgbClr val="000000"/>
                </a:solidFill>
              </a:rPr>
              <a:t>Sulfur aa metabolism</a:t>
            </a:r>
            <a:r>
              <a:rPr i="1" lang="es" sz="1574"/>
              <a:t>: </a:t>
            </a:r>
            <a:r>
              <a:rPr b="1" i="1" lang="es" sz="1574"/>
              <a:t>CDO1</a:t>
            </a:r>
            <a:endParaRPr b="1" i="1" sz="1574"/>
          </a:p>
          <a:p>
            <a:pPr indent="-283580" lvl="0" marL="457200" rtl="0" algn="l">
              <a:spcBef>
                <a:spcPts val="0"/>
              </a:spcBef>
              <a:spcAft>
                <a:spcPts val="0"/>
              </a:spcAft>
              <a:buSzPct val="101564"/>
              <a:buChar char="●"/>
            </a:pPr>
            <a:r>
              <a:rPr i="1" lang="es" sz="1550">
                <a:solidFill>
                  <a:srgbClr val="000000"/>
                </a:solidFill>
              </a:rPr>
              <a:t>Urea cycle</a:t>
            </a:r>
            <a:r>
              <a:rPr i="1" lang="es" sz="1574"/>
              <a:t>: </a:t>
            </a:r>
            <a:r>
              <a:rPr b="1" i="1" lang="es" sz="1574"/>
              <a:t>CPS1</a:t>
            </a:r>
            <a:endParaRPr b="1"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Reversible hydration of CO2</a:t>
            </a:r>
            <a:r>
              <a:rPr i="1" lang="es" sz="1574"/>
              <a:t>: </a:t>
            </a:r>
            <a:r>
              <a:rPr b="1" i="1" lang="es" sz="1574"/>
              <a:t>CA3</a:t>
            </a:r>
            <a:endParaRPr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protein folding</a:t>
            </a:r>
            <a:r>
              <a:rPr i="1" lang="es" sz="1574"/>
              <a:t>: </a:t>
            </a:r>
            <a:r>
              <a:rPr b="1" i="1" lang="es" sz="1574"/>
              <a:t>GNGT1, GNG2</a:t>
            </a:r>
            <a:endParaRPr b="1" i="1" sz="1574"/>
          </a:p>
          <a:p>
            <a:pPr indent="-283580" lvl="0" marL="457200" rtl="0" algn="l">
              <a:spcBef>
                <a:spcPts val="0"/>
              </a:spcBef>
              <a:spcAft>
                <a:spcPts val="0"/>
              </a:spcAft>
              <a:buSzPct val="101564"/>
              <a:buChar char="●"/>
            </a:pPr>
            <a:r>
              <a:rPr i="1" lang="es" sz="1550">
                <a:solidFill>
                  <a:srgbClr val="000000"/>
                </a:solidFill>
              </a:rPr>
              <a:t>C</a:t>
            </a:r>
            <a:r>
              <a:rPr i="1" lang="es" sz="1550">
                <a:solidFill>
                  <a:srgbClr val="000000"/>
                </a:solidFill>
                <a:highlight>
                  <a:srgbClr val="FF9900"/>
                </a:highlight>
              </a:rPr>
              <a:t>arnitine metabolism</a:t>
            </a:r>
            <a:r>
              <a:rPr i="1" lang="es" sz="1574">
                <a:highlight>
                  <a:srgbClr val="FF9900"/>
                </a:highlight>
              </a:rPr>
              <a:t>: </a:t>
            </a:r>
            <a:r>
              <a:rPr b="1" i="1" lang="es" sz="1574">
                <a:highlight>
                  <a:srgbClr val="FF9900"/>
                </a:highlight>
              </a:rPr>
              <a:t>CPT1A</a:t>
            </a:r>
            <a:endParaRPr b="1" i="1" sz="1574">
              <a:highlight>
                <a:srgbClr val="FF9900"/>
              </a:highlight>
            </a:endParaRPr>
          </a:p>
          <a:p>
            <a:pPr indent="-283580" lvl="0" marL="457200" rtl="0" algn="l">
              <a:spcBef>
                <a:spcPts val="0"/>
              </a:spcBef>
              <a:spcAft>
                <a:spcPts val="0"/>
              </a:spcAft>
              <a:buSzPct val="101564"/>
              <a:buChar char="●"/>
            </a:pPr>
            <a:r>
              <a:rPr i="1" lang="es" sz="1550">
                <a:solidFill>
                  <a:srgbClr val="000000"/>
                </a:solidFill>
                <a:highlight>
                  <a:srgbClr val="FF9900"/>
                </a:highlight>
                <a:latin typeface="Arial"/>
                <a:ea typeface="Arial"/>
                <a:cs typeface="Arial"/>
                <a:sym typeface="Arial"/>
              </a:rPr>
              <a:t>B oxidation</a:t>
            </a:r>
            <a:r>
              <a:rPr i="1" lang="es" sz="1574">
                <a:highlight>
                  <a:srgbClr val="FF9900"/>
                </a:highlight>
              </a:rPr>
              <a:t>: </a:t>
            </a:r>
            <a:r>
              <a:rPr b="1" i="1" lang="es" sz="1574">
                <a:highlight>
                  <a:srgbClr val="FF9900"/>
                </a:highlight>
              </a:rPr>
              <a:t>ACADL</a:t>
            </a:r>
            <a:endParaRPr i="1" sz="1574">
              <a:highlight>
                <a:srgbClr val="FF9900"/>
              </a:highlight>
            </a:endParaRPr>
          </a:p>
          <a:p>
            <a:pPr indent="-283580" lvl="0" marL="457200" rtl="0" algn="l">
              <a:spcBef>
                <a:spcPts val="0"/>
              </a:spcBef>
              <a:spcAft>
                <a:spcPts val="0"/>
              </a:spcAft>
              <a:buSzPct val="108568"/>
              <a:buChar char="●"/>
            </a:pPr>
            <a:r>
              <a:rPr i="1" lang="es" sz="1450">
                <a:solidFill>
                  <a:srgbClr val="000000"/>
                </a:solidFill>
                <a:latin typeface="Arial"/>
                <a:ea typeface="Arial"/>
                <a:cs typeface="Arial"/>
                <a:sym typeface="Arial"/>
              </a:rPr>
              <a:t>Post-translational modification: synthesis of GPI-anchored proteins</a:t>
            </a:r>
            <a:r>
              <a:rPr i="1" lang="es" sz="1574"/>
              <a:t>: </a:t>
            </a:r>
            <a:r>
              <a:rPr b="1" i="1" lang="es" sz="1574"/>
              <a:t>THY1, PRND, FOLR2, CNTN4, NTNG1</a:t>
            </a:r>
            <a:endParaRPr i="1" sz="1574"/>
          </a:p>
          <a:p>
            <a:pPr indent="-283580" lvl="0" marL="457200" rtl="0" algn="l">
              <a:spcBef>
                <a:spcPts val="0"/>
              </a:spcBef>
              <a:spcAft>
                <a:spcPts val="0"/>
              </a:spcAft>
              <a:buSzPct val="108568"/>
              <a:buChar char="●"/>
            </a:pPr>
            <a:r>
              <a:rPr i="1" lang="es" sz="1450">
                <a:solidFill>
                  <a:srgbClr val="000000"/>
                </a:solidFill>
              </a:rPr>
              <a:t>Asparagine N-linked glycosylation</a:t>
            </a:r>
            <a:r>
              <a:rPr i="1" lang="es" sz="1574"/>
              <a:t>: </a:t>
            </a:r>
            <a:r>
              <a:rPr b="1" i="1" lang="es" sz="1574"/>
              <a:t>RENBP, ST6GAL2, DCTN1, ST8SIA3</a:t>
            </a:r>
            <a:endParaRPr b="1" i="1" sz="1574"/>
          </a:p>
          <a:p>
            <a:pPr indent="-277495" lvl="0" marL="457200" rtl="0" algn="l">
              <a:spcBef>
                <a:spcPts val="0"/>
              </a:spcBef>
              <a:spcAft>
                <a:spcPts val="0"/>
              </a:spcAft>
              <a:buSzPct val="100000"/>
              <a:buChar char="●"/>
            </a:pPr>
            <a:r>
              <a:rPr i="1" lang="es" sz="1400">
                <a:solidFill>
                  <a:srgbClr val="000000"/>
                </a:solidFill>
              </a:rPr>
              <a:t>O-linked glycosylation: </a:t>
            </a:r>
            <a:r>
              <a:rPr b="1" i="1" lang="es" sz="1550">
                <a:solidFill>
                  <a:srgbClr val="000000"/>
                </a:solidFill>
              </a:rPr>
              <a:t>MUC17, ADAMTS9</a:t>
            </a:r>
            <a:endParaRPr b="1" i="1" sz="1550">
              <a:solidFill>
                <a:srgbClr val="000000"/>
              </a:solidFill>
            </a:endParaRPr>
          </a:p>
          <a:p>
            <a:pPr indent="-282734" lvl="0" marL="457200" rtl="0" algn="l">
              <a:spcBef>
                <a:spcPts val="0"/>
              </a:spcBef>
              <a:spcAft>
                <a:spcPts val="0"/>
              </a:spcAft>
              <a:buClr>
                <a:srgbClr val="000000"/>
              </a:buClr>
              <a:buSzPct val="108214"/>
              <a:buChar char="●"/>
            </a:pPr>
            <a:r>
              <a:rPr i="1" lang="es" sz="1432">
                <a:solidFill>
                  <a:srgbClr val="000000"/>
                </a:solidFill>
              </a:rPr>
              <a:t>SUMOylation</a:t>
            </a:r>
            <a:r>
              <a:rPr i="1" lang="es" sz="1550">
                <a:solidFill>
                  <a:srgbClr val="000000"/>
                </a:solidFill>
              </a:rPr>
              <a:t>: </a:t>
            </a:r>
            <a:r>
              <a:rPr b="1" i="1" lang="es" sz="1550">
                <a:solidFill>
                  <a:srgbClr val="000000"/>
                </a:solidFill>
              </a:rPr>
              <a:t>SATB1, NR1I2, PPARGC1A</a:t>
            </a:r>
            <a:endParaRPr b="1" i="1" sz="1550">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Deubiquitination: </a:t>
            </a:r>
            <a:r>
              <a:rPr b="1" i="1" lang="es" sz="1432">
                <a:solidFill>
                  <a:srgbClr val="000000"/>
                </a:solidFill>
              </a:rPr>
              <a:t>MBD6, ATXN3L</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RAB geranylgeranylation: </a:t>
            </a:r>
            <a:r>
              <a:rPr b="1" i="1" lang="es" sz="1432">
                <a:solidFill>
                  <a:srgbClr val="000000"/>
                </a:solidFill>
              </a:rPr>
              <a:t>RAB25, RAB3C</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Neddylation: </a:t>
            </a:r>
            <a:r>
              <a:rPr b="1" i="1" lang="es" sz="1432">
                <a:solidFill>
                  <a:srgbClr val="000000"/>
                </a:solidFill>
              </a:rPr>
              <a:t>HIF3A, ASB11</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Post-translational protein phosphorylation: </a:t>
            </a:r>
            <a:r>
              <a:rPr b="1" i="1" lang="es" sz="1432">
                <a:solidFill>
                  <a:srgbClr val="000000"/>
                </a:solidFill>
              </a:rPr>
              <a:t>FGA, SCG2, ALB, APOA2, BMP4, DMP1, SERPIND1, GOLM1, FGG</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Peptine hormone metabolism: </a:t>
            </a:r>
            <a:r>
              <a:rPr b="1" i="1" lang="es" sz="1432">
                <a:solidFill>
                  <a:srgbClr val="000000"/>
                </a:solidFill>
              </a:rPr>
              <a:t>FGG, ISL1, LEP, IGF1</a:t>
            </a:r>
            <a:endParaRPr b="1" i="1" sz="1432">
              <a:solidFill>
                <a:srgbClr val="000000"/>
              </a:solidFill>
            </a:endParaRPr>
          </a:p>
          <a:p>
            <a:pPr indent="-278625" lvl="0" marL="457200" rtl="0" algn="l">
              <a:spcBef>
                <a:spcPts val="0"/>
              </a:spcBef>
              <a:spcAft>
                <a:spcPts val="0"/>
              </a:spcAft>
              <a:buClr>
                <a:srgbClr val="000000"/>
              </a:buClr>
              <a:buSzPct val="100265"/>
              <a:buChar char="●"/>
            </a:pPr>
            <a:r>
              <a:rPr i="1" lang="es" sz="1429">
                <a:solidFill>
                  <a:srgbClr val="000000"/>
                </a:solidFill>
              </a:rPr>
              <a:t>Regulation of IGF transport and uptake by Insulin-like Growth Factor Binding Proteins (IGFBPs)</a:t>
            </a:r>
            <a:r>
              <a:rPr i="1" lang="es" sz="1432">
                <a:solidFill>
                  <a:srgbClr val="000000"/>
                </a:solidFill>
              </a:rPr>
              <a:t>: </a:t>
            </a:r>
            <a:r>
              <a:rPr b="1" i="1" lang="es" sz="1432">
                <a:solidFill>
                  <a:srgbClr val="000000"/>
                </a:solidFill>
              </a:rPr>
              <a:t>FGA, SCG2, ALB, IGF1, APOA2, BMP4, DMP1, SERPIND1, GOLM1, FGG</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UPR: </a:t>
            </a:r>
            <a:r>
              <a:rPr b="1" i="1" lang="es" sz="1432">
                <a:solidFill>
                  <a:srgbClr val="000000"/>
                </a:solidFill>
              </a:rPr>
              <a:t>DCTN1</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PKMTs methylate histone lysine: </a:t>
            </a:r>
            <a:r>
              <a:rPr b="1" i="1" lang="es" sz="1432">
                <a:solidFill>
                  <a:srgbClr val="000000"/>
                </a:solidFill>
              </a:rPr>
              <a:t>MECOM, PRDM16</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highlight>
                  <a:srgbClr val="FFFF00"/>
                </a:highlight>
              </a:rPr>
              <a:t>Cellular response to hypoxia: </a:t>
            </a:r>
            <a:r>
              <a:rPr b="1" i="1" lang="es" sz="1432">
                <a:solidFill>
                  <a:srgbClr val="000000"/>
                </a:solidFill>
                <a:highlight>
                  <a:srgbClr val="FFFF00"/>
                </a:highlight>
              </a:rPr>
              <a:t>EPO, HIF3A</a:t>
            </a:r>
            <a:endParaRPr b="1" i="1" sz="1432">
              <a:solidFill>
                <a:srgbClr val="000000"/>
              </a:solidFill>
              <a:highlight>
                <a:srgbClr val="FFFF00"/>
              </a:highlight>
            </a:endParaRPr>
          </a:p>
          <a:p>
            <a:pPr indent="0" lvl="0" marL="0" rtl="0" algn="l">
              <a:spcBef>
                <a:spcPts val="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7"/>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 </a:t>
            </a:r>
            <a:endParaRPr u="sng">
              <a:latin typeface="Montserrat"/>
              <a:ea typeface="Montserrat"/>
              <a:cs typeface="Montserrat"/>
              <a:sym typeface="Montserrat"/>
            </a:endParaRPr>
          </a:p>
        </p:txBody>
      </p:sp>
      <p:sp>
        <p:nvSpPr>
          <p:cNvPr id="501" name="Google Shape;501;p57"/>
          <p:cNvSpPr txBox="1"/>
          <p:nvPr>
            <p:ph idx="1" type="body"/>
          </p:nvPr>
        </p:nvSpPr>
        <p:spPr>
          <a:xfrm>
            <a:off x="109950" y="1017800"/>
            <a:ext cx="8924100" cy="3339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masculinas (lfc &gt; 0.58), y que se encuentran en las listas deseadas:</a:t>
            </a:r>
            <a:endParaRPr>
              <a:latin typeface="Montserrat"/>
              <a:ea typeface="Montserrat"/>
              <a:cs typeface="Montserrat"/>
              <a:sym typeface="Montserrat"/>
            </a:endParaRPr>
          </a:p>
          <a:p>
            <a:pPr indent="-342900" lvl="0" marL="457200" rtl="0" algn="l">
              <a:spcBef>
                <a:spcPts val="1200"/>
              </a:spcBef>
              <a:spcAft>
                <a:spcPts val="0"/>
              </a:spcAft>
              <a:buSzPts val="1800"/>
              <a:buFont typeface="Montserrat"/>
              <a:buChar char="●"/>
            </a:pPr>
            <a:r>
              <a:rPr i="1" lang="es"/>
              <a:t>Interlukin-1 signaling: </a:t>
            </a:r>
            <a:r>
              <a:rPr b="1" i="1" lang="es"/>
              <a:t>IL1R1, APLK1, IL1RAP, IL1RN, MAP2K6, IL1R2</a:t>
            </a:r>
            <a:endParaRPr>
              <a:latin typeface="Montserrat"/>
              <a:ea typeface="Montserrat"/>
              <a:cs typeface="Montserrat"/>
              <a:sym typeface="Montserrat"/>
            </a:endParaRPr>
          </a:p>
          <a:p>
            <a:pPr indent="-342900" lvl="0" marL="457200" rtl="0" algn="l">
              <a:spcBef>
                <a:spcPts val="0"/>
              </a:spcBef>
              <a:spcAft>
                <a:spcPts val="0"/>
              </a:spcAft>
              <a:buSzPts val="1800"/>
              <a:buChar char="●"/>
            </a:pPr>
            <a:r>
              <a:rPr i="1" lang="es"/>
              <a:t>Interleukin-10 signaling: </a:t>
            </a:r>
            <a:r>
              <a:rPr b="1" i="1" lang="es"/>
              <a:t>IL1R1, IL1RN, IL1R2, CCR2, CCL22, CCR5</a:t>
            </a:r>
            <a:endParaRPr b="1" i="1"/>
          </a:p>
          <a:p>
            <a:pPr indent="-342900" lvl="0" marL="457200" rtl="0" algn="l">
              <a:spcBef>
                <a:spcPts val="0"/>
              </a:spcBef>
              <a:spcAft>
                <a:spcPts val="0"/>
              </a:spcAft>
              <a:buSzPts val="1800"/>
              <a:buChar char="●"/>
            </a:pPr>
            <a:r>
              <a:rPr i="1" lang="es"/>
              <a:t>Signaling by TGF-beta Receptor Complex: </a:t>
            </a:r>
            <a:r>
              <a:rPr b="1" i="1" lang="es"/>
              <a:t> WWTR1, TGFB2</a:t>
            </a:r>
            <a:endParaRPr b="1" i="1"/>
          </a:p>
          <a:p>
            <a:pPr indent="-342900" lvl="0" marL="457200" rtl="0" algn="l">
              <a:spcBef>
                <a:spcPts val="0"/>
              </a:spcBef>
              <a:spcAft>
                <a:spcPts val="0"/>
              </a:spcAft>
              <a:buSzPts val="1800"/>
              <a:buChar char="●"/>
            </a:pPr>
            <a:r>
              <a:rPr i="1" lang="es"/>
              <a:t>Glycolysis: </a:t>
            </a:r>
            <a:r>
              <a:rPr b="1" i="1" lang="es"/>
              <a:t>NUP107</a:t>
            </a:r>
            <a:endParaRPr b="1" i="1"/>
          </a:p>
          <a:p>
            <a:pPr indent="-342900" lvl="0" marL="457200" rtl="0" algn="l">
              <a:spcBef>
                <a:spcPts val="0"/>
              </a:spcBef>
              <a:spcAft>
                <a:spcPts val="0"/>
              </a:spcAft>
              <a:buSzPts val="1800"/>
              <a:buChar char="●"/>
            </a:pPr>
            <a:r>
              <a:rPr i="1" lang="es"/>
              <a:t>Mitochondrial Fatty Acid Beta-Oxidation: </a:t>
            </a:r>
            <a:r>
              <a:rPr b="1" i="1" lang="es"/>
              <a:t>NUP107</a:t>
            </a:r>
            <a:endParaRPr b="1" i="1"/>
          </a:p>
          <a:p>
            <a:pPr indent="-342900" lvl="0" marL="457200" rtl="0" algn="l">
              <a:spcBef>
                <a:spcPts val="0"/>
              </a:spcBef>
              <a:spcAft>
                <a:spcPts val="0"/>
              </a:spcAft>
              <a:buSzPts val="1800"/>
              <a:buChar char="●"/>
            </a:pPr>
            <a:r>
              <a:rPr i="1" lang="es"/>
              <a:t>Binding and uptake of ligands by scavenger receptors</a:t>
            </a:r>
            <a:r>
              <a:rPr i="1" lang="es" sz="1574"/>
              <a:t>: </a:t>
            </a:r>
            <a:r>
              <a:rPr b="1" i="1" lang="es" sz="1574"/>
              <a:t>SPARC, COLEC12</a:t>
            </a:r>
            <a:endParaRPr b="1" i="1" sz="1574"/>
          </a:p>
          <a:p>
            <a:pPr indent="-328564" lvl="0" marL="457200" rtl="0" algn="l">
              <a:spcBef>
                <a:spcPts val="0"/>
              </a:spcBef>
              <a:spcAft>
                <a:spcPts val="0"/>
              </a:spcAft>
              <a:buSzPts val="1574"/>
              <a:buChar char="●"/>
            </a:pPr>
            <a:r>
              <a:rPr i="1" lang="es" sz="1750"/>
              <a:t>Unfolded Protein Response</a:t>
            </a:r>
            <a:r>
              <a:rPr i="1" lang="es" sz="1574"/>
              <a:t>: </a:t>
            </a:r>
            <a:r>
              <a:rPr b="1" i="1" lang="es" sz="1574"/>
              <a:t>DCSTAMP, ATF13</a:t>
            </a:r>
            <a:endParaRPr b="1" i="1" sz="1574"/>
          </a:p>
          <a:p>
            <a:pPr indent="-342900" lvl="0" marL="457200" rtl="0" algn="l">
              <a:spcBef>
                <a:spcPts val="0"/>
              </a:spcBef>
              <a:spcAft>
                <a:spcPts val="0"/>
              </a:spcAft>
              <a:buSzPts val="1800"/>
              <a:buChar char="●"/>
            </a:pPr>
            <a:r>
              <a:rPr i="1" lang="es"/>
              <a:t>Cellular Senescence: </a:t>
            </a:r>
            <a:r>
              <a:rPr b="1" i="1" lang="es"/>
              <a:t>CCNA2, CCNA1</a:t>
            </a:r>
            <a:endParaRPr b="1" i="1"/>
          </a:p>
          <a:p>
            <a:pPr indent="0" lvl="0" marL="0" rtl="0" algn="l">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8"/>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07" name="Google Shape;507;p58"/>
          <p:cNvSpPr txBox="1"/>
          <p:nvPr>
            <p:ph idx="1" type="body"/>
          </p:nvPr>
        </p:nvSpPr>
        <p:spPr>
          <a:xfrm>
            <a:off x="109950" y="1017800"/>
            <a:ext cx="8768700" cy="33390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masculinas (lfc &gt; 0.58), y que se encuentran en las listas deseadas</a:t>
            </a:r>
            <a:r>
              <a:rPr lang="es">
                <a:latin typeface="Montserrat"/>
                <a:ea typeface="Montserrat"/>
                <a:cs typeface="Montserrat"/>
                <a:sym typeface="Montserrat"/>
              </a:rPr>
              <a:t>:</a:t>
            </a:r>
            <a:endParaRPr>
              <a:latin typeface="Montserrat"/>
              <a:ea typeface="Montserrat"/>
              <a:cs typeface="Montserrat"/>
              <a:sym typeface="Montserrat"/>
            </a:endParaRPr>
          </a:p>
          <a:p>
            <a:pPr indent="-283580" lvl="0" marL="457200" rtl="0" algn="l">
              <a:spcBef>
                <a:spcPts val="1200"/>
              </a:spcBef>
              <a:spcAft>
                <a:spcPts val="0"/>
              </a:spcAft>
              <a:buSzPct val="101564"/>
              <a:buChar char="●"/>
            </a:pPr>
            <a:r>
              <a:rPr i="1" lang="es" sz="1550">
                <a:solidFill>
                  <a:srgbClr val="000000"/>
                </a:solidFill>
                <a:highlight>
                  <a:srgbClr val="FFFF00"/>
                </a:highlight>
              </a:rPr>
              <a:t>Fructose biosynthesis: </a:t>
            </a:r>
            <a:r>
              <a:rPr b="1" i="1" lang="es" sz="1550">
                <a:solidFill>
                  <a:srgbClr val="000000"/>
                </a:solidFill>
                <a:highlight>
                  <a:srgbClr val="FFFF00"/>
                </a:highlight>
              </a:rPr>
              <a:t>SLC2A1</a:t>
            </a:r>
            <a:endParaRPr b="1" i="1" sz="1550">
              <a:solidFill>
                <a:srgbClr val="000000"/>
              </a:solidFill>
              <a:highlight>
                <a:srgbClr val="FFFF00"/>
              </a:highlight>
            </a:endParaRPr>
          </a:p>
          <a:p>
            <a:pPr indent="-282734" lvl="0" marL="457200" rtl="0" algn="l">
              <a:spcBef>
                <a:spcPts val="0"/>
              </a:spcBef>
              <a:spcAft>
                <a:spcPts val="0"/>
              </a:spcAft>
              <a:buClr>
                <a:srgbClr val="000000"/>
              </a:buClr>
              <a:buSzPct val="100000"/>
              <a:buChar char="●"/>
            </a:pPr>
            <a:r>
              <a:rPr i="1" lang="es" sz="1550">
                <a:solidFill>
                  <a:srgbClr val="000000"/>
                </a:solidFill>
                <a:highlight>
                  <a:srgbClr val="FFFF00"/>
                </a:highlight>
              </a:rPr>
              <a:t>Lactose biosynthesis: </a:t>
            </a:r>
            <a:r>
              <a:rPr b="1" i="1" lang="es" sz="1550">
                <a:solidFill>
                  <a:srgbClr val="000000"/>
                </a:solidFill>
                <a:highlight>
                  <a:srgbClr val="FFFF00"/>
                </a:highlight>
              </a:rPr>
              <a:t>SLC2A1</a:t>
            </a:r>
            <a:endParaRPr b="1" i="1" sz="1550">
              <a:solidFill>
                <a:srgbClr val="000000"/>
              </a:solidFill>
              <a:highlight>
                <a:srgbClr val="FFFF00"/>
              </a:highlight>
            </a:endParaRPr>
          </a:p>
          <a:p>
            <a:pPr indent="-283580" lvl="0" marL="457200" rtl="0" algn="l">
              <a:spcBef>
                <a:spcPts val="0"/>
              </a:spcBef>
              <a:spcAft>
                <a:spcPts val="0"/>
              </a:spcAft>
              <a:buSzPct val="101564"/>
              <a:buChar char="●"/>
            </a:pPr>
            <a:r>
              <a:rPr i="1" lang="es" sz="1550">
                <a:solidFill>
                  <a:srgbClr val="000000"/>
                </a:solidFill>
                <a:highlight>
                  <a:srgbClr val="FFFF00"/>
                </a:highlight>
              </a:rPr>
              <a:t>Glycogen metabolism</a:t>
            </a:r>
            <a:r>
              <a:rPr i="1" lang="es" sz="1574">
                <a:highlight>
                  <a:srgbClr val="FFFF00"/>
                </a:highlight>
              </a:rPr>
              <a:t>:</a:t>
            </a:r>
            <a:r>
              <a:rPr i="1" lang="es" sz="1574"/>
              <a:t> </a:t>
            </a:r>
            <a:r>
              <a:rPr b="1" i="1" lang="es" sz="1574"/>
              <a:t>NUP107</a:t>
            </a:r>
            <a:endParaRPr b="1" i="1" sz="1574"/>
          </a:p>
          <a:p>
            <a:pPr indent="-283580" lvl="0" marL="457200" rtl="0" algn="l">
              <a:spcBef>
                <a:spcPts val="0"/>
              </a:spcBef>
              <a:spcAft>
                <a:spcPts val="0"/>
              </a:spcAft>
              <a:buSzPct val="101564"/>
              <a:buChar char="●"/>
            </a:pPr>
            <a:r>
              <a:rPr i="1" lang="es" sz="1550">
                <a:solidFill>
                  <a:srgbClr val="000000"/>
                </a:solidFill>
              </a:rPr>
              <a:t>Glycosaminoglycan metabolism</a:t>
            </a:r>
            <a:r>
              <a:rPr i="1" lang="es" sz="1574"/>
              <a:t>: </a:t>
            </a:r>
            <a:r>
              <a:rPr b="1" i="1" lang="es" sz="1574"/>
              <a:t>CSGALNACT1, SDC2, GPC4</a:t>
            </a:r>
            <a:endParaRPr b="1" i="1" sz="1574"/>
          </a:p>
          <a:p>
            <a:pPr indent="-283580" lvl="0" marL="457200" rtl="0" algn="l">
              <a:spcBef>
                <a:spcPts val="0"/>
              </a:spcBef>
              <a:spcAft>
                <a:spcPts val="0"/>
              </a:spcAft>
              <a:buSzPct val="101564"/>
              <a:buChar char="●"/>
            </a:pPr>
            <a:r>
              <a:rPr i="1" lang="es" sz="1550">
                <a:solidFill>
                  <a:srgbClr val="000000"/>
                </a:solidFill>
              </a:rPr>
              <a:t>Inositol phosphate metabolism</a:t>
            </a:r>
            <a:r>
              <a:rPr i="1" lang="es" sz="1574"/>
              <a:t>: </a:t>
            </a:r>
            <a:r>
              <a:rPr b="1" i="1" lang="es" sz="1574"/>
              <a:t>PLD4</a:t>
            </a:r>
            <a:endParaRPr b="1"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Fatty AcylCoA biosynthesis</a:t>
            </a:r>
            <a:r>
              <a:rPr i="1" lang="es" sz="1574"/>
              <a:t>: </a:t>
            </a:r>
            <a:r>
              <a:rPr b="1" i="1" lang="es" sz="1574"/>
              <a:t>HACD1</a:t>
            </a:r>
            <a:endParaRPr i="1" sz="1574"/>
          </a:p>
          <a:p>
            <a:pPr indent="-283580" lvl="0" marL="457200" rtl="0" algn="l">
              <a:spcBef>
                <a:spcPts val="0"/>
              </a:spcBef>
              <a:spcAft>
                <a:spcPts val="0"/>
              </a:spcAft>
              <a:buSzPct val="101564"/>
              <a:buChar char="●"/>
            </a:pPr>
            <a:r>
              <a:rPr i="1" lang="es" sz="1550">
                <a:solidFill>
                  <a:srgbClr val="000000"/>
                </a:solidFill>
                <a:latin typeface="Arial"/>
                <a:ea typeface="Arial"/>
                <a:cs typeface="Arial"/>
                <a:sym typeface="Arial"/>
              </a:rPr>
              <a:t>Arachdonic Acid metabolism</a:t>
            </a:r>
            <a:r>
              <a:rPr i="1" lang="es" sz="1574"/>
              <a:t>: </a:t>
            </a:r>
            <a:r>
              <a:rPr b="1" i="1" lang="es" sz="1574"/>
              <a:t>HPGD</a:t>
            </a:r>
            <a:endParaRPr b="1" i="1" sz="1574"/>
          </a:p>
          <a:p>
            <a:pPr indent="-283580" lvl="0" marL="457200" rtl="0" algn="l">
              <a:spcBef>
                <a:spcPts val="0"/>
              </a:spcBef>
              <a:spcAft>
                <a:spcPts val="0"/>
              </a:spcAft>
              <a:buSzPct val="101564"/>
              <a:buChar char="●"/>
            </a:pPr>
            <a:r>
              <a:rPr i="1" lang="es" sz="1550">
                <a:solidFill>
                  <a:srgbClr val="000000"/>
                </a:solidFill>
              </a:rPr>
              <a:t>O3 O6 metabolism</a:t>
            </a:r>
            <a:r>
              <a:rPr i="1" lang="es" sz="1574"/>
              <a:t>: </a:t>
            </a:r>
            <a:r>
              <a:rPr b="1" i="1" lang="es" sz="1574"/>
              <a:t>FADS2</a:t>
            </a:r>
            <a:endParaRPr b="1" i="1" sz="1574"/>
          </a:p>
          <a:p>
            <a:pPr indent="-283580" lvl="0" marL="457200" rtl="0" algn="l">
              <a:spcBef>
                <a:spcPts val="0"/>
              </a:spcBef>
              <a:spcAft>
                <a:spcPts val="0"/>
              </a:spcAft>
              <a:buSzPct val="101564"/>
              <a:buChar char="●"/>
            </a:pPr>
            <a:r>
              <a:rPr i="1" lang="es" sz="1550">
                <a:solidFill>
                  <a:srgbClr val="000000"/>
                </a:solidFill>
                <a:highlight>
                  <a:srgbClr val="FFFF00"/>
                </a:highlight>
                <a:latin typeface="Arial"/>
                <a:ea typeface="Arial"/>
                <a:cs typeface="Arial"/>
                <a:sym typeface="Arial"/>
              </a:rPr>
              <a:t>B oxidation</a:t>
            </a:r>
            <a:r>
              <a:rPr i="1" lang="es" sz="1574"/>
              <a:t>: </a:t>
            </a:r>
            <a:r>
              <a:rPr b="1" i="1" lang="es" sz="1574"/>
              <a:t>ACOT7</a:t>
            </a:r>
            <a:endParaRPr i="1" sz="1574"/>
          </a:p>
          <a:p>
            <a:pPr indent="-283580" lvl="0" marL="457200" rtl="0" algn="l">
              <a:spcBef>
                <a:spcPts val="0"/>
              </a:spcBef>
              <a:spcAft>
                <a:spcPts val="0"/>
              </a:spcAft>
              <a:buSzPct val="108568"/>
              <a:buChar char="●"/>
            </a:pPr>
            <a:r>
              <a:rPr i="1" lang="es" sz="1450">
                <a:solidFill>
                  <a:srgbClr val="000000"/>
                </a:solidFill>
                <a:latin typeface="Arial"/>
                <a:ea typeface="Arial"/>
                <a:cs typeface="Arial"/>
                <a:sym typeface="Arial"/>
              </a:rPr>
              <a:t>Triglyceride biosynthesis</a:t>
            </a:r>
            <a:r>
              <a:rPr i="1" lang="es" sz="1574"/>
              <a:t>: </a:t>
            </a:r>
            <a:r>
              <a:rPr b="1" i="1" lang="es" sz="1574"/>
              <a:t>GPAT2</a:t>
            </a:r>
            <a:endParaRPr b="1" i="1" sz="1574"/>
          </a:p>
          <a:p>
            <a:pPr indent="-283580" lvl="0" marL="457200" rtl="0" algn="l">
              <a:spcBef>
                <a:spcPts val="0"/>
              </a:spcBef>
              <a:spcAft>
                <a:spcPts val="0"/>
              </a:spcAft>
              <a:buSzPct val="100000"/>
              <a:buChar char="●"/>
            </a:pPr>
            <a:r>
              <a:rPr i="1" lang="es" sz="1574">
                <a:highlight>
                  <a:srgbClr val="FFFF00"/>
                </a:highlight>
              </a:rPr>
              <a:t>Triglyceride catabolism</a:t>
            </a:r>
            <a:r>
              <a:rPr i="1" lang="es" sz="1574"/>
              <a:t>: </a:t>
            </a:r>
            <a:r>
              <a:rPr b="1" i="1" lang="es" sz="1574"/>
              <a:t>FABP3, FABP5</a:t>
            </a:r>
            <a:endParaRPr b="1" i="1" sz="1574"/>
          </a:p>
          <a:p>
            <a:pPr indent="-283580" lvl="0" marL="457200" rtl="0" algn="l">
              <a:spcBef>
                <a:spcPts val="0"/>
              </a:spcBef>
              <a:spcAft>
                <a:spcPts val="0"/>
              </a:spcAft>
              <a:buSzPct val="108568"/>
              <a:buChar char="●"/>
            </a:pPr>
            <a:r>
              <a:rPr i="1" lang="es" sz="1450">
                <a:solidFill>
                  <a:srgbClr val="000000"/>
                </a:solidFill>
              </a:rPr>
              <a:t>Phospholipid metabolism</a:t>
            </a:r>
            <a:r>
              <a:rPr i="1" lang="es" sz="1574"/>
              <a:t>: </a:t>
            </a:r>
            <a:r>
              <a:rPr b="1" i="1" lang="es" sz="1574"/>
              <a:t>PLD4, TNFAIP8L3, CDS1, GPAT2, LPCAT2</a:t>
            </a:r>
            <a:endParaRPr b="1" i="1" sz="1574"/>
          </a:p>
          <a:p>
            <a:pPr indent="-277495" lvl="0" marL="457200" rtl="0" algn="l">
              <a:spcBef>
                <a:spcPts val="0"/>
              </a:spcBef>
              <a:spcAft>
                <a:spcPts val="0"/>
              </a:spcAft>
              <a:buSzPct val="100000"/>
              <a:buChar char="●"/>
            </a:pPr>
            <a:r>
              <a:rPr i="1" lang="es" sz="1400">
                <a:solidFill>
                  <a:srgbClr val="000000"/>
                </a:solidFill>
              </a:rPr>
              <a:t>Sphingolipid metabolism: </a:t>
            </a:r>
            <a:r>
              <a:rPr b="1" i="1" lang="es" sz="1550">
                <a:solidFill>
                  <a:srgbClr val="000000"/>
                </a:solidFill>
              </a:rPr>
              <a:t>FA2H</a:t>
            </a:r>
            <a:endParaRPr b="1" i="1" sz="1550">
              <a:solidFill>
                <a:srgbClr val="000000"/>
              </a:solidFill>
            </a:endParaRPr>
          </a:p>
          <a:p>
            <a:pPr indent="-282734" lvl="0" marL="457200" rtl="0" algn="l">
              <a:spcBef>
                <a:spcPts val="0"/>
              </a:spcBef>
              <a:spcAft>
                <a:spcPts val="0"/>
              </a:spcAft>
              <a:buClr>
                <a:srgbClr val="000000"/>
              </a:buClr>
              <a:buSzPct val="108214"/>
              <a:buChar char="●"/>
            </a:pPr>
            <a:r>
              <a:rPr i="1" lang="es" sz="1432">
                <a:solidFill>
                  <a:srgbClr val="000000"/>
                </a:solidFill>
              </a:rPr>
              <a:t>Steroids metabolism</a:t>
            </a:r>
            <a:r>
              <a:rPr i="1" lang="es" sz="1550">
                <a:solidFill>
                  <a:srgbClr val="000000"/>
                </a:solidFill>
              </a:rPr>
              <a:t>: </a:t>
            </a:r>
            <a:r>
              <a:rPr b="1" i="1" lang="es" sz="1550">
                <a:solidFill>
                  <a:srgbClr val="000000"/>
                </a:solidFill>
              </a:rPr>
              <a:t>EBP, HSD11B1, MVK, STARD4</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Pruvate metabolism: </a:t>
            </a:r>
            <a:r>
              <a:rPr b="1" i="1" lang="es" sz="1550">
                <a:solidFill>
                  <a:srgbClr val="000000"/>
                </a:solidFill>
              </a:rPr>
              <a:t>MPC2</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highlight>
                  <a:srgbClr val="FFFF00"/>
                </a:highlight>
              </a:rPr>
              <a:t>TCA: </a:t>
            </a:r>
            <a:r>
              <a:rPr b="1" i="1" lang="es" sz="1550">
                <a:solidFill>
                  <a:srgbClr val="000000"/>
                </a:solidFill>
                <a:highlight>
                  <a:srgbClr val="FFFF00"/>
                </a:highlight>
              </a:rPr>
              <a:t>FH</a:t>
            </a:r>
            <a:endParaRPr b="1" i="1" sz="1550">
              <a:solidFill>
                <a:srgbClr val="000000"/>
              </a:solidFill>
              <a:highlight>
                <a:srgbClr val="FFFF00"/>
              </a:highlight>
            </a:endParaRPr>
          </a:p>
          <a:p>
            <a:pPr indent="-282734" lvl="0" marL="457200" rtl="0" algn="l">
              <a:spcBef>
                <a:spcPts val="0"/>
              </a:spcBef>
              <a:spcAft>
                <a:spcPts val="0"/>
              </a:spcAft>
              <a:buClr>
                <a:srgbClr val="000000"/>
              </a:buClr>
              <a:buSzPct val="100000"/>
              <a:buChar char="●"/>
            </a:pPr>
            <a:r>
              <a:rPr i="1" lang="es" sz="1550">
                <a:solidFill>
                  <a:srgbClr val="000000"/>
                </a:solidFill>
                <a:highlight>
                  <a:srgbClr val="FFFF00"/>
                </a:highlight>
              </a:rPr>
              <a:t>ETC: </a:t>
            </a:r>
            <a:r>
              <a:rPr b="1" i="1" lang="es" sz="1550">
                <a:solidFill>
                  <a:srgbClr val="000000"/>
                </a:solidFill>
                <a:highlight>
                  <a:srgbClr val="FFFF00"/>
                </a:highlight>
              </a:rPr>
              <a:t>CYCS</a:t>
            </a:r>
            <a:endParaRPr b="1" i="1" sz="1550">
              <a:solidFill>
                <a:srgbClr val="000000"/>
              </a:solidFill>
              <a:highlight>
                <a:srgbClr val="FFFF00"/>
              </a:highlight>
            </a:endParaRPr>
          </a:p>
          <a:p>
            <a:pPr indent="-282734" lvl="0" marL="457200" rtl="0" algn="l">
              <a:spcBef>
                <a:spcPts val="0"/>
              </a:spcBef>
              <a:spcAft>
                <a:spcPts val="0"/>
              </a:spcAft>
              <a:buClr>
                <a:srgbClr val="000000"/>
              </a:buClr>
              <a:buSzPct val="100000"/>
              <a:buChar char="●"/>
            </a:pPr>
            <a:r>
              <a:rPr i="1" lang="es" sz="1550">
                <a:solidFill>
                  <a:srgbClr val="000000"/>
                </a:solidFill>
              </a:rPr>
              <a:t>Post-translational protein phosphorylation: </a:t>
            </a:r>
            <a:r>
              <a:rPr b="1" i="1" lang="es" sz="1550">
                <a:solidFill>
                  <a:srgbClr val="000000"/>
                </a:solidFill>
              </a:rPr>
              <a:t>SDC2, CKAP4, SPP1</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Peptide hormone metabolism: </a:t>
            </a:r>
            <a:r>
              <a:rPr b="1" i="1" lang="es" sz="1550">
                <a:solidFill>
                  <a:srgbClr val="000000"/>
                </a:solidFill>
              </a:rPr>
              <a:t>CES1, INHBA</a:t>
            </a:r>
            <a:endParaRPr b="1" i="1" sz="1550">
              <a:solidFill>
                <a:srgbClr val="000000"/>
              </a:solidFill>
            </a:endParaRPr>
          </a:p>
          <a:p>
            <a:pPr indent="-280988" lvl="0" marL="457200" rtl="0" algn="l">
              <a:spcBef>
                <a:spcPts val="0"/>
              </a:spcBef>
              <a:spcAft>
                <a:spcPts val="0"/>
              </a:spcAft>
              <a:buClr>
                <a:srgbClr val="000000"/>
              </a:buClr>
              <a:buSzPct val="100000"/>
              <a:buChar char="●"/>
            </a:pPr>
            <a:r>
              <a:rPr i="1" lang="es" sz="1500">
                <a:solidFill>
                  <a:srgbClr val="000000"/>
                </a:solidFill>
              </a:rPr>
              <a:t>Regulation of (IGF) transport and uptake by Insulin-like Growth Factor Binding Proteins (IGFBPs): </a:t>
            </a:r>
            <a:r>
              <a:rPr b="1" i="1" lang="es" sz="1500">
                <a:solidFill>
                  <a:srgbClr val="000000"/>
                </a:solidFill>
              </a:rPr>
              <a:t>SDC2, CKAP4, SPP1</a:t>
            </a:r>
            <a:endParaRPr b="1" i="1" sz="15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9"/>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13" name="Google Shape;513;p59"/>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M1 masculinas (lfc &gt; 0.58), y que se encuentran en las listas deseadas:</a:t>
            </a:r>
            <a:endParaRPr>
              <a:latin typeface="Montserrat"/>
              <a:ea typeface="Montserrat"/>
              <a:cs typeface="Montserrat"/>
              <a:sym typeface="Montserrat"/>
            </a:endParaRPr>
          </a:p>
          <a:p>
            <a:pPr indent="-278625" lvl="0" marL="457200" rtl="0" algn="l">
              <a:spcBef>
                <a:spcPts val="1200"/>
              </a:spcBef>
              <a:spcAft>
                <a:spcPts val="0"/>
              </a:spcAft>
              <a:buClr>
                <a:srgbClr val="000000"/>
              </a:buClr>
              <a:buSzPct val="100000"/>
              <a:buChar char="●"/>
            </a:pPr>
            <a:r>
              <a:rPr i="1" lang="es" sz="1432">
                <a:solidFill>
                  <a:srgbClr val="000000"/>
                </a:solidFill>
              </a:rPr>
              <a:t>Nucleotides metabolism: </a:t>
            </a:r>
            <a:r>
              <a:rPr b="1" i="1" lang="es" sz="1432">
                <a:solidFill>
                  <a:srgbClr val="000000"/>
                </a:solidFill>
              </a:rPr>
              <a:t>ADK, TYMS, RRM2</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Ascorabte metabolism: </a:t>
            </a:r>
            <a:r>
              <a:rPr b="1" i="1" lang="es" sz="1432">
                <a:solidFill>
                  <a:srgbClr val="000000"/>
                </a:solidFill>
              </a:rPr>
              <a:t>SLC2A1</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Cobalamin metabolism: </a:t>
            </a:r>
            <a:r>
              <a:rPr b="1" i="1" lang="es" sz="1432">
                <a:solidFill>
                  <a:srgbClr val="000000"/>
                </a:solidFill>
              </a:rPr>
              <a:t>MMAB</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Folate metabolism: </a:t>
            </a:r>
            <a:r>
              <a:rPr b="1" i="1" lang="es" sz="1432">
                <a:solidFill>
                  <a:srgbClr val="000000"/>
                </a:solidFill>
              </a:rPr>
              <a:t>DHFR</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Vitamin K metabolism: </a:t>
            </a:r>
            <a:r>
              <a:rPr b="1" i="1" lang="es" sz="1432">
                <a:solidFill>
                  <a:srgbClr val="000000"/>
                </a:solidFill>
              </a:rPr>
              <a:t>VKORC1L1</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Retinoid metabolism: </a:t>
            </a:r>
            <a:r>
              <a:rPr b="1" i="1" lang="es" sz="1432">
                <a:solidFill>
                  <a:srgbClr val="000000"/>
                </a:solidFill>
              </a:rPr>
              <a:t>SDC2, GPC4</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CoFactors metabolism: </a:t>
            </a:r>
            <a:r>
              <a:rPr b="1" i="1" lang="es" sz="1432">
                <a:solidFill>
                  <a:srgbClr val="000000"/>
                </a:solidFill>
              </a:rPr>
              <a:t>DHFR</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Tryptophan catabolism: </a:t>
            </a:r>
            <a:r>
              <a:rPr b="1" i="1" lang="es" sz="1432">
                <a:solidFill>
                  <a:srgbClr val="000000"/>
                </a:solidFill>
              </a:rPr>
              <a:t>SLC7A5, KMO</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Reversible hydration of CO2: </a:t>
            </a:r>
            <a:r>
              <a:rPr b="1" i="1" lang="es" sz="1432">
                <a:solidFill>
                  <a:srgbClr val="000000"/>
                </a:solidFill>
              </a:rPr>
              <a:t>CA2</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Gamma carboxylation hypusine formation and arylsufatase activation: </a:t>
            </a:r>
            <a:r>
              <a:rPr b="1" i="1" lang="es" sz="1432">
                <a:solidFill>
                  <a:srgbClr val="000000"/>
                </a:solidFill>
              </a:rPr>
              <a:t>PROS1</a:t>
            </a:r>
            <a:endParaRPr b="1" i="1" sz="1432">
              <a:solidFill>
                <a:srgbClr val="000000"/>
              </a:solidFill>
            </a:endParaRPr>
          </a:p>
          <a:p>
            <a:pPr indent="-278625" lvl="0" marL="457200" rtl="0" algn="l">
              <a:spcBef>
                <a:spcPts val="0"/>
              </a:spcBef>
              <a:spcAft>
                <a:spcPts val="0"/>
              </a:spcAft>
              <a:buClr>
                <a:srgbClr val="000000"/>
              </a:buClr>
              <a:buSzPct val="102311"/>
              <a:buChar char="●"/>
            </a:pPr>
            <a:r>
              <a:rPr i="1" lang="es" sz="1400">
                <a:solidFill>
                  <a:srgbClr val="000000"/>
                </a:solidFill>
                <a:latin typeface="Arial"/>
                <a:ea typeface="Arial"/>
                <a:cs typeface="Arial"/>
                <a:sym typeface="Arial"/>
              </a:rPr>
              <a:t>Post-translational modification: synthesis of GPI-anchored proteins</a:t>
            </a:r>
            <a:r>
              <a:rPr i="1" lang="es" sz="1432">
                <a:solidFill>
                  <a:srgbClr val="000000"/>
                </a:solidFill>
              </a:rPr>
              <a:t>: </a:t>
            </a:r>
            <a:r>
              <a:rPr b="1" i="1" lang="es" sz="1432">
                <a:solidFill>
                  <a:srgbClr val="000000"/>
                </a:solidFill>
              </a:rPr>
              <a:t>CD109</a:t>
            </a:r>
            <a:endParaRPr b="1" i="1" sz="1432">
              <a:solidFill>
                <a:srgbClr val="000000"/>
              </a:solidFill>
            </a:endParaRPr>
          </a:p>
          <a:p>
            <a:pPr indent="-278625" lvl="0" marL="457200" rtl="0" algn="l">
              <a:spcBef>
                <a:spcPts val="0"/>
              </a:spcBef>
              <a:spcAft>
                <a:spcPts val="0"/>
              </a:spcAft>
              <a:buClr>
                <a:srgbClr val="000000"/>
              </a:buClr>
              <a:buSzPct val="100000"/>
              <a:buChar char="●"/>
            </a:pPr>
            <a:r>
              <a:rPr i="1" lang="es" sz="1432">
                <a:solidFill>
                  <a:srgbClr val="000000"/>
                </a:solidFill>
              </a:rPr>
              <a:t>O-linked glycosylation: </a:t>
            </a:r>
            <a:r>
              <a:rPr b="1" i="1" lang="es" sz="1432">
                <a:solidFill>
                  <a:srgbClr val="000000"/>
                </a:solidFill>
              </a:rPr>
              <a:t>ADAMTSL4, SPON2</a:t>
            </a:r>
            <a:endParaRPr i="1" sz="1432">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SUMOylation: </a:t>
            </a:r>
            <a:r>
              <a:rPr b="1" i="1" lang="es" sz="1550">
                <a:solidFill>
                  <a:srgbClr val="000000"/>
                </a:solidFill>
              </a:rPr>
              <a:t>BRCA1, TOP2A, NUP107, BLM, BIRC5</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Deubiquitination: </a:t>
            </a:r>
            <a:r>
              <a:rPr b="1" i="1" lang="es" sz="1550">
                <a:solidFill>
                  <a:srgbClr val="000000"/>
                </a:solidFill>
              </a:rPr>
              <a:t>CCNA2, BRCA1, CDC20, CCNA1, CLSPN, RNF128, USP2</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Protein ubiquitination: </a:t>
            </a:r>
            <a:r>
              <a:rPr b="1" i="1" lang="es" sz="1550">
                <a:solidFill>
                  <a:srgbClr val="000000"/>
                </a:solidFill>
              </a:rPr>
              <a:t>HLTF</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RAB geranylgeranylation: </a:t>
            </a:r>
            <a:r>
              <a:rPr b="1" i="1" lang="es" sz="1550">
                <a:solidFill>
                  <a:srgbClr val="000000"/>
                </a:solidFill>
              </a:rPr>
              <a:t>RAB40B</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Neddylation: </a:t>
            </a:r>
            <a:r>
              <a:rPr b="1" i="1" lang="es" sz="1550">
                <a:solidFill>
                  <a:srgbClr val="000000"/>
                </a:solidFill>
              </a:rPr>
              <a:t>DTL, SOCS2, KLHL2, FBXO15, KBTBD8, BIRC5, SPSB1</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UPR: </a:t>
            </a:r>
            <a:r>
              <a:rPr b="1" i="1" lang="es" sz="1550">
                <a:solidFill>
                  <a:srgbClr val="000000"/>
                </a:solidFill>
              </a:rPr>
              <a:t>ATF1, DCSTAMP</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Surfactant metabolism: </a:t>
            </a:r>
            <a:r>
              <a:rPr b="1" i="1" lang="es" sz="1550">
                <a:solidFill>
                  <a:srgbClr val="000000"/>
                </a:solidFill>
              </a:rPr>
              <a:t>ADORA2B, CKAP4</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Amyloid fiber formation: </a:t>
            </a:r>
            <a:r>
              <a:rPr b="1" i="1" lang="es" sz="1550">
                <a:solidFill>
                  <a:srgbClr val="000000"/>
                </a:solidFill>
              </a:rPr>
              <a:t>GSN, H2AZ1</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Processing of Capped Intron-Containing Pre-mRNA: </a:t>
            </a:r>
            <a:r>
              <a:rPr b="1" i="1" lang="es" sz="1550">
                <a:solidFill>
                  <a:srgbClr val="000000"/>
                </a:solidFill>
              </a:rPr>
              <a:t>NUP107</a:t>
            </a:r>
            <a:endParaRPr b="1" i="1" sz="1550">
              <a:solidFill>
                <a:srgbClr val="000000"/>
              </a:solidFill>
            </a:endParaRPr>
          </a:p>
          <a:p>
            <a:pPr indent="-282734" lvl="0" marL="457200" rtl="0" algn="l">
              <a:spcBef>
                <a:spcPts val="0"/>
              </a:spcBef>
              <a:spcAft>
                <a:spcPts val="0"/>
              </a:spcAft>
              <a:buClr>
                <a:srgbClr val="000000"/>
              </a:buClr>
              <a:buSzPct val="100000"/>
              <a:buChar char="●"/>
            </a:pPr>
            <a:r>
              <a:rPr i="1" lang="es" sz="1550">
                <a:solidFill>
                  <a:srgbClr val="000000"/>
                </a:solidFill>
              </a:rPr>
              <a:t>tRNA processing in the nucleus: </a:t>
            </a:r>
            <a:r>
              <a:rPr b="1" i="1" lang="es" sz="1550">
                <a:solidFill>
                  <a:srgbClr val="000000"/>
                </a:solidFill>
              </a:rPr>
              <a:t>NUP107</a:t>
            </a:r>
            <a:endParaRPr b="1" i="1" sz="1550">
              <a:solidFill>
                <a:srgbClr val="000000"/>
              </a:solidFill>
            </a:endParaRPr>
          </a:p>
          <a:p>
            <a:pPr indent="0" lvl="0" marL="0" rtl="0" algn="l">
              <a:spcBef>
                <a:spcPts val="0"/>
              </a:spcBef>
              <a:spcAft>
                <a:spcPts val="1200"/>
              </a:spcAft>
              <a:buNone/>
            </a:pPr>
            <a:r>
              <a:t/>
            </a:r>
            <a:endParaRPr/>
          </a:p>
        </p:txBody>
      </p:sp>
      <p:sp>
        <p:nvSpPr>
          <p:cNvPr id="514" name="Google Shape;514;p59"/>
          <p:cNvSpPr txBox="1"/>
          <p:nvPr/>
        </p:nvSpPr>
        <p:spPr>
          <a:xfrm>
            <a:off x="4519825" y="1282350"/>
            <a:ext cx="3335700" cy="2228400"/>
          </a:xfrm>
          <a:prstGeom prst="rect">
            <a:avLst/>
          </a:prstGeom>
          <a:noFill/>
          <a:ln>
            <a:noFill/>
          </a:ln>
        </p:spPr>
        <p:txBody>
          <a:bodyPr anchorCtr="0" anchor="t" bIns="91425" lIns="91425" spcFirstLastPara="1" rIns="91425" wrap="square" tIns="91425">
            <a:noAutofit/>
          </a:bodyPr>
          <a:lstStyle/>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Metabolism of non-coding RNA:</a:t>
            </a:r>
            <a:r>
              <a:rPr b="1" i="1" lang="es" sz="750">
                <a:solidFill>
                  <a:schemeClr val="dk2"/>
                </a:solidFill>
                <a:latin typeface="Roboto"/>
                <a:ea typeface="Roboto"/>
                <a:cs typeface="Roboto"/>
                <a:sym typeface="Roboto"/>
              </a:rPr>
              <a:t> NUP107</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PRC2 methylates histones and DNA: </a:t>
            </a:r>
            <a:r>
              <a:rPr b="1" i="1" lang="es" sz="750">
                <a:solidFill>
                  <a:schemeClr val="dk2"/>
                </a:solidFill>
                <a:latin typeface="Roboto"/>
                <a:ea typeface="Roboto"/>
                <a:cs typeface="Roboto"/>
                <a:sym typeface="Roboto"/>
              </a:rPr>
              <a:t>H2AZ1</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Positive epigenetic regulation of rRNA expression: </a:t>
            </a:r>
            <a:r>
              <a:rPr b="1" i="1" lang="es" sz="750">
                <a:solidFill>
                  <a:schemeClr val="dk2"/>
                </a:solidFill>
                <a:latin typeface="Roboto"/>
                <a:ea typeface="Roboto"/>
                <a:cs typeface="Roboto"/>
                <a:sym typeface="Roboto"/>
              </a:rPr>
              <a:t>H2AZ1</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Negativ epigenetic regulation of rRNA expression: </a:t>
            </a:r>
            <a:r>
              <a:rPr b="1" i="1" lang="es" sz="750">
                <a:solidFill>
                  <a:schemeClr val="dk2"/>
                </a:solidFill>
                <a:latin typeface="Roboto"/>
                <a:ea typeface="Roboto"/>
                <a:cs typeface="Roboto"/>
                <a:sym typeface="Roboto"/>
              </a:rPr>
              <a:t>H2AZ1</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DNA methylation: </a:t>
            </a:r>
            <a:r>
              <a:rPr b="1" i="1" lang="es" sz="750">
                <a:solidFill>
                  <a:schemeClr val="dk2"/>
                </a:solidFill>
                <a:latin typeface="Roboto"/>
                <a:ea typeface="Roboto"/>
                <a:cs typeface="Roboto"/>
                <a:sym typeface="Roboto"/>
              </a:rPr>
              <a:t>H2AZ1</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PKMTs methylate histone lysine: </a:t>
            </a:r>
            <a:r>
              <a:rPr b="1" i="1" lang="es" sz="750">
                <a:solidFill>
                  <a:schemeClr val="dk2"/>
                </a:solidFill>
                <a:latin typeface="Roboto"/>
                <a:ea typeface="Roboto"/>
                <a:cs typeface="Roboto"/>
                <a:sym typeface="Roboto"/>
              </a:rPr>
              <a:t>NSD2, SUV39H2</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RMTs methylate histone arginine: </a:t>
            </a:r>
            <a:r>
              <a:rPr b="1" i="1" lang="es" sz="750">
                <a:solidFill>
                  <a:schemeClr val="dk2"/>
                </a:solidFill>
                <a:latin typeface="Roboto"/>
                <a:ea typeface="Roboto"/>
                <a:cs typeface="Roboto"/>
                <a:sym typeface="Roboto"/>
              </a:rPr>
              <a:t>H2AZ1</a:t>
            </a:r>
            <a:endParaRPr b="1" i="1" sz="750">
              <a:solidFill>
                <a:schemeClr val="dk2"/>
              </a:solidFill>
              <a:latin typeface="Roboto"/>
              <a:ea typeface="Roboto"/>
              <a:cs typeface="Roboto"/>
              <a:sym typeface="Roboto"/>
            </a:endParaRPr>
          </a:p>
          <a:p>
            <a:pPr indent="-276225" lvl="0" marL="457200" rtl="0" algn="l">
              <a:spcBef>
                <a:spcPts val="0"/>
              </a:spcBef>
              <a:spcAft>
                <a:spcPts val="0"/>
              </a:spcAft>
              <a:buClr>
                <a:schemeClr val="dk2"/>
              </a:buClr>
              <a:buSzPts val="750"/>
              <a:buFont typeface="Roboto"/>
              <a:buChar char="●"/>
            </a:pPr>
            <a:r>
              <a:rPr i="1" lang="es" sz="750">
                <a:solidFill>
                  <a:schemeClr val="dk2"/>
                </a:solidFill>
                <a:latin typeface="Roboto"/>
                <a:ea typeface="Roboto"/>
                <a:cs typeface="Roboto"/>
                <a:sym typeface="Roboto"/>
              </a:rPr>
              <a:t>Detoxification of Reactive Oxygen Species: </a:t>
            </a:r>
            <a:r>
              <a:rPr b="1" i="1" lang="es" sz="750">
                <a:solidFill>
                  <a:schemeClr val="dk2"/>
                </a:solidFill>
                <a:latin typeface="Roboto"/>
                <a:ea typeface="Roboto"/>
                <a:cs typeface="Roboto"/>
                <a:sym typeface="Roboto"/>
              </a:rPr>
              <a:t>GPX3, CYCS</a:t>
            </a:r>
            <a:endParaRPr b="1" i="1" sz="750">
              <a:solidFill>
                <a:schemeClr val="dk2"/>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0"/>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20" name="Google Shape;520;p60"/>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M2 femeninas (lfc &lt; -0.58), y que se encuentran en las listas deseadas:</a:t>
            </a:r>
            <a:endParaRPr b="1" i="1"/>
          </a:p>
          <a:p>
            <a:pPr indent="-291465" lvl="0" marL="457200" rtl="0" algn="l">
              <a:spcBef>
                <a:spcPts val="1200"/>
              </a:spcBef>
              <a:spcAft>
                <a:spcPts val="0"/>
              </a:spcAft>
              <a:buSzPct val="100000"/>
              <a:buChar char="●"/>
            </a:pPr>
            <a:r>
              <a:rPr i="1" lang="es"/>
              <a:t>Interleukin-1 signaling: </a:t>
            </a:r>
            <a:r>
              <a:rPr b="1" i="1" lang="es"/>
              <a:t>PSMB9</a:t>
            </a:r>
            <a:endParaRPr b="1" i="1"/>
          </a:p>
          <a:p>
            <a:pPr indent="-291465" lvl="0" marL="457200" rtl="0" algn="l">
              <a:spcBef>
                <a:spcPts val="0"/>
              </a:spcBef>
              <a:spcAft>
                <a:spcPts val="0"/>
              </a:spcAft>
              <a:buSzPct val="100000"/>
              <a:buChar char="●"/>
            </a:pPr>
            <a:r>
              <a:rPr i="1" lang="es"/>
              <a:t>Interleukin-10 signaling: </a:t>
            </a:r>
            <a:r>
              <a:rPr b="1" i="1" lang="es"/>
              <a:t>CCR2, CD80, IL6</a:t>
            </a:r>
            <a:endParaRPr b="1" i="1"/>
          </a:p>
          <a:p>
            <a:pPr indent="-291465" lvl="0" marL="457200" rtl="0" algn="l">
              <a:spcBef>
                <a:spcPts val="0"/>
              </a:spcBef>
              <a:spcAft>
                <a:spcPts val="0"/>
              </a:spcAft>
              <a:buSzPct val="100000"/>
              <a:buChar char="●"/>
            </a:pPr>
            <a:r>
              <a:rPr i="1" lang="es"/>
              <a:t>Regulation of lipid metabolism by PPARalpha</a:t>
            </a:r>
            <a:r>
              <a:rPr i="1" lang="es"/>
              <a:t>: </a:t>
            </a:r>
            <a:r>
              <a:rPr b="1" i="1" lang="es"/>
              <a:t>TIAM2</a:t>
            </a:r>
            <a:endParaRPr b="1" i="1"/>
          </a:p>
          <a:p>
            <a:pPr indent="-291465" lvl="0" marL="457200" rtl="0" algn="l">
              <a:spcBef>
                <a:spcPts val="0"/>
              </a:spcBef>
              <a:spcAft>
                <a:spcPts val="0"/>
              </a:spcAft>
              <a:buSzPct val="100000"/>
              <a:buChar char="●"/>
            </a:pPr>
            <a:r>
              <a:rPr i="1" lang="es">
                <a:highlight>
                  <a:srgbClr val="FFFF00"/>
                </a:highlight>
              </a:rPr>
              <a:t>Unfolded Protein Response</a:t>
            </a:r>
            <a:r>
              <a:rPr i="1" lang="es" sz="1574">
                <a:highlight>
                  <a:srgbClr val="FFFF00"/>
                </a:highlight>
              </a:rPr>
              <a:t>: </a:t>
            </a:r>
            <a:r>
              <a:rPr b="1" i="1" lang="es" sz="1574">
                <a:highlight>
                  <a:srgbClr val="FFFF00"/>
                </a:highlight>
              </a:rPr>
              <a:t>CEBPB</a:t>
            </a:r>
            <a:endParaRPr b="1" i="1">
              <a:highlight>
                <a:srgbClr val="FFFF00"/>
              </a:highlight>
            </a:endParaRPr>
          </a:p>
          <a:p>
            <a:pPr indent="-291465" lvl="0" marL="457200" rtl="0" algn="l">
              <a:spcBef>
                <a:spcPts val="0"/>
              </a:spcBef>
              <a:spcAft>
                <a:spcPts val="0"/>
              </a:spcAft>
              <a:buSzPct val="100000"/>
              <a:buChar char="●"/>
            </a:pPr>
            <a:r>
              <a:rPr i="1" lang="es">
                <a:highlight>
                  <a:srgbClr val="FFFF00"/>
                </a:highlight>
              </a:rPr>
              <a:t>Cellular Senescence: </a:t>
            </a:r>
            <a:r>
              <a:rPr b="1" i="1" lang="es">
                <a:highlight>
                  <a:srgbClr val="FFFF00"/>
                </a:highlight>
              </a:rPr>
              <a:t>IL6, CEBPB</a:t>
            </a:r>
            <a:endParaRPr b="1" i="1">
              <a:highlight>
                <a:srgbClr val="FFFF00"/>
              </a:highlight>
            </a:endParaRPr>
          </a:p>
          <a:p>
            <a:pPr indent="-291465" lvl="0" marL="457200" rtl="0" algn="l">
              <a:spcBef>
                <a:spcPts val="0"/>
              </a:spcBef>
              <a:spcAft>
                <a:spcPts val="0"/>
              </a:spcAft>
              <a:buSzPct val="100000"/>
              <a:buChar char="●"/>
            </a:pPr>
            <a:r>
              <a:rPr i="1" lang="es">
                <a:highlight>
                  <a:srgbClr val="FF9900"/>
                </a:highlight>
              </a:rPr>
              <a:t>Arachdonic Acid metabolism: </a:t>
            </a:r>
            <a:r>
              <a:rPr b="1" i="1" lang="es">
                <a:highlight>
                  <a:srgbClr val="FF9900"/>
                </a:highlight>
              </a:rPr>
              <a:t>CYP1B1, ALOX5</a:t>
            </a:r>
            <a:endParaRPr b="1" i="1">
              <a:highlight>
                <a:srgbClr val="FF9900"/>
              </a:highlight>
            </a:endParaRPr>
          </a:p>
          <a:p>
            <a:pPr indent="-291465" lvl="0" marL="457200" rtl="0" algn="l">
              <a:spcBef>
                <a:spcPts val="0"/>
              </a:spcBef>
              <a:spcAft>
                <a:spcPts val="0"/>
              </a:spcAft>
              <a:buSzPct val="100000"/>
              <a:buChar char="●"/>
            </a:pPr>
            <a:r>
              <a:rPr i="1" lang="es">
                <a:highlight>
                  <a:srgbClr val="FF9900"/>
                </a:highlight>
              </a:rPr>
              <a:t>Phospholipid metabolism: </a:t>
            </a:r>
            <a:r>
              <a:rPr b="1" i="1" lang="es">
                <a:highlight>
                  <a:srgbClr val="FF9900"/>
                </a:highlight>
              </a:rPr>
              <a:t>PLA1A</a:t>
            </a:r>
            <a:endParaRPr b="1" i="1">
              <a:highlight>
                <a:srgbClr val="FF9900"/>
              </a:highlight>
            </a:endParaRPr>
          </a:p>
          <a:p>
            <a:pPr indent="-291465" lvl="0" marL="457200" rtl="0" algn="l">
              <a:spcBef>
                <a:spcPts val="0"/>
              </a:spcBef>
              <a:spcAft>
                <a:spcPts val="0"/>
              </a:spcAft>
              <a:buSzPct val="100000"/>
              <a:buChar char="●"/>
            </a:pPr>
            <a:r>
              <a:rPr i="1" lang="es">
                <a:highlight>
                  <a:srgbClr val="FF9900"/>
                </a:highlight>
              </a:rPr>
              <a:t>Steroids metabolism: </a:t>
            </a:r>
            <a:r>
              <a:rPr b="1" i="1" lang="es">
                <a:highlight>
                  <a:srgbClr val="FF9900"/>
                </a:highlight>
              </a:rPr>
              <a:t>VDR, HSD11B1</a:t>
            </a:r>
            <a:endParaRPr b="1" i="1">
              <a:highlight>
                <a:srgbClr val="FF9900"/>
              </a:highlight>
            </a:endParaRPr>
          </a:p>
          <a:p>
            <a:pPr indent="-291465" lvl="0" marL="457200" rtl="0" algn="l">
              <a:spcBef>
                <a:spcPts val="0"/>
              </a:spcBef>
              <a:spcAft>
                <a:spcPts val="0"/>
              </a:spcAft>
              <a:buSzPct val="100000"/>
              <a:buChar char="●"/>
            </a:pPr>
            <a:r>
              <a:rPr i="1" lang="es"/>
              <a:t>Nucleotides metabolism: </a:t>
            </a:r>
            <a:r>
              <a:rPr b="1" i="1" lang="es"/>
              <a:t>UPP1</a:t>
            </a:r>
            <a:endParaRPr b="1" i="1"/>
          </a:p>
          <a:p>
            <a:pPr indent="-291465" lvl="0" marL="457200" rtl="0" algn="l">
              <a:spcBef>
                <a:spcPts val="0"/>
              </a:spcBef>
              <a:spcAft>
                <a:spcPts val="0"/>
              </a:spcAft>
              <a:buSzPct val="100000"/>
              <a:buChar char="●"/>
            </a:pPr>
            <a:r>
              <a:rPr i="1" lang="es">
                <a:highlight>
                  <a:srgbClr val="FF9900"/>
                </a:highlight>
              </a:rPr>
              <a:t>Folate metabolism: </a:t>
            </a:r>
            <a:r>
              <a:rPr b="1" i="1" lang="es">
                <a:highlight>
                  <a:srgbClr val="FF9900"/>
                </a:highlight>
              </a:rPr>
              <a:t>MTHFS</a:t>
            </a:r>
            <a:endParaRPr i="1">
              <a:highlight>
                <a:srgbClr val="FF9900"/>
              </a:highlight>
            </a:endParaRPr>
          </a:p>
          <a:p>
            <a:pPr indent="-291465" lvl="0" marL="457200" rtl="0" algn="l">
              <a:spcBef>
                <a:spcPts val="0"/>
              </a:spcBef>
              <a:spcAft>
                <a:spcPts val="0"/>
              </a:spcAft>
              <a:buSzPct val="100000"/>
              <a:buChar char="●"/>
            </a:pPr>
            <a:r>
              <a:rPr i="1" lang="es">
                <a:highlight>
                  <a:srgbClr val="FF9900"/>
                </a:highlight>
              </a:rPr>
              <a:t>Choline catabolism: </a:t>
            </a:r>
            <a:r>
              <a:rPr b="1" i="1" lang="es">
                <a:highlight>
                  <a:srgbClr val="FF9900"/>
                </a:highlight>
              </a:rPr>
              <a:t>CHDH</a:t>
            </a:r>
            <a:endParaRPr b="1" i="1">
              <a:highlight>
                <a:srgbClr val="FF9900"/>
              </a:highlight>
            </a:endParaRPr>
          </a:p>
          <a:p>
            <a:pPr indent="-291465" lvl="0" marL="457200" rtl="0" algn="l">
              <a:spcBef>
                <a:spcPts val="0"/>
              </a:spcBef>
              <a:spcAft>
                <a:spcPts val="0"/>
              </a:spcAft>
              <a:buSzPct val="100000"/>
              <a:buChar char="●"/>
            </a:pPr>
            <a:r>
              <a:rPr i="1" lang="es"/>
              <a:t>Polyamines metabolism: </a:t>
            </a:r>
            <a:r>
              <a:rPr b="1" i="1" lang="es"/>
              <a:t>PSMB9</a:t>
            </a:r>
            <a:endParaRPr b="1" i="1"/>
          </a:p>
          <a:p>
            <a:pPr indent="-291465" lvl="0" marL="457200" rtl="0" algn="l">
              <a:spcBef>
                <a:spcPts val="0"/>
              </a:spcBef>
              <a:spcAft>
                <a:spcPts val="0"/>
              </a:spcAft>
              <a:buSzPct val="100000"/>
              <a:buChar char="●"/>
            </a:pPr>
            <a:r>
              <a:rPr i="1" lang="es"/>
              <a:t>tRNA Aminoacylation: </a:t>
            </a:r>
            <a:r>
              <a:rPr b="1" i="1" lang="es"/>
              <a:t>WARS1</a:t>
            </a:r>
            <a:endParaRPr b="1" i="1"/>
          </a:p>
          <a:p>
            <a:pPr indent="-291465" lvl="0" marL="457200" rtl="0" algn="l">
              <a:spcBef>
                <a:spcPts val="0"/>
              </a:spcBef>
              <a:spcAft>
                <a:spcPts val="0"/>
              </a:spcAft>
              <a:buSzPct val="100000"/>
              <a:buChar char="●"/>
            </a:pPr>
            <a:r>
              <a:rPr i="1" lang="es"/>
              <a:t>Eukaryotic Translation Elongation: </a:t>
            </a:r>
            <a:r>
              <a:rPr b="1" i="1" lang="es"/>
              <a:t>EEF1A2</a:t>
            </a:r>
            <a:endParaRPr b="1" i="1"/>
          </a:p>
          <a:p>
            <a:pPr indent="-291465" lvl="0" marL="457200" rtl="0" algn="l">
              <a:spcBef>
                <a:spcPts val="0"/>
              </a:spcBef>
              <a:spcAft>
                <a:spcPts val="0"/>
              </a:spcAft>
              <a:buSzPct val="100000"/>
              <a:buChar char="●"/>
            </a:pPr>
            <a:r>
              <a:rPr i="1" lang="es"/>
              <a:t>Post-translational modification: synthesis of GPI-anchored proteins: </a:t>
            </a:r>
            <a:r>
              <a:rPr b="1" i="1" lang="es"/>
              <a:t>LY6E</a:t>
            </a:r>
            <a:endParaRPr b="1" i="1"/>
          </a:p>
          <a:p>
            <a:pPr indent="-291465" lvl="0" marL="457200" rtl="0" algn="l">
              <a:spcBef>
                <a:spcPts val="0"/>
              </a:spcBef>
              <a:spcAft>
                <a:spcPts val="0"/>
              </a:spcAft>
              <a:buSzPct val="100000"/>
              <a:buChar char="●"/>
            </a:pPr>
            <a:r>
              <a:rPr i="1" lang="es"/>
              <a:t>Asparagine N-linked glycosylation: </a:t>
            </a:r>
            <a:r>
              <a:rPr b="1" i="1" lang="es"/>
              <a:t>CD55</a:t>
            </a:r>
            <a:endParaRPr b="1" i="1"/>
          </a:p>
          <a:p>
            <a:pPr indent="-291465" lvl="0" marL="457200" rtl="0" algn="l">
              <a:spcBef>
                <a:spcPts val="0"/>
              </a:spcBef>
              <a:spcAft>
                <a:spcPts val="0"/>
              </a:spcAft>
              <a:buSzPct val="100000"/>
              <a:buChar char="●"/>
            </a:pPr>
            <a:r>
              <a:rPr i="1" lang="es"/>
              <a:t>O-linked glycosylation: </a:t>
            </a:r>
            <a:r>
              <a:rPr b="1" i="1" lang="es"/>
              <a:t>ADAMTSL4</a:t>
            </a:r>
            <a:endParaRPr b="1" i="1"/>
          </a:p>
          <a:p>
            <a:pPr indent="-291465" lvl="0" marL="457200" rtl="0" algn="l">
              <a:spcBef>
                <a:spcPts val="0"/>
              </a:spcBef>
              <a:spcAft>
                <a:spcPts val="0"/>
              </a:spcAft>
              <a:buSzPct val="100000"/>
              <a:buChar char="●"/>
            </a:pPr>
            <a:r>
              <a:rPr i="1" lang="es"/>
              <a:t>SUMOylation: </a:t>
            </a:r>
            <a:r>
              <a:rPr b="1" i="1" lang="es"/>
              <a:t>VDR</a:t>
            </a:r>
            <a:endParaRPr b="1" i="1"/>
          </a:p>
          <a:p>
            <a:pPr indent="0" lvl="0" marL="0" rtl="0" algn="l">
              <a:spcBef>
                <a:spcPts val="0"/>
              </a:spcBef>
              <a:spcAft>
                <a:spcPts val="1200"/>
              </a:spcAft>
              <a:buNone/>
            </a:pPr>
            <a:r>
              <a:t/>
            </a:r>
            <a:endParaRPr/>
          </a:p>
        </p:txBody>
      </p:sp>
      <p:sp>
        <p:nvSpPr>
          <p:cNvPr id="521" name="Google Shape;521;p60"/>
          <p:cNvSpPr txBox="1"/>
          <p:nvPr/>
        </p:nvSpPr>
        <p:spPr>
          <a:xfrm>
            <a:off x="5129475" y="1387475"/>
            <a:ext cx="3854100" cy="2508600"/>
          </a:xfrm>
          <a:prstGeom prst="rect">
            <a:avLst/>
          </a:prstGeom>
          <a:noFill/>
          <a:ln>
            <a:noFill/>
          </a:ln>
        </p:spPr>
        <p:txBody>
          <a:bodyPr anchorCtr="0" anchor="t" bIns="91425" lIns="91425" spcFirstLastPara="1" rIns="91425" wrap="square" tIns="91425">
            <a:noAutofit/>
          </a:bodyPr>
          <a:lstStyle/>
          <a:p>
            <a:pPr indent="-288925" lvl="0" marL="457200" rtl="0" algn="l">
              <a:spcBef>
                <a:spcPts val="0"/>
              </a:spcBef>
              <a:spcAft>
                <a:spcPts val="0"/>
              </a:spcAft>
              <a:buClr>
                <a:schemeClr val="dk2"/>
              </a:buClr>
              <a:buSzPts val="950"/>
              <a:buFont typeface="Roboto"/>
              <a:buChar char="●"/>
            </a:pPr>
            <a:r>
              <a:rPr i="1" lang="es" sz="950">
                <a:solidFill>
                  <a:schemeClr val="dk2"/>
                </a:solidFill>
                <a:latin typeface="Roboto"/>
                <a:ea typeface="Roboto"/>
                <a:cs typeface="Roboto"/>
                <a:sym typeface="Roboto"/>
              </a:rPr>
              <a:t>Deubiquination: </a:t>
            </a:r>
            <a:r>
              <a:rPr b="1" i="1" lang="es" sz="950">
                <a:solidFill>
                  <a:schemeClr val="dk2"/>
                </a:solidFill>
                <a:latin typeface="Roboto"/>
                <a:ea typeface="Roboto"/>
                <a:cs typeface="Roboto"/>
                <a:sym typeface="Roboto"/>
              </a:rPr>
              <a:t>PSMB9</a:t>
            </a:r>
            <a:endParaRPr b="1" i="1" sz="950">
              <a:solidFill>
                <a:schemeClr val="dk2"/>
              </a:solidFill>
              <a:latin typeface="Roboto"/>
              <a:ea typeface="Roboto"/>
              <a:cs typeface="Roboto"/>
              <a:sym typeface="Roboto"/>
            </a:endParaRPr>
          </a:p>
          <a:p>
            <a:pPr indent="-288925" lvl="0" marL="457200" rtl="0" algn="l">
              <a:spcBef>
                <a:spcPts val="0"/>
              </a:spcBef>
              <a:spcAft>
                <a:spcPts val="0"/>
              </a:spcAft>
              <a:buClr>
                <a:schemeClr val="dk2"/>
              </a:buClr>
              <a:buSzPts val="950"/>
              <a:buFont typeface="Roboto"/>
              <a:buChar char="●"/>
            </a:pPr>
            <a:r>
              <a:rPr i="1" lang="es" sz="950">
                <a:solidFill>
                  <a:schemeClr val="dk2"/>
                </a:solidFill>
                <a:latin typeface="Roboto"/>
                <a:ea typeface="Roboto"/>
                <a:cs typeface="Roboto"/>
                <a:sym typeface="Roboto"/>
              </a:rPr>
              <a:t>Neddylation: </a:t>
            </a:r>
            <a:r>
              <a:rPr b="1" i="1" lang="es" sz="950">
                <a:solidFill>
                  <a:schemeClr val="dk2"/>
                </a:solidFill>
                <a:latin typeface="Roboto"/>
                <a:ea typeface="Roboto"/>
                <a:cs typeface="Roboto"/>
                <a:sym typeface="Roboto"/>
              </a:rPr>
              <a:t>SOCS2, KLHL3, CISH, PSMB9, IL6</a:t>
            </a:r>
            <a:endParaRPr b="1" i="1" sz="950">
              <a:solidFill>
                <a:schemeClr val="dk2"/>
              </a:solidFill>
              <a:latin typeface="Roboto"/>
              <a:ea typeface="Roboto"/>
              <a:cs typeface="Roboto"/>
              <a:sym typeface="Roboto"/>
            </a:endParaRPr>
          </a:p>
          <a:p>
            <a:pPr indent="-288925" lvl="0" marL="457200" rtl="0" algn="l">
              <a:spcBef>
                <a:spcPts val="0"/>
              </a:spcBef>
              <a:spcAft>
                <a:spcPts val="0"/>
              </a:spcAft>
              <a:buClr>
                <a:schemeClr val="dk2"/>
              </a:buClr>
              <a:buSzPts val="950"/>
              <a:buFont typeface="Roboto"/>
              <a:buChar char="●"/>
            </a:pPr>
            <a:r>
              <a:rPr i="1" lang="es" sz="950">
                <a:solidFill>
                  <a:schemeClr val="dk2"/>
                </a:solidFill>
                <a:latin typeface="Roboto"/>
                <a:ea typeface="Roboto"/>
                <a:cs typeface="Roboto"/>
                <a:sym typeface="Roboto"/>
              </a:rPr>
              <a:t>Post-translational protein phosphorylation: </a:t>
            </a:r>
            <a:r>
              <a:rPr b="1" i="1" lang="es" sz="950">
                <a:solidFill>
                  <a:schemeClr val="dk2"/>
                </a:solidFill>
                <a:latin typeface="Roboto"/>
                <a:ea typeface="Roboto"/>
                <a:cs typeface="Roboto"/>
                <a:sym typeface="Roboto"/>
              </a:rPr>
              <a:t>IL6</a:t>
            </a:r>
            <a:endParaRPr b="1" i="1" sz="950">
              <a:solidFill>
                <a:schemeClr val="dk2"/>
              </a:solidFill>
              <a:latin typeface="Roboto"/>
              <a:ea typeface="Roboto"/>
              <a:cs typeface="Roboto"/>
              <a:sym typeface="Roboto"/>
            </a:endParaRPr>
          </a:p>
          <a:p>
            <a:pPr indent="-288925" lvl="0" marL="457200" rtl="0" algn="l">
              <a:spcBef>
                <a:spcPts val="0"/>
              </a:spcBef>
              <a:spcAft>
                <a:spcPts val="0"/>
              </a:spcAft>
              <a:buClr>
                <a:schemeClr val="dk2"/>
              </a:buClr>
              <a:buSzPts val="950"/>
              <a:buFont typeface="Roboto"/>
              <a:buChar char="●"/>
            </a:pPr>
            <a:r>
              <a:rPr i="1" lang="es" sz="950">
                <a:solidFill>
                  <a:schemeClr val="dk2"/>
                </a:solidFill>
                <a:latin typeface="Roboto"/>
                <a:ea typeface="Roboto"/>
                <a:cs typeface="Roboto"/>
                <a:sym typeface="Roboto"/>
              </a:rPr>
              <a:t>Peptide hormone metabolism: </a:t>
            </a:r>
            <a:r>
              <a:rPr b="1" i="1" lang="es" sz="950">
                <a:solidFill>
                  <a:schemeClr val="dk2"/>
                </a:solidFill>
                <a:latin typeface="Roboto"/>
                <a:ea typeface="Roboto"/>
                <a:cs typeface="Roboto"/>
                <a:sym typeface="Roboto"/>
              </a:rPr>
              <a:t>INHBA</a:t>
            </a:r>
            <a:endParaRPr b="1" i="1" sz="950">
              <a:solidFill>
                <a:schemeClr val="dk2"/>
              </a:solidFill>
              <a:latin typeface="Roboto"/>
              <a:ea typeface="Roboto"/>
              <a:cs typeface="Roboto"/>
              <a:sym typeface="Roboto"/>
            </a:endParaRPr>
          </a:p>
          <a:p>
            <a:pPr indent="-288925" lvl="0" marL="457200" rtl="0" algn="l">
              <a:spcBef>
                <a:spcPts val="0"/>
              </a:spcBef>
              <a:spcAft>
                <a:spcPts val="0"/>
              </a:spcAft>
              <a:buClr>
                <a:schemeClr val="dk2"/>
              </a:buClr>
              <a:buSzPts val="950"/>
              <a:buFont typeface="Roboto"/>
              <a:buChar char="●"/>
            </a:pPr>
            <a:r>
              <a:rPr i="1" lang="es" sz="950">
                <a:latin typeface="Roboto"/>
                <a:ea typeface="Roboto"/>
                <a:cs typeface="Roboto"/>
                <a:sym typeface="Roboto"/>
              </a:rPr>
              <a:t>Regulation of Insulin-like Growth Factor (IGF) transport and uptake by Insulin-like Growth Factor Binding Proteins (IGFBPs): </a:t>
            </a:r>
            <a:r>
              <a:rPr b="1" i="1" lang="es" sz="950">
                <a:latin typeface="Roboto"/>
                <a:ea typeface="Roboto"/>
                <a:cs typeface="Roboto"/>
                <a:sym typeface="Roboto"/>
              </a:rPr>
              <a:t>IL6</a:t>
            </a:r>
            <a:endParaRPr b="1" i="1" sz="950">
              <a:latin typeface="Roboto"/>
              <a:ea typeface="Roboto"/>
              <a:cs typeface="Roboto"/>
              <a:sym typeface="Roboto"/>
            </a:endParaRPr>
          </a:p>
          <a:p>
            <a:pPr indent="-288925" lvl="0" marL="457200" rtl="0" algn="l">
              <a:spcBef>
                <a:spcPts val="0"/>
              </a:spcBef>
              <a:spcAft>
                <a:spcPts val="0"/>
              </a:spcAft>
              <a:buSzPts val="950"/>
              <a:buFont typeface="Roboto"/>
              <a:buChar char="●"/>
            </a:pPr>
            <a:r>
              <a:rPr i="1" lang="es" sz="950">
                <a:latin typeface="Roboto"/>
                <a:ea typeface="Roboto"/>
                <a:cs typeface="Roboto"/>
                <a:sym typeface="Roboto"/>
              </a:rPr>
              <a:t>UPR: </a:t>
            </a:r>
            <a:r>
              <a:rPr b="1" i="1" lang="es" sz="950">
                <a:latin typeface="Roboto"/>
                <a:ea typeface="Roboto"/>
                <a:cs typeface="Roboto"/>
                <a:sym typeface="Roboto"/>
              </a:rPr>
              <a:t>CEBPB</a:t>
            </a:r>
            <a:endParaRPr b="1" i="1" sz="950">
              <a:latin typeface="Roboto"/>
              <a:ea typeface="Roboto"/>
              <a:cs typeface="Roboto"/>
              <a:sym typeface="Roboto"/>
            </a:endParaRPr>
          </a:p>
          <a:p>
            <a:pPr indent="-288925" lvl="0" marL="457200" rtl="0" algn="l">
              <a:spcBef>
                <a:spcPts val="0"/>
              </a:spcBef>
              <a:spcAft>
                <a:spcPts val="0"/>
              </a:spcAft>
              <a:buSzPts val="950"/>
              <a:buFont typeface="Roboto"/>
              <a:buChar char="●"/>
            </a:pPr>
            <a:r>
              <a:rPr i="1" lang="es" sz="950">
                <a:latin typeface="Roboto"/>
                <a:ea typeface="Roboto"/>
                <a:cs typeface="Roboto"/>
                <a:sym typeface="Roboto"/>
              </a:rPr>
              <a:t>Protein repair: </a:t>
            </a:r>
            <a:r>
              <a:rPr b="1" i="1" lang="es" sz="950">
                <a:latin typeface="Roboto"/>
                <a:ea typeface="Roboto"/>
                <a:cs typeface="Roboto"/>
                <a:sym typeface="Roboto"/>
              </a:rPr>
              <a:t>MSRB1</a:t>
            </a:r>
            <a:endParaRPr b="1" i="1" sz="950">
              <a:latin typeface="Roboto"/>
              <a:ea typeface="Roboto"/>
              <a:cs typeface="Roboto"/>
              <a:sym typeface="Roboto"/>
            </a:endParaRPr>
          </a:p>
          <a:p>
            <a:pPr indent="-288925" lvl="0" marL="457200" rtl="0" algn="l">
              <a:spcBef>
                <a:spcPts val="0"/>
              </a:spcBef>
              <a:spcAft>
                <a:spcPts val="0"/>
              </a:spcAft>
              <a:buSzPts val="950"/>
              <a:buFont typeface="Roboto"/>
              <a:buChar char="●"/>
            </a:pPr>
            <a:r>
              <a:rPr i="1" lang="es" sz="950">
                <a:latin typeface="Roboto"/>
                <a:ea typeface="Roboto"/>
                <a:cs typeface="Roboto"/>
                <a:sym typeface="Roboto"/>
              </a:rPr>
              <a:t>Regulation of mRNA stability by proteins that bind AU-rich elements: </a:t>
            </a:r>
            <a:r>
              <a:rPr b="1" i="1" lang="es" sz="950">
                <a:latin typeface="Roboto"/>
                <a:ea typeface="Roboto"/>
                <a:cs typeface="Roboto"/>
                <a:sym typeface="Roboto"/>
              </a:rPr>
              <a:t>PSMB9</a:t>
            </a:r>
            <a:endParaRPr b="1" i="1" sz="950">
              <a:latin typeface="Roboto"/>
              <a:ea typeface="Roboto"/>
              <a:cs typeface="Roboto"/>
              <a:sym typeface="Roboto"/>
            </a:endParaRPr>
          </a:p>
          <a:p>
            <a:pPr indent="-288925" lvl="0" marL="457200" rtl="0" algn="l">
              <a:spcBef>
                <a:spcPts val="0"/>
              </a:spcBef>
              <a:spcAft>
                <a:spcPts val="0"/>
              </a:spcAft>
              <a:buSzPts val="950"/>
              <a:buFont typeface="Roboto"/>
              <a:buChar char="●"/>
            </a:pPr>
            <a:r>
              <a:rPr i="1" lang="es" sz="950">
                <a:latin typeface="Roboto"/>
                <a:ea typeface="Roboto"/>
                <a:cs typeface="Roboto"/>
                <a:sym typeface="Roboto"/>
              </a:rPr>
              <a:t>Cellular response to hypoxia: </a:t>
            </a:r>
            <a:r>
              <a:rPr b="1" i="1" lang="es" sz="950">
                <a:latin typeface="Roboto"/>
                <a:ea typeface="Roboto"/>
                <a:cs typeface="Roboto"/>
                <a:sym typeface="Roboto"/>
              </a:rPr>
              <a:t>PSMB9</a:t>
            </a:r>
            <a:endParaRPr b="1" i="1" sz="950">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27" name="Google Shape;527;p61"/>
          <p:cNvSpPr txBox="1"/>
          <p:nvPr>
            <p:ph idx="1" type="body"/>
          </p:nvPr>
        </p:nvSpPr>
        <p:spPr>
          <a:xfrm>
            <a:off x="282875" y="11825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sz="1100">
                <a:solidFill>
                  <a:srgbClr val="000000"/>
                </a:solidFill>
                <a:latin typeface="Arial"/>
                <a:ea typeface="Arial"/>
                <a:cs typeface="Arial"/>
                <a:sym typeface="Arial"/>
              </a:rPr>
              <a:t>mitochondrial</a:t>
            </a:r>
            <a:r>
              <a:rPr b="1" lang="es" sz="1100">
                <a:solidFill>
                  <a:srgbClr val="000000"/>
                </a:solidFill>
                <a:latin typeface="Arial"/>
                <a:ea typeface="Arial"/>
                <a:cs typeface="Arial"/>
                <a:sym typeface="Arial"/>
              </a:rPr>
              <a:t> dysfunction</a:t>
            </a:r>
            <a:r>
              <a:rPr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HSPB1 se activa e induce </a:t>
            </a:r>
            <a:r>
              <a:rPr b="1" lang="es" sz="1100">
                <a:solidFill>
                  <a:srgbClr val="000000"/>
                </a:solidFill>
                <a:latin typeface="Arial"/>
                <a:ea typeface="Arial"/>
                <a:cs typeface="Arial"/>
                <a:sym typeface="Arial"/>
              </a:rPr>
              <a:t>PSMB9 a través de EEF1A2</a:t>
            </a:r>
            <a:endParaRPr b="1" sz="1100">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2"/>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33" name="Google Shape;533;p62"/>
          <p:cNvSpPr txBox="1"/>
          <p:nvPr>
            <p:ph idx="1" type="body"/>
          </p:nvPr>
        </p:nvSpPr>
        <p:spPr>
          <a:xfrm>
            <a:off x="109950" y="1017800"/>
            <a:ext cx="8924100" cy="33390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M2 masculinas (lfc &gt; 0.58), y que se encuentran en las listas deseadas:</a:t>
            </a:r>
            <a:endParaRPr>
              <a:latin typeface="Montserrat"/>
              <a:ea typeface="Montserrat"/>
              <a:cs typeface="Montserrat"/>
              <a:sym typeface="Montserrat"/>
            </a:endParaRPr>
          </a:p>
          <a:p>
            <a:pPr indent="-282893" lvl="0" marL="457200" rtl="0" algn="l">
              <a:spcBef>
                <a:spcPts val="1200"/>
              </a:spcBef>
              <a:spcAft>
                <a:spcPts val="0"/>
              </a:spcAft>
              <a:buSzPct val="100000"/>
              <a:buChar char="●"/>
            </a:pPr>
            <a:r>
              <a:rPr i="1" lang="es"/>
              <a:t>Toll Like Receptor 4 Cascade: </a:t>
            </a:r>
            <a:r>
              <a:rPr b="1" i="1" lang="es"/>
              <a:t>TLR4</a:t>
            </a:r>
            <a:endParaRPr b="1" i="1"/>
          </a:p>
          <a:p>
            <a:pPr indent="-282893" lvl="0" marL="457200" rtl="0" algn="l">
              <a:spcBef>
                <a:spcPts val="0"/>
              </a:spcBef>
              <a:spcAft>
                <a:spcPts val="0"/>
              </a:spcAft>
              <a:buSzPct val="100000"/>
              <a:buChar char="●"/>
            </a:pPr>
            <a:r>
              <a:rPr i="1" lang="es"/>
              <a:t>Interleukin-10 signaling: </a:t>
            </a:r>
            <a:r>
              <a:rPr b="1" i="1" lang="es"/>
              <a:t>IL10, CXCL2</a:t>
            </a:r>
            <a:endParaRPr b="1" i="1"/>
          </a:p>
          <a:p>
            <a:pPr indent="-282893" lvl="0" marL="457200" rtl="0" algn="l">
              <a:spcBef>
                <a:spcPts val="0"/>
              </a:spcBef>
              <a:spcAft>
                <a:spcPts val="0"/>
              </a:spcAft>
              <a:buSzPct val="100000"/>
              <a:buChar char="●"/>
            </a:pPr>
            <a:r>
              <a:rPr i="1" lang="es"/>
              <a:t>Signaling by TGF-beta Receptor Complex: </a:t>
            </a:r>
            <a:r>
              <a:rPr b="1" i="1" lang="es"/>
              <a:t>ITGB5, LTBP2</a:t>
            </a:r>
            <a:endParaRPr b="1" i="1"/>
          </a:p>
          <a:p>
            <a:pPr indent="-282893" lvl="0" marL="457200" rtl="0" algn="l">
              <a:spcBef>
                <a:spcPts val="0"/>
              </a:spcBef>
              <a:spcAft>
                <a:spcPts val="0"/>
              </a:spcAft>
              <a:buSzPct val="100000"/>
              <a:buChar char="●"/>
            </a:pPr>
            <a:r>
              <a:rPr i="1" lang="es">
                <a:highlight>
                  <a:srgbClr val="FF9900"/>
                </a:highlight>
              </a:rPr>
              <a:t>Glycolisis: </a:t>
            </a:r>
            <a:r>
              <a:rPr b="1" i="1" lang="es">
                <a:highlight>
                  <a:srgbClr val="FF9900"/>
                </a:highlight>
              </a:rPr>
              <a:t>PFKFB3, PRKACB</a:t>
            </a:r>
            <a:endParaRPr b="1" i="1">
              <a:highlight>
                <a:srgbClr val="FF9900"/>
              </a:highlight>
            </a:endParaRPr>
          </a:p>
          <a:p>
            <a:pPr indent="-282893" lvl="0" marL="457200" rtl="0" algn="l">
              <a:spcBef>
                <a:spcPts val="0"/>
              </a:spcBef>
              <a:spcAft>
                <a:spcPts val="0"/>
              </a:spcAft>
              <a:buSzPct val="100000"/>
              <a:buChar char="●"/>
            </a:pPr>
            <a:r>
              <a:rPr i="1" lang="es">
                <a:highlight>
                  <a:srgbClr val="FF9900"/>
                </a:highlight>
              </a:rPr>
              <a:t>Regulation of lipid metabolism by PPARalpha: </a:t>
            </a:r>
            <a:r>
              <a:rPr b="1" i="1" lang="es">
                <a:highlight>
                  <a:srgbClr val="FF9900"/>
                </a:highlight>
              </a:rPr>
              <a:t>ABCA1</a:t>
            </a:r>
            <a:endParaRPr b="1" i="1">
              <a:highlight>
                <a:srgbClr val="FF9900"/>
              </a:highlight>
            </a:endParaRPr>
          </a:p>
          <a:p>
            <a:pPr indent="-282893" lvl="0" marL="457200" rtl="0" algn="l">
              <a:spcBef>
                <a:spcPts val="0"/>
              </a:spcBef>
              <a:spcAft>
                <a:spcPts val="0"/>
              </a:spcAft>
              <a:buSzPct val="100000"/>
              <a:buChar char="●"/>
            </a:pPr>
            <a:r>
              <a:rPr i="1" lang="es"/>
              <a:t>Binding and uptake of ligands by scavenger receptor</a:t>
            </a:r>
            <a:r>
              <a:rPr i="1" lang="es"/>
              <a:t>: </a:t>
            </a:r>
            <a:r>
              <a:rPr b="1" i="1" lang="es"/>
              <a:t>CD163, SPARC, STAB1, MSR1, COLEC12</a:t>
            </a:r>
            <a:endParaRPr b="1" i="1"/>
          </a:p>
          <a:p>
            <a:pPr indent="-282893" lvl="0" marL="457200" rtl="0" algn="l">
              <a:spcBef>
                <a:spcPts val="0"/>
              </a:spcBef>
              <a:spcAft>
                <a:spcPts val="0"/>
              </a:spcAft>
              <a:buSzPct val="100000"/>
              <a:buChar char="●"/>
            </a:pPr>
            <a:r>
              <a:rPr i="1" lang="es">
                <a:highlight>
                  <a:srgbClr val="FF9900"/>
                </a:highlight>
              </a:rPr>
              <a:t>Glycogen metabolism: </a:t>
            </a:r>
            <a:r>
              <a:rPr b="1" i="1" lang="es">
                <a:highlight>
                  <a:srgbClr val="FF9900"/>
                </a:highlight>
              </a:rPr>
              <a:t>PFKFB3, PRKACB</a:t>
            </a:r>
            <a:endParaRPr b="1" i="1">
              <a:highlight>
                <a:srgbClr val="FF9900"/>
              </a:highlight>
            </a:endParaRPr>
          </a:p>
          <a:p>
            <a:pPr indent="-282893" lvl="0" marL="457200" rtl="0" algn="l">
              <a:spcBef>
                <a:spcPts val="0"/>
              </a:spcBef>
              <a:spcAft>
                <a:spcPts val="0"/>
              </a:spcAft>
              <a:buSzPct val="100000"/>
              <a:buChar char="●"/>
            </a:pPr>
            <a:r>
              <a:rPr i="1" lang="es">
                <a:highlight>
                  <a:srgbClr val="FF9900"/>
                </a:highlight>
              </a:rPr>
              <a:t>Glycosaminoglycan metabolism: </a:t>
            </a:r>
            <a:r>
              <a:rPr b="1" i="1" lang="es">
                <a:highlight>
                  <a:srgbClr val="FF9900"/>
                </a:highlight>
              </a:rPr>
              <a:t>HS3ST1, HS3ST2</a:t>
            </a:r>
            <a:endParaRPr b="1" i="1">
              <a:highlight>
                <a:srgbClr val="FF9900"/>
              </a:highlight>
            </a:endParaRPr>
          </a:p>
          <a:p>
            <a:pPr indent="-282893" lvl="0" marL="457200" rtl="0" algn="l">
              <a:spcBef>
                <a:spcPts val="0"/>
              </a:spcBef>
              <a:spcAft>
                <a:spcPts val="0"/>
              </a:spcAft>
              <a:buSzPct val="100000"/>
              <a:buChar char="●"/>
            </a:pPr>
            <a:r>
              <a:rPr i="1" lang="es">
                <a:highlight>
                  <a:srgbClr val="FF9900"/>
                </a:highlight>
              </a:rPr>
              <a:t>Triglyceride catabolism: </a:t>
            </a:r>
            <a:r>
              <a:rPr b="1" i="1" lang="es">
                <a:highlight>
                  <a:srgbClr val="FF9900"/>
                </a:highlight>
              </a:rPr>
              <a:t>PRKACB</a:t>
            </a:r>
            <a:endParaRPr b="1" i="1">
              <a:highlight>
                <a:srgbClr val="FF9900"/>
              </a:highlight>
            </a:endParaRPr>
          </a:p>
          <a:p>
            <a:pPr indent="-282893" lvl="0" marL="457200" rtl="0" algn="l">
              <a:spcBef>
                <a:spcPts val="0"/>
              </a:spcBef>
              <a:spcAft>
                <a:spcPts val="0"/>
              </a:spcAft>
              <a:buSzPct val="100000"/>
              <a:buChar char="●"/>
            </a:pPr>
            <a:r>
              <a:rPr i="1" lang="es"/>
              <a:t>Nucleotides metabolism: </a:t>
            </a:r>
            <a:r>
              <a:rPr b="1" i="1" lang="es"/>
              <a:t>ADA</a:t>
            </a:r>
            <a:endParaRPr b="1" i="1"/>
          </a:p>
          <a:p>
            <a:pPr indent="-282893" lvl="0" marL="457200" rtl="0" algn="l">
              <a:spcBef>
                <a:spcPts val="0"/>
              </a:spcBef>
              <a:spcAft>
                <a:spcPts val="0"/>
              </a:spcAft>
              <a:buSzPct val="100000"/>
              <a:buChar char="●"/>
            </a:pPr>
            <a:r>
              <a:rPr i="1" lang="es"/>
              <a:t>Nicotinate metabolism: </a:t>
            </a:r>
            <a:r>
              <a:rPr b="1" i="1" lang="es"/>
              <a:t>QPRT</a:t>
            </a:r>
            <a:endParaRPr b="1" i="1"/>
          </a:p>
          <a:p>
            <a:pPr indent="-282893" lvl="0" marL="457200" rtl="0" algn="l">
              <a:spcBef>
                <a:spcPts val="0"/>
              </a:spcBef>
              <a:spcAft>
                <a:spcPts val="0"/>
              </a:spcAft>
              <a:buSzPct val="100000"/>
              <a:buChar char="●"/>
            </a:pPr>
            <a:r>
              <a:rPr i="1" lang="es">
                <a:highlight>
                  <a:srgbClr val="FF9900"/>
                </a:highlight>
              </a:rPr>
              <a:t>Folate metabolism:</a:t>
            </a:r>
            <a:r>
              <a:rPr i="1" lang="es"/>
              <a:t> </a:t>
            </a:r>
            <a:r>
              <a:rPr b="1" i="1" lang="es"/>
              <a:t>FOLR2, SHMT1, SLC46A1</a:t>
            </a:r>
            <a:endParaRPr b="1" i="1"/>
          </a:p>
          <a:p>
            <a:pPr indent="-282893" lvl="0" marL="457200" rtl="0" algn="l">
              <a:spcBef>
                <a:spcPts val="0"/>
              </a:spcBef>
              <a:spcAft>
                <a:spcPts val="0"/>
              </a:spcAft>
              <a:buSzPct val="100000"/>
              <a:buChar char="●"/>
            </a:pPr>
            <a:r>
              <a:rPr i="1" lang="es"/>
              <a:t>Retinoid metabolism: </a:t>
            </a:r>
            <a:r>
              <a:rPr b="1" i="1" lang="es"/>
              <a:t>RBP1</a:t>
            </a:r>
            <a:endParaRPr b="1" i="1"/>
          </a:p>
          <a:p>
            <a:pPr indent="-282893" lvl="0" marL="457200" rtl="0" algn="l">
              <a:spcBef>
                <a:spcPts val="0"/>
              </a:spcBef>
              <a:spcAft>
                <a:spcPts val="0"/>
              </a:spcAft>
              <a:buSzPct val="100000"/>
              <a:buChar char="●"/>
            </a:pPr>
            <a:r>
              <a:rPr i="1" lang="es"/>
              <a:t>Histidine catabolism: </a:t>
            </a:r>
            <a:r>
              <a:rPr b="1" i="1" lang="es"/>
              <a:t>HNMT</a:t>
            </a:r>
            <a:endParaRPr b="1" i="1"/>
          </a:p>
          <a:p>
            <a:pPr indent="-282893" lvl="0" marL="457200" rtl="0" algn="l">
              <a:spcBef>
                <a:spcPts val="0"/>
              </a:spcBef>
              <a:spcAft>
                <a:spcPts val="0"/>
              </a:spcAft>
              <a:buSzPct val="100000"/>
              <a:buChar char="●"/>
            </a:pPr>
            <a:r>
              <a:rPr i="1" lang="es"/>
              <a:t>Lysine catabolism: </a:t>
            </a:r>
            <a:r>
              <a:rPr b="1" i="1" lang="es"/>
              <a:t>ALDH7A1</a:t>
            </a:r>
            <a:endParaRPr b="1" i="1"/>
          </a:p>
          <a:p>
            <a:pPr indent="-282893" lvl="0" marL="457200" rtl="0" algn="l">
              <a:spcBef>
                <a:spcPts val="0"/>
              </a:spcBef>
              <a:spcAft>
                <a:spcPts val="0"/>
              </a:spcAft>
              <a:buSzPct val="100000"/>
              <a:buChar char="●"/>
            </a:pPr>
            <a:r>
              <a:rPr i="1" lang="es"/>
              <a:t>Selenoamino acid metabolism: </a:t>
            </a:r>
            <a:r>
              <a:rPr b="1" i="1" lang="es"/>
              <a:t>HNMT</a:t>
            </a:r>
            <a:endParaRPr b="1" i="1"/>
          </a:p>
          <a:p>
            <a:pPr indent="-282893" lvl="0" marL="457200" rtl="0" algn="l">
              <a:spcBef>
                <a:spcPts val="0"/>
              </a:spcBef>
              <a:spcAft>
                <a:spcPts val="0"/>
              </a:spcAft>
              <a:buSzPct val="100000"/>
              <a:buChar char="●"/>
            </a:pPr>
            <a:r>
              <a:rPr i="1" lang="es"/>
              <a:t>Carnitine synthesis: </a:t>
            </a:r>
            <a:r>
              <a:rPr b="1" i="1" lang="es"/>
              <a:t>SHMT1</a:t>
            </a:r>
            <a:endParaRPr b="1" i="1"/>
          </a:p>
          <a:p>
            <a:pPr indent="-282893" lvl="0" marL="457200" rtl="0" algn="l">
              <a:spcBef>
                <a:spcPts val="0"/>
              </a:spcBef>
              <a:spcAft>
                <a:spcPts val="0"/>
              </a:spcAft>
              <a:buSzPct val="100000"/>
              <a:buChar char="●"/>
            </a:pPr>
            <a:r>
              <a:rPr i="1" lang="es"/>
              <a:t>Creatine metabolism: </a:t>
            </a:r>
            <a:r>
              <a:rPr b="1" i="1" lang="es"/>
              <a:t>GATM</a:t>
            </a:r>
            <a:endParaRPr b="1" i="1"/>
          </a:p>
          <a:p>
            <a:pPr indent="-282893" lvl="0" marL="457200" rtl="0" algn="l">
              <a:spcBef>
                <a:spcPts val="0"/>
              </a:spcBef>
              <a:spcAft>
                <a:spcPts val="0"/>
              </a:spcAft>
              <a:buSzPct val="100000"/>
              <a:buChar char="●"/>
            </a:pPr>
            <a:r>
              <a:rPr i="1" lang="es"/>
              <a:t>Choline catabolism: </a:t>
            </a:r>
            <a:r>
              <a:rPr b="1" i="1" lang="es"/>
              <a:t>ALDH7A1</a:t>
            </a:r>
            <a:endParaRPr b="1" i="1"/>
          </a:p>
          <a:p>
            <a:pPr indent="-282893" lvl="0" marL="457200" rtl="0" algn="l">
              <a:spcBef>
                <a:spcPts val="0"/>
              </a:spcBef>
              <a:spcAft>
                <a:spcPts val="0"/>
              </a:spcAft>
              <a:buSzPct val="100000"/>
              <a:buChar char="●"/>
            </a:pPr>
            <a:r>
              <a:rPr i="1" lang="es"/>
              <a:t>Post-translational modification: synthesis of GPI-anchored proteins: </a:t>
            </a:r>
            <a:r>
              <a:rPr b="1" i="1" lang="es"/>
              <a:t>FOLR2</a:t>
            </a:r>
            <a:endParaRPr b="1" i="1"/>
          </a:p>
          <a:p>
            <a:pPr indent="0" lvl="0" marL="0" rtl="0" algn="l">
              <a:spcBef>
                <a:spcPts val="0"/>
              </a:spcBef>
              <a:spcAft>
                <a:spcPts val="1200"/>
              </a:spcAft>
              <a:buNone/>
            </a:pPr>
            <a:r>
              <a:t/>
            </a:r>
            <a:endParaRPr/>
          </a:p>
        </p:txBody>
      </p:sp>
      <p:sp>
        <p:nvSpPr>
          <p:cNvPr id="534" name="Google Shape;534;p62"/>
          <p:cNvSpPr txBox="1"/>
          <p:nvPr/>
        </p:nvSpPr>
        <p:spPr>
          <a:xfrm>
            <a:off x="5325700" y="1317450"/>
            <a:ext cx="2968500" cy="2508600"/>
          </a:xfrm>
          <a:prstGeom prst="rect">
            <a:avLst/>
          </a:prstGeom>
          <a:noFill/>
          <a:ln>
            <a:noFill/>
          </a:ln>
        </p:spPr>
        <p:txBody>
          <a:bodyPr anchorCtr="0" anchor="t" bIns="91425" lIns="91425" spcFirstLastPara="1" rIns="91425" wrap="square" tIns="91425">
            <a:noAutofit/>
          </a:bodyPr>
          <a:lstStyle/>
          <a:p>
            <a:pPr indent="-282575" lvl="0" marL="457200" rtl="0" algn="l">
              <a:spcBef>
                <a:spcPts val="0"/>
              </a:spcBef>
              <a:spcAft>
                <a:spcPts val="0"/>
              </a:spcAft>
              <a:buClr>
                <a:schemeClr val="dk2"/>
              </a:buClr>
              <a:buSzPts val="850"/>
              <a:buFont typeface="Roboto"/>
              <a:buChar char="●"/>
            </a:pPr>
            <a:r>
              <a:rPr i="1" lang="es" sz="850">
                <a:solidFill>
                  <a:schemeClr val="dk2"/>
                </a:solidFill>
                <a:latin typeface="Roboto"/>
                <a:ea typeface="Roboto"/>
                <a:cs typeface="Roboto"/>
                <a:sym typeface="Roboto"/>
              </a:rPr>
              <a:t>Asparagine N-linked glycosylation: </a:t>
            </a:r>
            <a:r>
              <a:rPr b="1" i="1" lang="es" sz="850">
                <a:solidFill>
                  <a:schemeClr val="dk2"/>
                </a:solidFill>
                <a:latin typeface="Roboto"/>
                <a:ea typeface="Roboto"/>
                <a:cs typeface="Roboto"/>
                <a:sym typeface="Roboto"/>
              </a:rPr>
              <a:t>FUCA1</a:t>
            </a:r>
            <a:endParaRPr b="1" i="1" sz="850">
              <a:solidFill>
                <a:schemeClr val="dk2"/>
              </a:solidFill>
              <a:latin typeface="Roboto"/>
              <a:ea typeface="Roboto"/>
              <a:cs typeface="Roboto"/>
              <a:sym typeface="Roboto"/>
            </a:endParaRPr>
          </a:p>
          <a:p>
            <a:pPr indent="-282575" lvl="0" marL="457200" rtl="0" algn="l">
              <a:spcBef>
                <a:spcPts val="0"/>
              </a:spcBef>
              <a:spcAft>
                <a:spcPts val="0"/>
              </a:spcAft>
              <a:buClr>
                <a:schemeClr val="dk2"/>
              </a:buClr>
              <a:buSzPts val="850"/>
              <a:buFont typeface="Roboto"/>
              <a:buChar char="●"/>
            </a:pPr>
            <a:r>
              <a:rPr i="1" lang="es" sz="850">
                <a:solidFill>
                  <a:schemeClr val="dk2"/>
                </a:solidFill>
                <a:latin typeface="Roboto"/>
                <a:ea typeface="Roboto"/>
                <a:cs typeface="Roboto"/>
                <a:sym typeface="Roboto"/>
              </a:rPr>
              <a:t>RAB geranylgeranylation: </a:t>
            </a:r>
            <a:r>
              <a:rPr b="1" i="1" lang="es" sz="850">
                <a:solidFill>
                  <a:schemeClr val="dk2"/>
                </a:solidFill>
                <a:latin typeface="Roboto"/>
                <a:ea typeface="Roboto"/>
                <a:cs typeface="Roboto"/>
                <a:sym typeface="Roboto"/>
              </a:rPr>
              <a:t>RAB42</a:t>
            </a:r>
            <a:endParaRPr b="1" i="1" sz="850">
              <a:solidFill>
                <a:schemeClr val="dk2"/>
              </a:solidFill>
              <a:latin typeface="Roboto"/>
              <a:ea typeface="Roboto"/>
              <a:cs typeface="Roboto"/>
              <a:sym typeface="Roboto"/>
            </a:endParaRPr>
          </a:p>
          <a:p>
            <a:pPr indent="-282575" lvl="0" marL="457200" rtl="0" algn="l">
              <a:spcBef>
                <a:spcPts val="0"/>
              </a:spcBef>
              <a:spcAft>
                <a:spcPts val="0"/>
              </a:spcAft>
              <a:buClr>
                <a:schemeClr val="dk2"/>
              </a:buClr>
              <a:buSzPts val="850"/>
              <a:buFont typeface="Roboto"/>
              <a:buChar char="●"/>
            </a:pPr>
            <a:r>
              <a:rPr i="1" lang="es" sz="850">
                <a:solidFill>
                  <a:schemeClr val="dk2"/>
                </a:solidFill>
                <a:latin typeface="Roboto"/>
                <a:ea typeface="Roboto"/>
                <a:cs typeface="Roboto"/>
                <a:sym typeface="Roboto"/>
              </a:rPr>
              <a:t>Post-translational protein phosphorylation: </a:t>
            </a:r>
            <a:r>
              <a:rPr b="1" i="1" lang="es" sz="850">
                <a:solidFill>
                  <a:schemeClr val="dk2"/>
                </a:solidFill>
                <a:latin typeface="Roboto"/>
                <a:ea typeface="Roboto"/>
                <a:cs typeface="Roboto"/>
                <a:sym typeface="Roboto"/>
              </a:rPr>
              <a:t>C3, IGFBP4</a:t>
            </a:r>
            <a:endParaRPr b="1" i="1" sz="850">
              <a:solidFill>
                <a:schemeClr val="dk2"/>
              </a:solidFill>
              <a:latin typeface="Roboto"/>
              <a:ea typeface="Roboto"/>
              <a:cs typeface="Roboto"/>
              <a:sym typeface="Roboto"/>
            </a:endParaRPr>
          </a:p>
          <a:p>
            <a:pPr indent="-282575" lvl="0" marL="457200" rtl="0" algn="l">
              <a:spcBef>
                <a:spcPts val="0"/>
              </a:spcBef>
              <a:spcAft>
                <a:spcPts val="0"/>
              </a:spcAft>
              <a:buClr>
                <a:schemeClr val="dk2"/>
              </a:buClr>
              <a:buSzPts val="850"/>
              <a:buFont typeface="Roboto"/>
              <a:buChar char="●"/>
            </a:pPr>
            <a:r>
              <a:rPr i="1" lang="es" sz="850">
                <a:solidFill>
                  <a:schemeClr val="dk2"/>
                </a:solidFill>
                <a:latin typeface="Roboto"/>
                <a:ea typeface="Roboto"/>
                <a:cs typeface="Roboto"/>
                <a:sym typeface="Roboto"/>
              </a:rPr>
              <a:t>Peptide hormone metabolism: </a:t>
            </a:r>
            <a:r>
              <a:rPr b="1" i="1" lang="es" sz="850">
                <a:solidFill>
                  <a:schemeClr val="dk2"/>
                </a:solidFill>
                <a:latin typeface="Roboto"/>
                <a:ea typeface="Roboto"/>
                <a:cs typeface="Roboto"/>
                <a:sym typeface="Roboto"/>
              </a:rPr>
              <a:t>IGF1</a:t>
            </a:r>
            <a:endParaRPr b="1" i="1" sz="850">
              <a:solidFill>
                <a:schemeClr val="dk2"/>
              </a:solidFill>
              <a:latin typeface="Roboto"/>
              <a:ea typeface="Roboto"/>
              <a:cs typeface="Roboto"/>
              <a:sym typeface="Roboto"/>
            </a:endParaRPr>
          </a:p>
          <a:p>
            <a:pPr indent="-282575" lvl="0" marL="457200" rtl="0" algn="l">
              <a:spcBef>
                <a:spcPts val="0"/>
              </a:spcBef>
              <a:spcAft>
                <a:spcPts val="0"/>
              </a:spcAft>
              <a:buClr>
                <a:schemeClr val="dk2"/>
              </a:buClr>
              <a:buSzPts val="850"/>
              <a:buFont typeface="Roboto"/>
              <a:buChar char="●"/>
            </a:pPr>
            <a:r>
              <a:rPr i="1" lang="es" sz="850">
                <a:latin typeface="Roboto"/>
                <a:ea typeface="Roboto"/>
                <a:cs typeface="Roboto"/>
                <a:sym typeface="Roboto"/>
              </a:rPr>
              <a:t>Regulation of Insulin-like Growth Factor (IGF) transport and uptake by Insulin-like Growth Factor Binding Proteins (IGFBPs): </a:t>
            </a:r>
            <a:r>
              <a:rPr b="1" i="1" lang="es" sz="850">
                <a:latin typeface="Roboto"/>
                <a:ea typeface="Roboto"/>
                <a:cs typeface="Roboto"/>
                <a:sym typeface="Roboto"/>
              </a:rPr>
              <a:t>C3, IGF1, IGFBP4</a:t>
            </a:r>
            <a:endParaRPr b="1" i="1" sz="850">
              <a:solidFill>
                <a:schemeClr val="dk2"/>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Resultados en la vellosidad </a:t>
            </a:r>
            <a:r>
              <a:rPr lang="es" u="sng">
                <a:latin typeface="Montserrat"/>
                <a:ea typeface="Montserrat"/>
                <a:cs typeface="Montserrat"/>
                <a:sym typeface="Montserrat"/>
              </a:rPr>
              <a:t>GSE 109082</a:t>
            </a:r>
            <a:endParaRPr u="sng">
              <a:latin typeface="Montserrat"/>
              <a:ea typeface="Montserrat"/>
              <a:cs typeface="Montserrat"/>
              <a:sym typeface="Montserrat"/>
            </a:endParaRPr>
          </a:p>
        </p:txBody>
      </p:sp>
      <p:sp>
        <p:nvSpPr>
          <p:cNvPr id="540" name="Google Shape;540;p63"/>
          <p:cNvSpPr txBox="1"/>
          <p:nvPr>
            <p:ph idx="1" type="body"/>
          </p:nvPr>
        </p:nvSpPr>
        <p:spPr>
          <a:xfrm>
            <a:off x="311700" y="1229875"/>
            <a:ext cx="56097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sz="1400">
                <a:latin typeface="Montserrat"/>
                <a:ea typeface="Montserrat"/>
                <a:cs typeface="Montserrat"/>
                <a:sym typeface="Montserrat"/>
              </a:rPr>
              <a:t>Genes </a:t>
            </a:r>
            <a:r>
              <a:rPr lang="es" sz="1400">
                <a:latin typeface="Montserrat"/>
                <a:ea typeface="Montserrat"/>
                <a:cs typeface="Montserrat"/>
                <a:sym typeface="Montserrat"/>
              </a:rPr>
              <a:t>sobreexpresados</a:t>
            </a:r>
            <a:r>
              <a:rPr lang="es" sz="1400">
                <a:latin typeface="Montserrat"/>
                <a:ea typeface="Montserrat"/>
                <a:cs typeface="Montserrat"/>
                <a:sym typeface="Montserrat"/>
              </a:rPr>
              <a:t> en muestras femeninas</a:t>
            </a:r>
            <a:r>
              <a:rPr lang="es" sz="1400"/>
              <a:t>:</a:t>
            </a:r>
            <a:endParaRPr sz="1400"/>
          </a:p>
          <a:p>
            <a:pPr indent="-287338" lvl="0" marL="457200" rtl="0" algn="l">
              <a:spcBef>
                <a:spcPts val="1200"/>
              </a:spcBef>
              <a:spcAft>
                <a:spcPts val="0"/>
              </a:spcAft>
              <a:buClr>
                <a:srgbClr val="000000"/>
              </a:buClr>
              <a:buSzPct val="100000"/>
              <a:buChar char="●"/>
            </a:pPr>
            <a:r>
              <a:rPr i="1" lang="es" sz="1000">
                <a:solidFill>
                  <a:srgbClr val="000000"/>
                </a:solidFill>
              </a:rPr>
              <a:t>CHM</a:t>
            </a:r>
            <a:r>
              <a:rPr i="1" lang="es" sz="1000">
                <a:solidFill>
                  <a:srgbClr val="000000"/>
                </a:solidFill>
              </a:rPr>
              <a:t>			</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rPr>
              <a:t>STOX2</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FFFF00"/>
                </a:highlight>
              </a:rPr>
              <a:t>SLC35D1</a:t>
            </a:r>
            <a:endParaRPr i="1" sz="1000">
              <a:solidFill>
                <a:srgbClr val="000000"/>
              </a:solidFill>
              <a:highlight>
                <a:srgbClr val="FFFF00"/>
              </a:highlight>
            </a:endParaRPr>
          </a:p>
          <a:p>
            <a:pPr indent="-287338" lvl="0" marL="457200" rtl="0" algn="l">
              <a:spcBef>
                <a:spcPts val="0"/>
              </a:spcBef>
              <a:spcAft>
                <a:spcPts val="0"/>
              </a:spcAft>
              <a:buClr>
                <a:srgbClr val="000000"/>
              </a:buClr>
              <a:buSzPct val="100000"/>
              <a:buChar char="●"/>
            </a:pPr>
            <a:r>
              <a:rPr i="1" lang="es" sz="1000">
                <a:solidFill>
                  <a:srgbClr val="000000"/>
                </a:solidFill>
              </a:rPr>
              <a:t>RAB30</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B4A7D6"/>
                </a:highlight>
              </a:rPr>
              <a:t>XIST</a:t>
            </a:r>
            <a:endParaRPr i="1" sz="1000">
              <a:solidFill>
                <a:srgbClr val="000000"/>
              </a:solidFill>
              <a:highlight>
                <a:srgbClr val="B4A7D6"/>
              </a:highlight>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B4A7D6"/>
                </a:highlight>
              </a:rPr>
              <a:t>JPX</a:t>
            </a:r>
            <a:endParaRPr i="1" sz="1000">
              <a:solidFill>
                <a:srgbClr val="000000"/>
              </a:solidFill>
              <a:highlight>
                <a:srgbClr val="B4A7D6"/>
              </a:highlight>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FFFF00"/>
                </a:highlight>
              </a:rPr>
              <a:t>OSBPL3</a:t>
            </a:r>
            <a:endParaRPr i="1" sz="1000">
              <a:solidFill>
                <a:srgbClr val="000000"/>
              </a:solidFill>
              <a:highlight>
                <a:srgbClr val="FFFF00"/>
              </a:highlight>
            </a:endParaRPr>
          </a:p>
          <a:p>
            <a:pPr indent="-287338" lvl="0" marL="457200" rtl="0" algn="l">
              <a:spcBef>
                <a:spcPts val="0"/>
              </a:spcBef>
              <a:spcAft>
                <a:spcPts val="0"/>
              </a:spcAft>
              <a:buClr>
                <a:srgbClr val="000000"/>
              </a:buClr>
              <a:buSzPct val="100000"/>
              <a:buChar char="●"/>
            </a:pPr>
            <a:r>
              <a:rPr i="1" lang="es" sz="1000">
                <a:solidFill>
                  <a:srgbClr val="000000"/>
                </a:solidFill>
              </a:rPr>
              <a:t>CDH26</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rPr>
              <a:t>RPS4X</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rPr>
              <a:t>CDH12</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rPr>
              <a:t>TMEM67</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rPr>
              <a:t>ZNF780A</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FFFF00"/>
                </a:highlight>
              </a:rPr>
              <a:t>STS</a:t>
            </a:r>
            <a:endParaRPr i="1" sz="1000">
              <a:solidFill>
                <a:srgbClr val="000000"/>
              </a:solidFill>
              <a:highlight>
                <a:srgbClr val="FFFF00"/>
              </a:highlight>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B4A7D6"/>
                </a:highlight>
              </a:rPr>
              <a:t>SERTAD4BP</a:t>
            </a:r>
            <a:endParaRPr i="1" sz="1000">
              <a:solidFill>
                <a:srgbClr val="000000"/>
              </a:solidFill>
              <a:highlight>
                <a:srgbClr val="B4A7D6"/>
              </a:highlight>
            </a:endParaRPr>
          </a:p>
          <a:p>
            <a:pPr indent="-287338" lvl="0" marL="457200" rtl="0" algn="l">
              <a:spcBef>
                <a:spcPts val="0"/>
              </a:spcBef>
              <a:spcAft>
                <a:spcPts val="0"/>
              </a:spcAft>
              <a:buClr>
                <a:srgbClr val="000000"/>
              </a:buClr>
              <a:buSzPct val="100000"/>
              <a:buChar char="●"/>
            </a:pPr>
            <a:r>
              <a:rPr i="1" lang="es" sz="1000">
                <a:solidFill>
                  <a:srgbClr val="000000"/>
                </a:solidFill>
              </a:rPr>
              <a:t>TMEM168</a:t>
            </a:r>
            <a:endParaRPr i="1" sz="1000">
              <a:solidFill>
                <a:srgbClr val="000000"/>
              </a:solidFill>
            </a:endParaRPr>
          </a:p>
          <a:p>
            <a:pPr indent="-287338" lvl="0" marL="457200" rtl="0" algn="l">
              <a:spcBef>
                <a:spcPts val="0"/>
              </a:spcBef>
              <a:spcAft>
                <a:spcPts val="0"/>
              </a:spcAft>
              <a:buClr>
                <a:srgbClr val="000000"/>
              </a:buClr>
              <a:buSzPct val="100000"/>
              <a:buChar char="●"/>
            </a:pPr>
            <a:r>
              <a:rPr i="1" lang="es" sz="1000">
                <a:solidFill>
                  <a:srgbClr val="000000"/>
                </a:solidFill>
                <a:highlight>
                  <a:srgbClr val="B4A7D6"/>
                </a:highlight>
              </a:rPr>
              <a:t>EIF1AX-AS1</a:t>
            </a:r>
            <a:endParaRPr i="1" sz="1000">
              <a:solidFill>
                <a:srgbClr val="000000"/>
              </a:solidFill>
              <a:highlight>
                <a:srgbClr val="B4A7D6"/>
              </a:highlight>
            </a:endParaRPr>
          </a:p>
          <a:p>
            <a:pPr indent="-287338" lvl="0" marL="457200" rtl="0" algn="l">
              <a:spcBef>
                <a:spcPts val="0"/>
              </a:spcBef>
              <a:spcAft>
                <a:spcPts val="0"/>
              </a:spcAft>
              <a:buClr>
                <a:srgbClr val="000000"/>
              </a:buClr>
              <a:buSzPct val="100000"/>
              <a:buChar char="●"/>
            </a:pPr>
            <a:r>
              <a:rPr i="1" lang="es" sz="1000">
                <a:solidFill>
                  <a:srgbClr val="000000"/>
                </a:solidFill>
              </a:rPr>
              <a:t>PHTF1</a:t>
            </a:r>
            <a:endParaRPr i="1" sz="1000">
              <a:solidFill>
                <a:srgbClr val="000000"/>
              </a:solidFill>
            </a:endParaRPr>
          </a:p>
          <a:p>
            <a:pPr indent="0" lvl="0" marL="0" rtl="0" algn="l">
              <a:spcBef>
                <a:spcPts val="0"/>
              </a:spcBef>
              <a:spcAft>
                <a:spcPts val="0"/>
              </a:spcAft>
              <a:buNone/>
            </a:pPr>
            <a:r>
              <a:t/>
            </a:r>
            <a:endParaRPr sz="1000">
              <a:solidFill>
                <a:srgbClr val="000000"/>
              </a:solidFill>
              <a:latin typeface="Arial"/>
              <a:ea typeface="Arial"/>
              <a:cs typeface="Arial"/>
              <a:sym typeface="Arial"/>
            </a:endParaRPr>
          </a:p>
          <a:p>
            <a:pPr indent="0" lvl="0" marL="0" rtl="0" algn="l">
              <a:spcBef>
                <a:spcPts val="0"/>
              </a:spcBef>
              <a:spcAft>
                <a:spcPts val="1200"/>
              </a:spcAft>
              <a:buNone/>
            </a:pPr>
            <a:r>
              <a:t/>
            </a:r>
            <a:endParaRPr sz="1400"/>
          </a:p>
        </p:txBody>
      </p:sp>
      <p:sp>
        <p:nvSpPr>
          <p:cNvPr id="541" name="Google Shape;541;p63"/>
          <p:cNvSpPr txBox="1"/>
          <p:nvPr/>
        </p:nvSpPr>
        <p:spPr>
          <a:xfrm>
            <a:off x="1990125" y="1529425"/>
            <a:ext cx="2207400" cy="27399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ZFX</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ZNF730</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LINC02028</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D5A6BD"/>
                </a:highlight>
                <a:latin typeface="Roboto"/>
                <a:ea typeface="Roboto"/>
                <a:cs typeface="Roboto"/>
                <a:sym typeface="Roboto"/>
              </a:rPr>
              <a:t>MIR548B</a:t>
            </a:r>
            <a:endParaRPr i="1" sz="1000">
              <a:highlight>
                <a:srgbClr val="D5A6BD"/>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CA5B</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TSIX</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NUDT10</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TBC1D32</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ZNF300</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DDX3X</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NEU3</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HDAC8</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YIPF6</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RXFP4</a:t>
            </a:r>
            <a:endParaRPr i="1" sz="1000">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
        <p:nvSpPr>
          <p:cNvPr id="542" name="Google Shape;542;p63"/>
          <p:cNvSpPr txBox="1"/>
          <p:nvPr/>
        </p:nvSpPr>
        <p:spPr>
          <a:xfrm>
            <a:off x="3713975" y="1529425"/>
            <a:ext cx="2207400" cy="2564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KDM5C-IT1</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IGFBP1</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PUDP</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SMC1A</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TRAPPC2</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LINC00630</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EIF1AX</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RPL10P6</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RPL10P9</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RASSF6</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D5A6BD"/>
                </a:highlight>
                <a:latin typeface="Roboto"/>
                <a:ea typeface="Roboto"/>
                <a:cs typeface="Roboto"/>
                <a:sym typeface="Roboto"/>
              </a:rPr>
              <a:t>MIR6895</a:t>
            </a:r>
            <a:endParaRPr i="1" sz="1000">
              <a:highlight>
                <a:srgbClr val="D5A6BD"/>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ITGB8</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KDM5C</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FF00"/>
                </a:highlight>
                <a:latin typeface="Roboto"/>
                <a:ea typeface="Roboto"/>
                <a:cs typeface="Roboto"/>
                <a:sym typeface="Roboto"/>
              </a:rPr>
              <a:t>KDM6A</a:t>
            </a:r>
            <a:endParaRPr i="1" sz="1000">
              <a:highlight>
                <a:srgbClr val="FFFF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OFD1</a:t>
            </a:r>
            <a:endParaRPr i="1" sz="1800">
              <a:solidFill>
                <a:schemeClr val="dk2"/>
              </a:solidFill>
              <a:latin typeface="Roboto"/>
              <a:ea typeface="Roboto"/>
              <a:cs typeface="Roboto"/>
              <a:sym typeface="Roboto"/>
            </a:endParaRPr>
          </a:p>
          <a:p>
            <a:pPr indent="0" lvl="0" marL="0" rtl="0" algn="l">
              <a:spcBef>
                <a:spcPts val="0"/>
              </a:spcBef>
              <a:spcAft>
                <a:spcPts val="0"/>
              </a:spcAft>
              <a:buNone/>
            </a:pPr>
            <a:r>
              <a:t/>
            </a:r>
            <a:endParaRPr i="1" sz="1800">
              <a:solidFill>
                <a:schemeClr val="dk2"/>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Resultados en la vellosidad GSE 109082</a:t>
            </a:r>
            <a:endParaRPr u="sng">
              <a:latin typeface="Montserrat"/>
              <a:ea typeface="Montserrat"/>
              <a:cs typeface="Montserrat"/>
              <a:sym typeface="Montserrat"/>
            </a:endParaRPr>
          </a:p>
        </p:txBody>
      </p:sp>
      <p:sp>
        <p:nvSpPr>
          <p:cNvPr id="548" name="Google Shape;548;p64"/>
          <p:cNvSpPr txBox="1"/>
          <p:nvPr>
            <p:ph idx="1" type="body"/>
          </p:nvPr>
        </p:nvSpPr>
        <p:spPr>
          <a:xfrm>
            <a:off x="311700" y="1229875"/>
            <a:ext cx="5609700" cy="33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sz="1400">
                <a:latin typeface="Montserrat"/>
                <a:ea typeface="Montserrat"/>
                <a:cs typeface="Montserrat"/>
                <a:sym typeface="Montserrat"/>
              </a:rPr>
              <a:t>Genes sobreexpresados en muestras masculinas</a:t>
            </a:r>
            <a:r>
              <a:rPr lang="es" sz="1400"/>
              <a:t>:</a:t>
            </a:r>
            <a:endParaRPr sz="1400"/>
          </a:p>
          <a:p>
            <a:pPr indent="-288410" lvl="0" marL="457200" rtl="0" algn="l">
              <a:spcBef>
                <a:spcPts val="1200"/>
              </a:spcBef>
              <a:spcAft>
                <a:spcPts val="0"/>
              </a:spcAft>
              <a:buClr>
                <a:srgbClr val="000000"/>
              </a:buClr>
              <a:buSzPct val="100000"/>
              <a:buChar char="●"/>
            </a:pPr>
            <a:r>
              <a:rPr i="1" lang="es" sz="1108">
                <a:solidFill>
                  <a:srgbClr val="000000"/>
                </a:solidFill>
              </a:rPr>
              <a:t>PCDH11Y</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TPTE2P4 </a:t>
            </a:r>
            <a:endParaRPr i="1" sz="1108">
              <a:solidFill>
                <a:srgbClr val="000000"/>
              </a:solidFill>
              <a:highlight>
                <a:srgbClr val="EFEFEF"/>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ARSLP1</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ANOS2P</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B4A7D6"/>
                </a:highlight>
              </a:rPr>
              <a:t>FAM224B</a:t>
            </a:r>
            <a:endParaRPr i="1" sz="1108">
              <a:solidFill>
                <a:srgbClr val="000000"/>
              </a:solidFill>
              <a:highlight>
                <a:srgbClr val="B4A7D6"/>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B4A7D6"/>
                </a:highlight>
              </a:rPr>
              <a:t>FAM228A</a:t>
            </a:r>
            <a:endParaRPr i="1" sz="1108">
              <a:solidFill>
                <a:srgbClr val="000000"/>
              </a:solidFill>
              <a:highlight>
                <a:srgbClr val="B4A7D6"/>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PSMA6P1</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SEPTIN14P23</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rPr>
              <a:t>KIF6</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9DAF8"/>
                </a:highlight>
              </a:rPr>
              <a:t>GYG2P1 </a:t>
            </a:r>
            <a:endParaRPr i="1" sz="1108">
              <a:solidFill>
                <a:srgbClr val="000000"/>
              </a:solidFill>
              <a:highlight>
                <a:srgbClr val="C9DAF8"/>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ARSDP1</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rPr>
              <a:t>CACNG4</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rPr>
              <a:t>SRY</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rPr>
              <a:t>UTY</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TOMM22P2</a:t>
            </a:r>
            <a:endParaRPr i="1" sz="1108">
              <a:solidFill>
                <a:srgbClr val="000000"/>
              </a:solidFill>
              <a:highlight>
                <a:srgbClr val="CFE2F3"/>
              </a:highlight>
            </a:endParaRPr>
          </a:p>
          <a:p>
            <a:pPr indent="-288410" lvl="0" marL="457200" rtl="0" algn="l">
              <a:spcBef>
                <a:spcPts val="0"/>
              </a:spcBef>
              <a:spcAft>
                <a:spcPts val="0"/>
              </a:spcAft>
              <a:buClr>
                <a:srgbClr val="000000"/>
              </a:buClr>
              <a:buSzPct val="100000"/>
              <a:buChar char="●"/>
            </a:pPr>
            <a:r>
              <a:rPr i="1" lang="es" sz="1108">
                <a:solidFill>
                  <a:srgbClr val="000000"/>
                </a:solidFill>
              </a:rPr>
              <a:t>TMSB4Y</a:t>
            </a:r>
            <a:endParaRPr i="1" sz="1108">
              <a:solidFill>
                <a:srgbClr val="000000"/>
              </a:solidFill>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B4A7D6"/>
                </a:highlight>
              </a:rPr>
              <a:t>LINC00278</a:t>
            </a:r>
            <a:endParaRPr i="1" sz="1108">
              <a:solidFill>
                <a:srgbClr val="000000"/>
              </a:solidFill>
              <a:highlight>
                <a:srgbClr val="B4A7D6"/>
              </a:highlight>
            </a:endParaRPr>
          </a:p>
          <a:p>
            <a:pPr indent="-288410" lvl="0" marL="457200" rtl="0" algn="l">
              <a:spcBef>
                <a:spcPts val="0"/>
              </a:spcBef>
              <a:spcAft>
                <a:spcPts val="0"/>
              </a:spcAft>
              <a:buClr>
                <a:srgbClr val="000000"/>
              </a:buClr>
              <a:buSzPct val="100000"/>
              <a:buChar char="●"/>
            </a:pPr>
            <a:r>
              <a:rPr i="1" lang="es" sz="1108">
                <a:solidFill>
                  <a:srgbClr val="000000"/>
                </a:solidFill>
                <a:highlight>
                  <a:srgbClr val="CFE2F3"/>
                </a:highlight>
              </a:rPr>
              <a:t>SNX18P1Y</a:t>
            </a:r>
            <a:endParaRPr i="1" sz="1108">
              <a:solidFill>
                <a:srgbClr val="000000"/>
              </a:solidFill>
              <a:highlight>
                <a:srgbClr val="CFE2F3"/>
              </a:highlight>
            </a:endParaRPr>
          </a:p>
          <a:p>
            <a:pPr indent="0" lvl="0" marL="0" rtl="0" algn="l">
              <a:spcBef>
                <a:spcPts val="0"/>
              </a:spcBef>
              <a:spcAft>
                <a:spcPts val="0"/>
              </a:spcAft>
              <a:buNone/>
            </a:pPr>
            <a:r>
              <a:t/>
            </a:r>
            <a:endParaRPr sz="1000">
              <a:solidFill>
                <a:srgbClr val="000000"/>
              </a:solidFill>
              <a:latin typeface="Arial"/>
              <a:ea typeface="Arial"/>
              <a:cs typeface="Arial"/>
              <a:sym typeface="Arial"/>
            </a:endParaRPr>
          </a:p>
          <a:p>
            <a:pPr indent="0" lvl="0" marL="0" rtl="0" algn="l">
              <a:spcBef>
                <a:spcPts val="0"/>
              </a:spcBef>
              <a:spcAft>
                <a:spcPts val="1200"/>
              </a:spcAft>
              <a:buNone/>
            </a:pPr>
            <a:r>
              <a:t/>
            </a:r>
            <a:endParaRPr sz="1400"/>
          </a:p>
        </p:txBody>
      </p:sp>
      <p:sp>
        <p:nvSpPr>
          <p:cNvPr id="549" name="Google Shape;549;p64"/>
          <p:cNvSpPr txBox="1"/>
          <p:nvPr/>
        </p:nvSpPr>
        <p:spPr>
          <a:xfrm>
            <a:off x="2371125" y="1529425"/>
            <a:ext cx="2207400" cy="27399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TLE2</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ZFY</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EBF2</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ZNF839P1</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FAM8A4P</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AGKP1</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CDY4P</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ERICH5</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TXLNGY</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DDX3Y</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DPPA2P1</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9900"/>
                </a:highlight>
                <a:latin typeface="Roboto"/>
                <a:ea typeface="Roboto"/>
                <a:cs typeface="Roboto"/>
                <a:sym typeface="Roboto"/>
              </a:rPr>
              <a:t>IL1RAPL1</a:t>
            </a:r>
            <a:endParaRPr i="1" sz="1000">
              <a:highlight>
                <a:srgbClr val="FF99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9900"/>
                </a:highlight>
                <a:latin typeface="Roboto"/>
                <a:ea typeface="Roboto"/>
                <a:cs typeface="Roboto"/>
                <a:sym typeface="Roboto"/>
              </a:rPr>
              <a:t>HSPB1</a:t>
            </a:r>
            <a:endParaRPr i="1" sz="1000">
              <a:highlight>
                <a:srgbClr val="FF99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ANKRD20A6P</a:t>
            </a:r>
            <a:endParaRPr i="1" sz="1000">
              <a:highlight>
                <a:srgbClr val="CFE2F3"/>
              </a:highlight>
              <a:latin typeface="Roboto"/>
              <a:ea typeface="Roboto"/>
              <a:cs typeface="Roboto"/>
              <a:sym typeface="Roboto"/>
            </a:endParaRPr>
          </a:p>
          <a:p>
            <a:pPr indent="0" lvl="0" marL="0" rtl="0" algn="l">
              <a:lnSpc>
                <a:spcPct val="115000"/>
              </a:lnSpc>
              <a:spcBef>
                <a:spcPts val="0"/>
              </a:spcBef>
              <a:spcAft>
                <a:spcPts val="0"/>
              </a:spcAft>
              <a:buNone/>
            </a:pPr>
            <a:r>
              <a:t/>
            </a:r>
            <a:endParaRPr i="1" sz="1000">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
        <p:nvSpPr>
          <p:cNvPr id="550" name="Google Shape;550;p64"/>
          <p:cNvSpPr txBox="1"/>
          <p:nvPr/>
        </p:nvSpPr>
        <p:spPr>
          <a:xfrm>
            <a:off x="4094975" y="1529425"/>
            <a:ext cx="2207400" cy="2564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PRKY</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VDAC1P6</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9900"/>
                </a:highlight>
                <a:latin typeface="Roboto"/>
                <a:ea typeface="Roboto"/>
                <a:cs typeface="Roboto"/>
                <a:sym typeface="Roboto"/>
              </a:rPr>
              <a:t>PSG7</a:t>
            </a:r>
            <a:endParaRPr i="1" sz="1000">
              <a:highlight>
                <a:srgbClr val="FF99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ARHGEF9</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KRT18P10</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SHROOM2P1</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FRG1JP</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FF9900"/>
                </a:highlight>
                <a:latin typeface="Roboto"/>
                <a:ea typeface="Roboto"/>
                <a:cs typeface="Roboto"/>
                <a:sym typeface="Roboto"/>
              </a:rPr>
              <a:t>USP9Y</a:t>
            </a:r>
            <a:endParaRPr i="1" sz="1000">
              <a:highlight>
                <a:srgbClr val="FF9900"/>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ZFY-AS1</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EIF4A1P2</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RNU2-57P</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HSFY3P</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EIF1AY</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RPS4Y1</a:t>
            </a:r>
            <a:endParaRPr i="1" sz="1000">
              <a:latin typeface="Roboto"/>
              <a:ea typeface="Roboto"/>
              <a:cs typeface="Roboto"/>
              <a:sym typeface="Roboto"/>
            </a:endParaRPr>
          </a:p>
          <a:p>
            <a:pPr indent="0" lvl="0" marL="457200" rtl="0" algn="l">
              <a:lnSpc>
                <a:spcPct val="115000"/>
              </a:lnSpc>
              <a:spcBef>
                <a:spcPts val="0"/>
              </a:spcBef>
              <a:spcAft>
                <a:spcPts val="0"/>
              </a:spcAft>
              <a:buNone/>
            </a:pPr>
            <a:r>
              <a:t/>
            </a:r>
            <a:endParaRPr i="1" sz="1000">
              <a:latin typeface="Roboto"/>
              <a:ea typeface="Roboto"/>
              <a:cs typeface="Roboto"/>
              <a:sym typeface="Roboto"/>
            </a:endParaRPr>
          </a:p>
          <a:p>
            <a:pPr indent="0" lvl="0" marL="0" rtl="0" algn="l">
              <a:spcBef>
                <a:spcPts val="0"/>
              </a:spcBef>
              <a:spcAft>
                <a:spcPts val="0"/>
              </a:spcAft>
              <a:buNone/>
            </a:pPr>
            <a:r>
              <a:t/>
            </a:r>
            <a:endParaRPr i="1" sz="1800">
              <a:solidFill>
                <a:schemeClr val="dk2"/>
              </a:solidFill>
              <a:latin typeface="Roboto"/>
              <a:ea typeface="Roboto"/>
              <a:cs typeface="Roboto"/>
              <a:sym typeface="Roboto"/>
            </a:endParaRPr>
          </a:p>
        </p:txBody>
      </p:sp>
      <p:sp>
        <p:nvSpPr>
          <p:cNvPr id="551" name="Google Shape;551;p64"/>
          <p:cNvSpPr txBox="1"/>
          <p:nvPr/>
        </p:nvSpPr>
        <p:spPr>
          <a:xfrm>
            <a:off x="5832825" y="1499600"/>
            <a:ext cx="1541700" cy="26700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TTTY14</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B4A7D6"/>
                </a:highlight>
                <a:latin typeface="Roboto"/>
                <a:ea typeface="Roboto"/>
                <a:cs typeface="Roboto"/>
                <a:sym typeface="Roboto"/>
              </a:rPr>
              <a:t>TTTY10</a:t>
            </a:r>
            <a:endParaRPr i="1" sz="1000">
              <a:highlight>
                <a:srgbClr val="B4A7D6"/>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TBL1Y</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NLGN4Y</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KDM5DP1</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MXRA5Y</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highlight>
                  <a:srgbClr val="CFE2F3"/>
                </a:highlight>
                <a:latin typeface="Roboto"/>
                <a:ea typeface="Roboto"/>
                <a:cs typeface="Roboto"/>
                <a:sym typeface="Roboto"/>
              </a:rPr>
              <a:t>KDM5D</a:t>
            </a:r>
            <a:endParaRPr i="1" sz="1000">
              <a:highlight>
                <a:srgbClr val="CFE2F3"/>
              </a:highlight>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ARMCX3</a:t>
            </a:r>
            <a:endParaRPr i="1" sz="1000">
              <a:latin typeface="Roboto"/>
              <a:ea typeface="Roboto"/>
              <a:cs typeface="Roboto"/>
              <a:sym typeface="Roboto"/>
            </a:endParaRPr>
          </a:p>
          <a:p>
            <a:pPr indent="-292100" lvl="0" marL="457200" rtl="0" algn="l">
              <a:lnSpc>
                <a:spcPct val="115000"/>
              </a:lnSpc>
              <a:spcBef>
                <a:spcPts val="0"/>
              </a:spcBef>
              <a:spcAft>
                <a:spcPts val="0"/>
              </a:spcAft>
              <a:buSzPts val="1000"/>
              <a:buFont typeface="Roboto"/>
              <a:buChar char="●"/>
            </a:pPr>
            <a:r>
              <a:rPr i="1" lang="es" sz="1000">
                <a:latin typeface="Roboto"/>
                <a:ea typeface="Roboto"/>
                <a:cs typeface="Roboto"/>
                <a:sym typeface="Roboto"/>
              </a:rPr>
              <a:t>ARMCX6</a:t>
            </a:r>
            <a:endParaRPr i="1" sz="1000">
              <a:solidFill>
                <a:schemeClr val="dk2"/>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5"/>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57" name="Google Shape;557;p65"/>
          <p:cNvSpPr txBox="1"/>
          <p:nvPr>
            <p:ph idx="1" type="body"/>
          </p:nvPr>
        </p:nvSpPr>
        <p:spPr>
          <a:xfrm>
            <a:off x="109950" y="1017800"/>
            <a:ext cx="9301200" cy="36561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a:latin typeface="Montserrat"/>
                <a:ea typeface="Montserrat"/>
                <a:cs typeface="Montserrat"/>
                <a:sym typeface="Montserrat"/>
              </a:rPr>
              <a:t>Genes sobreexpresados en células femeninas, y que se encuentran en las listas deseadas:</a:t>
            </a:r>
            <a:endParaRPr>
              <a:latin typeface="Montserrat"/>
              <a:ea typeface="Montserrat"/>
              <a:cs typeface="Montserrat"/>
              <a:sym typeface="Montserrat"/>
            </a:endParaRPr>
          </a:p>
          <a:p>
            <a:pPr indent="-286147" lvl="0" marL="457200" rtl="0" algn="l">
              <a:spcBef>
                <a:spcPts val="1200"/>
              </a:spcBef>
              <a:spcAft>
                <a:spcPts val="0"/>
              </a:spcAft>
              <a:buSzPct val="100000"/>
              <a:buChar char="●"/>
            </a:pPr>
            <a:r>
              <a:rPr i="1" lang="es" sz="1450">
                <a:solidFill>
                  <a:srgbClr val="000000"/>
                </a:solidFill>
                <a:highlight>
                  <a:srgbClr val="FFFF00"/>
                </a:highlight>
              </a:rPr>
              <a:t>Inositol phosphate metabolism</a:t>
            </a:r>
            <a:r>
              <a:rPr i="1" lang="es" sz="1450"/>
              <a:t>: </a:t>
            </a:r>
            <a:r>
              <a:rPr b="1" i="1" lang="es" sz="1450"/>
              <a:t>NUDT10</a:t>
            </a:r>
            <a:endParaRPr b="1" i="1" sz="1450"/>
          </a:p>
          <a:p>
            <a:pPr indent="-286147" lvl="0" marL="457200" rtl="0" algn="l">
              <a:spcBef>
                <a:spcPts val="0"/>
              </a:spcBef>
              <a:spcAft>
                <a:spcPts val="0"/>
              </a:spcAft>
              <a:buSzPct val="100000"/>
              <a:buChar char="●"/>
            </a:pPr>
            <a:r>
              <a:rPr i="1" lang="es" sz="1450">
                <a:solidFill>
                  <a:srgbClr val="000000"/>
                </a:solidFill>
                <a:highlight>
                  <a:srgbClr val="FFFF00"/>
                </a:highlight>
              </a:rPr>
              <a:t>Sphingolipid</a:t>
            </a:r>
            <a:r>
              <a:rPr i="1" lang="es" sz="1450">
                <a:solidFill>
                  <a:srgbClr val="000000"/>
                </a:solidFill>
                <a:highlight>
                  <a:srgbClr val="FFFF00"/>
                </a:highlight>
              </a:rPr>
              <a:t> metabolism</a:t>
            </a:r>
            <a:r>
              <a:rPr i="1" lang="es" sz="1450"/>
              <a:t>: </a:t>
            </a:r>
            <a:r>
              <a:rPr b="1" i="1" lang="es" sz="1450"/>
              <a:t>STS, NEU3</a:t>
            </a:r>
            <a:endParaRPr b="1" i="1" sz="1450"/>
          </a:p>
          <a:p>
            <a:pPr indent="-286147" lvl="0" marL="457200" rtl="0" algn="l">
              <a:spcBef>
                <a:spcPts val="0"/>
              </a:spcBef>
              <a:spcAft>
                <a:spcPts val="0"/>
              </a:spcAft>
              <a:buSzPct val="100000"/>
              <a:buChar char="●"/>
            </a:pPr>
            <a:r>
              <a:rPr i="1" lang="es" sz="1450">
                <a:solidFill>
                  <a:srgbClr val="000000"/>
                </a:solidFill>
              </a:rPr>
              <a:t>Steroids metabolism</a:t>
            </a:r>
            <a:r>
              <a:rPr i="1" lang="es" sz="1450"/>
              <a:t>: </a:t>
            </a:r>
            <a:r>
              <a:rPr b="1" i="1" lang="es" sz="1450"/>
              <a:t>OSBPL3</a:t>
            </a:r>
            <a:endParaRPr b="1" i="1" sz="1450"/>
          </a:p>
          <a:p>
            <a:pPr indent="-286147" lvl="0" marL="457200" rtl="0" algn="l">
              <a:spcBef>
                <a:spcPts val="0"/>
              </a:spcBef>
              <a:spcAft>
                <a:spcPts val="0"/>
              </a:spcAft>
              <a:buSzPct val="100000"/>
              <a:buChar char="●"/>
            </a:pPr>
            <a:r>
              <a:rPr i="1" lang="es" sz="1450">
                <a:solidFill>
                  <a:srgbClr val="000000"/>
                </a:solidFill>
                <a:latin typeface="Arial"/>
                <a:ea typeface="Arial"/>
                <a:cs typeface="Arial"/>
                <a:sym typeface="Arial"/>
              </a:rPr>
              <a:t>Nucleotides metabolism</a:t>
            </a:r>
            <a:r>
              <a:rPr i="1" lang="es" sz="1450"/>
              <a:t>: </a:t>
            </a:r>
            <a:r>
              <a:rPr b="1" i="1" lang="es" sz="1450"/>
              <a:t>PUDP</a:t>
            </a:r>
            <a:endParaRPr i="1" sz="1450"/>
          </a:p>
          <a:p>
            <a:pPr indent="-286147" lvl="0" marL="457200" rtl="0" algn="l">
              <a:spcBef>
                <a:spcPts val="0"/>
              </a:spcBef>
              <a:spcAft>
                <a:spcPts val="0"/>
              </a:spcAft>
              <a:buSzPct val="100000"/>
              <a:buChar char="●"/>
            </a:pPr>
            <a:r>
              <a:rPr i="1" lang="es" sz="1450">
                <a:solidFill>
                  <a:srgbClr val="000000"/>
                </a:solidFill>
                <a:latin typeface="Arial"/>
                <a:ea typeface="Arial"/>
                <a:cs typeface="Arial"/>
                <a:sym typeface="Arial"/>
              </a:rPr>
              <a:t>Selenoamino acid metabolism</a:t>
            </a:r>
            <a:r>
              <a:rPr i="1" lang="es" sz="1450"/>
              <a:t>: </a:t>
            </a:r>
            <a:r>
              <a:rPr b="1" i="1" lang="es" sz="1450"/>
              <a:t>RPS4X</a:t>
            </a:r>
            <a:endParaRPr b="1" i="1" sz="1450"/>
          </a:p>
          <a:p>
            <a:pPr indent="-286147" lvl="0" marL="457200" rtl="0" algn="l">
              <a:spcBef>
                <a:spcPts val="0"/>
              </a:spcBef>
              <a:spcAft>
                <a:spcPts val="0"/>
              </a:spcAft>
              <a:buSzPct val="100000"/>
              <a:buChar char="●"/>
            </a:pPr>
            <a:r>
              <a:rPr i="1" lang="es" sz="1450">
                <a:solidFill>
                  <a:srgbClr val="000000"/>
                </a:solidFill>
              </a:rPr>
              <a:t>Reversible hydration of CO2</a:t>
            </a:r>
            <a:r>
              <a:rPr i="1" lang="es" sz="1450"/>
              <a:t>: </a:t>
            </a:r>
            <a:r>
              <a:rPr b="1" i="1" lang="es" sz="1450"/>
              <a:t>CA5B</a:t>
            </a:r>
            <a:endParaRPr b="1" i="1" sz="1450"/>
          </a:p>
          <a:p>
            <a:pPr indent="-286147" lvl="0" marL="457200" rtl="0" algn="l">
              <a:spcBef>
                <a:spcPts val="0"/>
              </a:spcBef>
              <a:spcAft>
                <a:spcPts val="0"/>
              </a:spcAft>
              <a:buSzPct val="100000"/>
              <a:buChar char="●"/>
            </a:pPr>
            <a:r>
              <a:rPr i="1" lang="es" sz="1450"/>
              <a:t>Eukaryotic Translation Initiation</a:t>
            </a:r>
            <a:r>
              <a:rPr i="1" lang="es" sz="1450"/>
              <a:t>: </a:t>
            </a:r>
            <a:r>
              <a:rPr b="1" i="1" lang="es" sz="1450"/>
              <a:t>EIF1AX, RPS4X</a:t>
            </a:r>
            <a:endParaRPr b="1" i="1" sz="1450"/>
          </a:p>
          <a:p>
            <a:pPr indent="-286147" lvl="0" marL="457200" rtl="0" algn="l">
              <a:spcBef>
                <a:spcPts val="0"/>
              </a:spcBef>
              <a:spcAft>
                <a:spcPts val="0"/>
              </a:spcAft>
              <a:buSzPct val="100000"/>
              <a:buChar char="●"/>
            </a:pPr>
            <a:r>
              <a:rPr i="1" lang="es" sz="1450">
                <a:solidFill>
                  <a:srgbClr val="000000"/>
                </a:solidFill>
                <a:latin typeface="Arial"/>
                <a:ea typeface="Arial"/>
                <a:cs typeface="Arial"/>
                <a:sym typeface="Arial"/>
              </a:rPr>
              <a:t>SRP-dependent co translational protein targeting to membrane</a:t>
            </a:r>
            <a:r>
              <a:rPr i="1" lang="es" sz="1450"/>
              <a:t>: </a:t>
            </a:r>
            <a:r>
              <a:rPr b="1" i="1" lang="es" sz="1450"/>
              <a:t>RPS4X</a:t>
            </a:r>
            <a:endParaRPr b="1" i="1" sz="1450"/>
          </a:p>
          <a:p>
            <a:pPr indent="-286147" lvl="0" marL="457200" rtl="0" algn="l">
              <a:spcBef>
                <a:spcPts val="0"/>
              </a:spcBef>
              <a:spcAft>
                <a:spcPts val="0"/>
              </a:spcAft>
              <a:buSzPct val="100000"/>
              <a:buChar char="●"/>
            </a:pPr>
            <a:r>
              <a:rPr i="1" lang="es" sz="1450">
                <a:solidFill>
                  <a:srgbClr val="000000"/>
                </a:solidFill>
              </a:rPr>
              <a:t>Eukaryotic Translation Elongation</a:t>
            </a:r>
            <a:r>
              <a:rPr i="1" lang="es" sz="1450"/>
              <a:t>: </a:t>
            </a:r>
            <a:r>
              <a:rPr b="1" i="1" lang="es" sz="1450"/>
              <a:t>RPS4X</a:t>
            </a:r>
            <a:endParaRPr b="1" i="1" sz="1450"/>
          </a:p>
          <a:p>
            <a:pPr indent="-286147" lvl="0" marL="457200" rtl="0" algn="l">
              <a:spcBef>
                <a:spcPts val="0"/>
              </a:spcBef>
              <a:spcAft>
                <a:spcPts val="0"/>
              </a:spcAft>
              <a:buSzPct val="100000"/>
              <a:buChar char="●"/>
            </a:pPr>
            <a:r>
              <a:rPr i="1" lang="es" sz="1450">
                <a:solidFill>
                  <a:srgbClr val="000000"/>
                </a:solidFill>
              </a:rPr>
              <a:t>Eukaryotic Translation Termination</a:t>
            </a:r>
            <a:r>
              <a:rPr i="1" lang="es" sz="1450">
                <a:solidFill>
                  <a:srgbClr val="000000"/>
                </a:solidFill>
              </a:rPr>
              <a:t>: </a:t>
            </a:r>
            <a:r>
              <a:rPr b="1" i="1" lang="es" sz="1450">
                <a:solidFill>
                  <a:srgbClr val="000000"/>
                </a:solidFill>
              </a:rPr>
              <a:t>RPS4X</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Gamma carboxylation hypusine formation and arysulfatase activation</a:t>
            </a:r>
            <a:r>
              <a:rPr i="1" lang="es" sz="1450">
                <a:solidFill>
                  <a:srgbClr val="000000"/>
                </a:solidFill>
              </a:rPr>
              <a:t>: </a:t>
            </a:r>
            <a:r>
              <a:rPr b="1" i="1" lang="es" sz="1450">
                <a:solidFill>
                  <a:srgbClr val="000000"/>
                </a:solidFill>
              </a:rPr>
              <a:t>STS</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Asparagine N-linked glycosylation</a:t>
            </a:r>
            <a:r>
              <a:rPr i="1" lang="es" sz="1450">
                <a:solidFill>
                  <a:srgbClr val="000000"/>
                </a:solidFill>
              </a:rPr>
              <a:t>: </a:t>
            </a:r>
            <a:r>
              <a:rPr b="1" i="1" lang="es" sz="1450">
                <a:solidFill>
                  <a:srgbClr val="000000"/>
                </a:solidFill>
              </a:rPr>
              <a:t>TRAPPC2, NEU3</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SUMOylation</a:t>
            </a:r>
            <a:r>
              <a:rPr i="1" lang="es" sz="1450">
                <a:solidFill>
                  <a:srgbClr val="000000"/>
                </a:solidFill>
              </a:rPr>
              <a:t>: </a:t>
            </a:r>
            <a:r>
              <a:rPr b="1" i="1" lang="es" sz="1450">
                <a:solidFill>
                  <a:srgbClr val="000000"/>
                </a:solidFill>
              </a:rPr>
              <a:t>SMC1A</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RAB geranylgeranylation</a:t>
            </a:r>
            <a:r>
              <a:rPr i="1" lang="es" sz="1450">
                <a:solidFill>
                  <a:srgbClr val="000000"/>
                </a:solidFill>
              </a:rPr>
              <a:t>: </a:t>
            </a:r>
            <a:r>
              <a:rPr b="1" i="1" lang="es" sz="1450">
                <a:solidFill>
                  <a:srgbClr val="000000"/>
                </a:solidFill>
              </a:rPr>
              <a:t>CHM, RAB30</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Post-translational protein phosphorylation: </a:t>
            </a:r>
            <a:r>
              <a:rPr b="1" i="1" lang="es" sz="1450">
                <a:solidFill>
                  <a:srgbClr val="000000"/>
                </a:solidFill>
              </a:rPr>
              <a:t>IGFBP1</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Regulation of IGF transport and uptake by Insulin-like Growth Factor Binding Proteins (IGFBPs): </a:t>
            </a:r>
            <a:r>
              <a:rPr b="1" i="1" lang="es" sz="1450">
                <a:solidFill>
                  <a:srgbClr val="000000"/>
                </a:solidFill>
              </a:rPr>
              <a:t>IGFBP1</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highlight>
                  <a:srgbClr val="FFFF00"/>
                </a:highlight>
              </a:rPr>
              <a:t>UPR</a:t>
            </a:r>
            <a:r>
              <a:rPr i="1" lang="es" sz="1450">
                <a:solidFill>
                  <a:srgbClr val="000000"/>
                </a:solidFill>
              </a:rPr>
              <a:t>: </a:t>
            </a:r>
            <a:r>
              <a:rPr b="1" i="1" lang="es" sz="1450">
                <a:solidFill>
                  <a:srgbClr val="000000"/>
                </a:solidFill>
              </a:rPr>
              <a:t>IGFBP1</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Nonsense-Mediated Decay</a:t>
            </a:r>
            <a:r>
              <a:rPr i="1" lang="es" sz="1450">
                <a:solidFill>
                  <a:srgbClr val="000000"/>
                </a:solidFill>
              </a:rPr>
              <a:t>: </a:t>
            </a:r>
            <a:r>
              <a:rPr b="1" i="1" lang="es" sz="1450">
                <a:solidFill>
                  <a:srgbClr val="000000"/>
                </a:solidFill>
              </a:rPr>
              <a:t>RPS4X</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rRNA processing in the nucleus and cytosol</a:t>
            </a:r>
            <a:r>
              <a:rPr i="1" lang="es" sz="1450">
                <a:solidFill>
                  <a:srgbClr val="000000"/>
                </a:solidFill>
              </a:rPr>
              <a:t>: </a:t>
            </a:r>
            <a:r>
              <a:rPr b="1" i="1" lang="es" sz="1450">
                <a:solidFill>
                  <a:srgbClr val="000000"/>
                </a:solidFill>
              </a:rPr>
              <a:t>RPS4X</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HDACs deacetylate histones: </a:t>
            </a:r>
            <a:r>
              <a:rPr b="1" i="1" lang="es" sz="1450">
                <a:solidFill>
                  <a:srgbClr val="000000"/>
                </a:solidFill>
              </a:rPr>
              <a:t>HDAC8</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HDMs demethylate histones: </a:t>
            </a:r>
            <a:r>
              <a:rPr b="1" i="1" lang="es" sz="1450">
                <a:solidFill>
                  <a:srgbClr val="000000"/>
                </a:solidFill>
              </a:rPr>
              <a:t>KDM5C</a:t>
            </a:r>
            <a:endParaRPr b="1" i="1" sz="1450">
              <a:solidFill>
                <a:srgbClr val="000000"/>
              </a:solidFill>
            </a:endParaRPr>
          </a:p>
          <a:p>
            <a:pPr indent="-286147" lvl="0" marL="457200" rtl="0" algn="l">
              <a:spcBef>
                <a:spcPts val="0"/>
              </a:spcBef>
              <a:spcAft>
                <a:spcPts val="0"/>
              </a:spcAft>
              <a:buClr>
                <a:srgbClr val="000000"/>
              </a:buClr>
              <a:buSzPct val="100000"/>
              <a:buChar char="●"/>
            </a:pPr>
            <a:r>
              <a:rPr i="1" lang="es" sz="1450">
                <a:solidFill>
                  <a:srgbClr val="000000"/>
                </a:solidFill>
              </a:rPr>
              <a:t>HDMs demethylate histones: </a:t>
            </a:r>
            <a:r>
              <a:rPr b="1" i="1" lang="es" sz="1450">
                <a:solidFill>
                  <a:srgbClr val="000000"/>
                </a:solidFill>
              </a:rPr>
              <a:t>KDM6A</a:t>
            </a:r>
            <a:endParaRPr b="1" i="1" sz="145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6"/>
          <p:cNvSpPr txBox="1"/>
          <p:nvPr>
            <p:ph type="title"/>
          </p:nvPr>
        </p:nvSpPr>
        <p:spPr>
          <a:xfrm>
            <a:off x="10995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u="sng">
                <a:latin typeface="Montserrat"/>
                <a:ea typeface="Montserrat"/>
                <a:cs typeface="Montserrat"/>
                <a:sym typeface="Montserrat"/>
              </a:rPr>
              <a:t>Pathways</a:t>
            </a:r>
            <a:r>
              <a:rPr lang="es" u="sng"/>
              <a:t> </a:t>
            </a:r>
            <a:endParaRPr u="sng"/>
          </a:p>
        </p:txBody>
      </p:sp>
      <p:sp>
        <p:nvSpPr>
          <p:cNvPr id="563" name="Google Shape;563;p66"/>
          <p:cNvSpPr txBox="1"/>
          <p:nvPr>
            <p:ph idx="1" type="body"/>
          </p:nvPr>
        </p:nvSpPr>
        <p:spPr>
          <a:xfrm>
            <a:off x="109950" y="1017800"/>
            <a:ext cx="8663400" cy="3116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1400">
                <a:latin typeface="Montserrat"/>
                <a:ea typeface="Montserrat"/>
                <a:cs typeface="Montserrat"/>
                <a:sym typeface="Montserrat"/>
              </a:rPr>
              <a:t>Genes sobreexpresados en células masculinas, y que se encuentran en las listas deseadas:</a:t>
            </a:r>
            <a:endParaRPr i="1" sz="1050"/>
          </a:p>
          <a:p>
            <a:pPr indent="-313810" lvl="0" marL="457200" rtl="0" algn="l">
              <a:spcBef>
                <a:spcPts val="1200"/>
              </a:spcBef>
              <a:spcAft>
                <a:spcPts val="0"/>
              </a:spcAft>
              <a:buSzPts val="1342"/>
              <a:buChar char="●"/>
            </a:pPr>
            <a:r>
              <a:rPr i="1" lang="es" sz="1342">
                <a:solidFill>
                  <a:srgbClr val="000000"/>
                </a:solidFill>
                <a:latin typeface="Arial"/>
                <a:ea typeface="Arial"/>
                <a:cs typeface="Arial"/>
                <a:sym typeface="Arial"/>
              </a:rPr>
              <a:t>Selenoamino acid metabolism</a:t>
            </a:r>
            <a:r>
              <a:rPr i="1" lang="es" sz="1342"/>
              <a:t>: </a:t>
            </a:r>
            <a:r>
              <a:rPr b="1" i="1" lang="es" sz="1342"/>
              <a:t>RPS4Y1</a:t>
            </a:r>
            <a:endParaRPr b="1" i="1" sz="1342"/>
          </a:p>
          <a:p>
            <a:pPr indent="-313810" lvl="0" marL="457200" rtl="0" algn="l">
              <a:spcBef>
                <a:spcPts val="0"/>
              </a:spcBef>
              <a:spcAft>
                <a:spcPts val="0"/>
              </a:spcAft>
              <a:buSzPts val="1342"/>
              <a:buChar char="●"/>
            </a:pPr>
            <a:r>
              <a:rPr i="1" lang="es" sz="1342"/>
              <a:t>Eukaryotic Translation Initiation: </a:t>
            </a:r>
            <a:r>
              <a:rPr b="1" i="1" lang="es" sz="1342"/>
              <a:t>RPS4Y1</a:t>
            </a:r>
            <a:endParaRPr b="1" i="1" sz="1342"/>
          </a:p>
          <a:p>
            <a:pPr indent="-313810" lvl="0" marL="457200" rtl="0" algn="l">
              <a:spcBef>
                <a:spcPts val="0"/>
              </a:spcBef>
              <a:spcAft>
                <a:spcPts val="0"/>
              </a:spcAft>
              <a:buSzPts val="1342"/>
              <a:buChar char="●"/>
            </a:pPr>
            <a:r>
              <a:rPr i="1" lang="es" sz="1342">
                <a:solidFill>
                  <a:srgbClr val="000000"/>
                </a:solidFill>
                <a:latin typeface="Arial"/>
                <a:ea typeface="Arial"/>
                <a:cs typeface="Arial"/>
                <a:sym typeface="Arial"/>
              </a:rPr>
              <a:t>SRP-dependent co translational protein targeting to membrane</a:t>
            </a:r>
            <a:r>
              <a:rPr i="1" lang="es" sz="1342"/>
              <a:t>: </a:t>
            </a:r>
            <a:r>
              <a:rPr b="1" i="1" lang="es" sz="1342"/>
              <a:t>RPS4Y1</a:t>
            </a:r>
            <a:endParaRPr b="1" i="1" sz="1342"/>
          </a:p>
          <a:p>
            <a:pPr indent="-313810" lvl="0" marL="457200" rtl="0" algn="l">
              <a:spcBef>
                <a:spcPts val="0"/>
              </a:spcBef>
              <a:spcAft>
                <a:spcPts val="0"/>
              </a:spcAft>
              <a:buSzPts val="1342"/>
              <a:buChar char="●"/>
            </a:pPr>
            <a:r>
              <a:rPr i="1" lang="es" sz="1342">
                <a:solidFill>
                  <a:srgbClr val="000000"/>
                </a:solidFill>
              </a:rPr>
              <a:t>Eukaryotic Translation Elongation</a:t>
            </a:r>
            <a:r>
              <a:rPr i="1" lang="es" sz="1342"/>
              <a:t>: </a:t>
            </a:r>
            <a:r>
              <a:rPr b="1" i="1" lang="es" sz="1342"/>
              <a:t>RPS4Y1</a:t>
            </a:r>
            <a:endParaRPr b="1" i="1" sz="1342"/>
          </a:p>
          <a:p>
            <a:pPr indent="-313810" lvl="0" marL="457200" rtl="0" algn="l">
              <a:spcBef>
                <a:spcPts val="0"/>
              </a:spcBef>
              <a:spcAft>
                <a:spcPts val="0"/>
              </a:spcAft>
              <a:buSzPts val="1342"/>
              <a:buChar char="●"/>
            </a:pPr>
            <a:r>
              <a:rPr i="1" lang="es" sz="1342">
                <a:solidFill>
                  <a:srgbClr val="000000"/>
                </a:solidFill>
              </a:rPr>
              <a:t>Eukaryotic Translation Termination: </a:t>
            </a:r>
            <a:r>
              <a:rPr b="1" i="1" lang="es" sz="1342">
                <a:solidFill>
                  <a:srgbClr val="000000"/>
                </a:solidFill>
              </a:rPr>
              <a:t>RPS4Y1</a:t>
            </a:r>
            <a:endParaRPr b="1" i="1" sz="1342">
              <a:solidFill>
                <a:srgbClr val="000000"/>
              </a:solidFill>
            </a:endParaRPr>
          </a:p>
          <a:p>
            <a:pPr indent="-313810" lvl="0" marL="457200" rtl="0" algn="l">
              <a:spcBef>
                <a:spcPts val="0"/>
              </a:spcBef>
              <a:spcAft>
                <a:spcPts val="0"/>
              </a:spcAft>
              <a:buClr>
                <a:srgbClr val="000000"/>
              </a:buClr>
              <a:buSzPts val="1342"/>
              <a:buChar char="●"/>
            </a:pPr>
            <a:r>
              <a:rPr i="1" lang="es" sz="1342">
                <a:solidFill>
                  <a:srgbClr val="000000"/>
                </a:solidFill>
              </a:rPr>
              <a:t>Regulation of mRNA stability by proteins that bind AU-rich elements</a:t>
            </a:r>
            <a:r>
              <a:rPr i="1" lang="es" sz="1342">
                <a:solidFill>
                  <a:srgbClr val="000000"/>
                </a:solidFill>
              </a:rPr>
              <a:t>: </a:t>
            </a:r>
            <a:r>
              <a:rPr b="1" i="1" lang="es" sz="1342">
                <a:solidFill>
                  <a:srgbClr val="000000"/>
                </a:solidFill>
              </a:rPr>
              <a:t>HSPB1</a:t>
            </a:r>
            <a:endParaRPr b="1" i="1" sz="1342">
              <a:solidFill>
                <a:srgbClr val="000000"/>
              </a:solidFill>
            </a:endParaRPr>
          </a:p>
          <a:p>
            <a:pPr indent="-313810" lvl="0" marL="457200" rtl="0" algn="l">
              <a:spcBef>
                <a:spcPts val="0"/>
              </a:spcBef>
              <a:spcAft>
                <a:spcPts val="0"/>
              </a:spcAft>
              <a:buClr>
                <a:srgbClr val="000000"/>
              </a:buClr>
              <a:buSzPts val="1342"/>
              <a:buChar char="●"/>
            </a:pPr>
            <a:r>
              <a:rPr i="1" lang="es" sz="1342">
                <a:solidFill>
                  <a:srgbClr val="000000"/>
                </a:solidFill>
              </a:rPr>
              <a:t>Nonsense-Mediated Decay: </a:t>
            </a:r>
            <a:r>
              <a:rPr b="1" i="1" lang="es" sz="1342">
                <a:solidFill>
                  <a:srgbClr val="000000"/>
                </a:solidFill>
              </a:rPr>
              <a:t>RPS4Y1</a:t>
            </a:r>
            <a:endParaRPr b="1" i="1" sz="1342">
              <a:solidFill>
                <a:srgbClr val="000000"/>
              </a:solidFill>
            </a:endParaRPr>
          </a:p>
          <a:p>
            <a:pPr indent="-313810" lvl="0" marL="457200" rtl="0" algn="l">
              <a:spcBef>
                <a:spcPts val="0"/>
              </a:spcBef>
              <a:spcAft>
                <a:spcPts val="0"/>
              </a:spcAft>
              <a:buClr>
                <a:srgbClr val="000000"/>
              </a:buClr>
              <a:buSzPts val="1342"/>
              <a:buChar char="●"/>
            </a:pPr>
            <a:r>
              <a:rPr i="1" lang="es" sz="1342">
                <a:solidFill>
                  <a:srgbClr val="000000"/>
                </a:solidFill>
              </a:rPr>
              <a:t>rRNA processing in the nucleus and cytosol: </a:t>
            </a:r>
            <a:r>
              <a:rPr b="1" i="1" lang="es" sz="1342">
                <a:solidFill>
                  <a:srgbClr val="000000"/>
                </a:solidFill>
              </a:rPr>
              <a:t>RPS4Y1</a:t>
            </a:r>
            <a:endParaRPr b="1" i="1" sz="1342">
              <a:solidFill>
                <a:srgbClr val="000000"/>
              </a:solidFill>
            </a:endParaRPr>
          </a:p>
          <a:p>
            <a:pPr indent="-313810" lvl="0" marL="457200" rtl="0" algn="l">
              <a:spcBef>
                <a:spcPts val="0"/>
              </a:spcBef>
              <a:spcAft>
                <a:spcPts val="0"/>
              </a:spcAft>
              <a:buClr>
                <a:srgbClr val="000000"/>
              </a:buClr>
              <a:buSzPts val="1342"/>
              <a:buChar char="●"/>
            </a:pPr>
            <a:r>
              <a:rPr i="1" lang="es" sz="1342">
                <a:solidFill>
                  <a:srgbClr val="000000"/>
                </a:solidFill>
              </a:rPr>
              <a:t>HDMs demethylate histones: </a:t>
            </a:r>
            <a:r>
              <a:rPr b="1" i="1" lang="es" sz="1342">
                <a:solidFill>
                  <a:srgbClr val="000000"/>
                </a:solidFill>
              </a:rPr>
              <a:t>KDM5D</a:t>
            </a:r>
            <a:endParaRPr b="1" i="1" sz="1342">
              <a:solidFill>
                <a:srgbClr val="000000"/>
              </a:solidFill>
            </a:endParaRPr>
          </a:p>
          <a:p>
            <a:pPr indent="-313810" lvl="0" marL="457200" rtl="0" algn="l">
              <a:spcBef>
                <a:spcPts val="0"/>
              </a:spcBef>
              <a:spcAft>
                <a:spcPts val="0"/>
              </a:spcAft>
              <a:buClr>
                <a:srgbClr val="000000"/>
              </a:buClr>
              <a:buSzPts val="1342"/>
              <a:buChar char="●"/>
            </a:pPr>
            <a:r>
              <a:rPr i="1" lang="es" sz="1342">
                <a:solidFill>
                  <a:srgbClr val="000000"/>
                </a:solidFill>
              </a:rPr>
              <a:t>HDMs demethylate histones: </a:t>
            </a:r>
            <a:r>
              <a:rPr b="1" i="1" lang="es" sz="1342">
                <a:solidFill>
                  <a:srgbClr val="000000"/>
                </a:solidFill>
              </a:rPr>
              <a:t>UTY</a:t>
            </a:r>
            <a:endParaRPr b="1" i="1" sz="1342">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latin typeface="Montserrat"/>
                <a:ea typeface="Montserrat"/>
                <a:cs typeface="Montserrat"/>
                <a:sym typeface="Montserrat"/>
              </a:rPr>
              <a:t>Workflow genes de interés</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a:p>
            <a:pPr indent="0" lvl="0" marL="0" rtl="0" algn="ctr">
              <a:spcBef>
                <a:spcPts val="0"/>
              </a:spcBef>
              <a:spcAft>
                <a:spcPts val="0"/>
              </a:spcAft>
              <a:buNone/>
            </a:pPr>
            <a:r>
              <a:t/>
            </a:r>
            <a:endParaRPr>
              <a:latin typeface="Montserrat"/>
              <a:ea typeface="Montserrat"/>
              <a:cs typeface="Montserrat"/>
              <a:sym typeface="Montserrat"/>
            </a:endParaRPr>
          </a:p>
        </p:txBody>
      </p:sp>
      <p:sp>
        <p:nvSpPr>
          <p:cNvPr id="569" name="Google Shape;569;p67"/>
          <p:cNvSpPr txBox="1"/>
          <p:nvPr/>
        </p:nvSpPr>
        <p:spPr>
          <a:xfrm>
            <a:off x="311700" y="1305450"/>
            <a:ext cx="19860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rgbClr val="674EA7"/>
                </a:solidFill>
                <a:latin typeface="Montserrat"/>
                <a:ea typeface="Montserrat"/>
                <a:cs typeface="Montserrat"/>
                <a:sym typeface="Montserrat"/>
              </a:rPr>
              <a:t>Muestras GSE 30595</a:t>
            </a:r>
            <a:endParaRPr u="sng">
              <a:solidFill>
                <a:srgbClr val="674EA7"/>
              </a:solidFill>
              <a:latin typeface="Montserrat"/>
              <a:ea typeface="Montserrat"/>
              <a:cs typeface="Montserrat"/>
              <a:sym typeface="Montserrat"/>
            </a:endParaRPr>
          </a:p>
        </p:txBody>
      </p:sp>
      <p:sp>
        <p:nvSpPr>
          <p:cNvPr id="570" name="Google Shape;570;p67"/>
          <p:cNvSpPr txBox="1"/>
          <p:nvPr/>
        </p:nvSpPr>
        <p:spPr>
          <a:xfrm>
            <a:off x="2661600" y="1305450"/>
            <a:ext cx="20625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División en M1 y M2</a:t>
            </a:r>
            <a:endParaRPr>
              <a:solidFill>
                <a:srgbClr val="674EA7"/>
              </a:solidFill>
              <a:latin typeface="Montserrat"/>
              <a:ea typeface="Montserrat"/>
              <a:cs typeface="Montserrat"/>
              <a:sym typeface="Montserrat"/>
            </a:endParaRPr>
          </a:p>
        </p:txBody>
      </p:sp>
      <p:cxnSp>
        <p:nvCxnSpPr>
          <p:cNvPr id="571" name="Google Shape;571;p67"/>
          <p:cNvCxnSpPr>
            <a:stCxn id="569" idx="3"/>
            <a:endCxn id="570" idx="1"/>
          </p:cNvCxnSpPr>
          <p:nvPr/>
        </p:nvCxnSpPr>
        <p:spPr>
          <a:xfrm>
            <a:off x="2297700" y="1514250"/>
            <a:ext cx="363900" cy="0"/>
          </a:xfrm>
          <a:prstGeom prst="straightConnector1">
            <a:avLst/>
          </a:prstGeom>
          <a:noFill/>
          <a:ln cap="flat" cmpd="sng" w="9525">
            <a:solidFill>
              <a:schemeClr val="dk2"/>
            </a:solidFill>
            <a:prstDash val="solid"/>
            <a:round/>
            <a:headEnd len="med" w="med" type="none"/>
            <a:tailEnd len="med" w="med" type="triangle"/>
          </a:ln>
        </p:spPr>
      </p:cxnSp>
      <p:sp>
        <p:nvSpPr>
          <p:cNvPr id="572" name="Google Shape;572;p67"/>
          <p:cNvSpPr txBox="1"/>
          <p:nvPr/>
        </p:nvSpPr>
        <p:spPr>
          <a:xfrm>
            <a:off x="5369950" y="1240600"/>
            <a:ext cx="3606000" cy="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Expresión diferencial entre muestras female vs male de cada grupo (logFC = 0.58 y p-valor = 0.05)</a:t>
            </a:r>
            <a:endParaRPr>
              <a:solidFill>
                <a:srgbClr val="674EA7"/>
              </a:solidFill>
              <a:latin typeface="Montserrat"/>
              <a:ea typeface="Montserrat"/>
              <a:cs typeface="Montserrat"/>
              <a:sym typeface="Montserrat"/>
            </a:endParaRPr>
          </a:p>
        </p:txBody>
      </p:sp>
      <p:cxnSp>
        <p:nvCxnSpPr>
          <p:cNvPr id="573" name="Google Shape;573;p67"/>
          <p:cNvCxnSpPr>
            <a:stCxn id="570" idx="3"/>
            <a:endCxn id="572" idx="1"/>
          </p:cNvCxnSpPr>
          <p:nvPr/>
        </p:nvCxnSpPr>
        <p:spPr>
          <a:xfrm flipH="1" rot="10800000">
            <a:off x="4724100" y="1506450"/>
            <a:ext cx="645900" cy="7800"/>
          </a:xfrm>
          <a:prstGeom prst="straightConnector1">
            <a:avLst/>
          </a:prstGeom>
          <a:noFill/>
          <a:ln cap="flat" cmpd="sng" w="9525">
            <a:solidFill>
              <a:schemeClr val="dk2"/>
            </a:solidFill>
            <a:prstDash val="solid"/>
            <a:round/>
            <a:headEnd len="med" w="med" type="none"/>
            <a:tailEnd len="med" w="med" type="triangle"/>
          </a:ln>
        </p:spPr>
      </p:cxnSp>
      <p:sp>
        <p:nvSpPr>
          <p:cNvPr id="574" name="Google Shape;574;p67"/>
          <p:cNvSpPr txBox="1"/>
          <p:nvPr/>
        </p:nvSpPr>
        <p:spPr>
          <a:xfrm>
            <a:off x="4999425" y="2795075"/>
            <a:ext cx="377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DE genes para cada condición</a:t>
            </a:r>
            <a:endParaRPr sz="1800">
              <a:solidFill>
                <a:schemeClr val="dk2"/>
              </a:solidFill>
              <a:latin typeface="Roboto"/>
              <a:ea typeface="Roboto"/>
              <a:cs typeface="Roboto"/>
              <a:sym typeface="Roboto"/>
            </a:endParaRPr>
          </a:p>
        </p:txBody>
      </p:sp>
      <p:cxnSp>
        <p:nvCxnSpPr>
          <p:cNvPr id="575" name="Google Shape;575;p67"/>
          <p:cNvCxnSpPr>
            <a:endCxn id="574" idx="0"/>
          </p:cNvCxnSpPr>
          <p:nvPr/>
        </p:nvCxnSpPr>
        <p:spPr>
          <a:xfrm rot="5400000">
            <a:off x="6677925" y="2262125"/>
            <a:ext cx="741900" cy="3240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576" name="Google Shape;576;p67"/>
          <p:cNvSpPr txBox="1"/>
          <p:nvPr/>
        </p:nvSpPr>
        <p:spPr>
          <a:xfrm>
            <a:off x="7254200" y="2283600"/>
            <a:ext cx="1203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s" sz="1000">
                <a:solidFill>
                  <a:srgbClr val="674EA7"/>
                </a:solidFill>
                <a:latin typeface="Montserrat"/>
                <a:ea typeface="Montserrat"/>
                <a:cs typeface="Montserrat"/>
                <a:sym typeface="Montserrat"/>
              </a:rPr>
              <a:t>Obtuvimos</a:t>
            </a:r>
            <a:endParaRPr i="1">
              <a:solidFill>
                <a:schemeClr val="dk2"/>
              </a:solidFill>
              <a:latin typeface="Roboto"/>
              <a:ea typeface="Roboto"/>
              <a:cs typeface="Roboto"/>
              <a:sym typeface="Roboto"/>
            </a:endParaRPr>
          </a:p>
        </p:txBody>
      </p:sp>
      <p:sp>
        <p:nvSpPr>
          <p:cNvPr id="577" name="Google Shape;577;p67"/>
          <p:cNvSpPr txBox="1"/>
          <p:nvPr/>
        </p:nvSpPr>
        <p:spPr>
          <a:xfrm>
            <a:off x="2485325" y="2867075"/>
            <a:ext cx="18369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578" name="Google Shape;578;p67"/>
          <p:cNvSpPr txBox="1"/>
          <p:nvPr/>
        </p:nvSpPr>
        <p:spPr>
          <a:xfrm>
            <a:off x="1159800" y="3195275"/>
            <a:ext cx="25212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Lista de genes de vellosidad</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a:solidFill>
                <a:srgbClr val="674EA7"/>
              </a:solidFill>
              <a:latin typeface="Montserrat"/>
              <a:ea typeface="Montserrat"/>
              <a:cs typeface="Montserrat"/>
              <a:sym typeface="Montserrat"/>
            </a:endParaRPr>
          </a:p>
        </p:txBody>
      </p:sp>
      <p:sp>
        <p:nvSpPr>
          <p:cNvPr id="579" name="Google Shape;579;p67"/>
          <p:cNvSpPr txBox="1"/>
          <p:nvPr/>
        </p:nvSpPr>
        <p:spPr>
          <a:xfrm>
            <a:off x="821225" y="2283600"/>
            <a:ext cx="13470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DEG M1 </a:t>
            </a:r>
            <a:endParaRPr sz="1800">
              <a:solidFill>
                <a:schemeClr val="dk2"/>
              </a:solidFill>
              <a:latin typeface="Roboto"/>
              <a:ea typeface="Roboto"/>
              <a:cs typeface="Roboto"/>
              <a:sym typeface="Roboto"/>
            </a:endParaRPr>
          </a:p>
        </p:txBody>
      </p:sp>
      <p:sp>
        <p:nvSpPr>
          <p:cNvPr id="580" name="Google Shape;580;p67"/>
          <p:cNvSpPr txBox="1"/>
          <p:nvPr/>
        </p:nvSpPr>
        <p:spPr>
          <a:xfrm>
            <a:off x="2773475" y="2279975"/>
            <a:ext cx="13974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674EA7"/>
                </a:solidFill>
                <a:latin typeface="Montserrat"/>
                <a:ea typeface="Montserrat"/>
                <a:cs typeface="Montserrat"/>
                <a:sym typeface="Montserrat"/>
              </a:rPr>
              <a:t>DEG M2</a:t>
            </a:r>
            <a:endParaRPr sz="1800">
              <a:solidFill>
                <a:schemeClr val="dk2"/>
              </a:solidFill>
              <a:latin typeface="Roboto"/>
              <a:ea typeface="Roboto"/>
              <a:cs typeface="Roboto"/>
              <a:sym typeface="Roboto"/>
            </a:endParaRPr>
          </a:p>
        </p:txBody>
      </p:sp>
      <p:cxnSp>
        <p:nvCxnSpPr>
          <p:cNvPr id="581" name="Google Shape;581;p67"/>
          <p:cNvCxnSpPr>
            <a:stCxn id="574" idx="1"/>
          </p:cNvCxnSpPr>
          <p:nvPr/>
        </p:nvCxnSpPr>
        <p:spPr>
          <a:xfrm rot="10800000">
            <a:off x="4286325" y="2513975"/>
            <a:ext cx="713100" cy="481200"/>
          </a:xfrm>
          <a:prstGeom prst="curvedConnector3">
            <a:avLst>
              <a:gd fmla="val 50000" name="adj1"/>
            </a:avLst>
          </a:prstGeom>
          <a:noFill/>
          <a:ln cap="flat" cmpd="sng" w="9525">
            <a:solidFill>
              <a:schemeClr val="dk2"/>
            </a:solidFill>
            <a:prstDash val="solid"/>
            <a:round/>
            <a:headEnd len="med" w="med" type="none"/>
            <a:tailEnd len="med" w="med" type="stealth"/>
          </a:ln>
        </p:spPr>
      </p:cxnSp>
      <p:cxnSp>
        <p:nvCxnSpPr>
          <p:cNvPr id="582" name="Google Shape;582;p67"/>
          <p:cNvCxnSpPr>
            <a:stCxn id="579" idx="2"/>
            <a:endCxn id="578" idx="0"/>
          </p:cNvCxnSpPr>
          <p:nvPr/>
        </p:nvCxnSpPr>
        <p:spPr>
          <a:xfrm flipH="1" rot="-5400000">
            <a:off x="1671125" y="2445900"/>
            <a:ext cx="573000" cy="925800"/>
          </a:xfrm>
          <a:prstGeom prst="curvedConnector3">
            <a:avLst>
              <a:gd fmla="val 49998" name="adj1"/>
            </a:avLst>
          </a:prstGeom>
          <a:noFill/>
          <a:ln cap="flat" cmpd="sng" w="9525">
            <a:solidFill>
              <a:schemeClr val="dk2"/>
            </a:solidFill>
            <a:prstDash val="solid"/>
            <a:round/>
            <a:headEnd len="med" w="med" type="none"/>
            <a:tailEnd len="med" w="med" type="none"/>
          </a:ln>
        </p:spPr>
      </p:cxnSp>
      <p:cxnSp>
        <p:nvCxnSpPr>
          <p:cNvPr id="583" name="Google Shape;583;p67"/>
          <p:cNvCxnSpPr>
            <a:stCxn id="580" idx="2"/>
            <a:endCxn id="578" idx="0"/>
          </p:cNvCxnSpPr>
          <p:nvPr/>
        </p:nvCxnSpPr>
        <p:spPr>
          <a:xfrm rot="5400000">
            <a:off x="2657975" y="2381075"/>
            <a:ext cx="576600" cy="10518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584" name="Google Shape;584;p67"/>
          <p:cNvCxnSpPr/>
          <p:nvPr/>
        </p:nvCxnSpPr>
        <p:spPr>
          <a:xfrm>
            <a:off x="446625" y="4091750"/>
            <a:ext cx="453900" cy="0"/>
          </a:xfrm>
          <a:prstGeom prst="straightConnector1">
            <a:avLst/>
          </a:prstGeom>
          <a:noFill/>
          <a:ln cap="flat" cmpd="sng" w="9525">
            <a:solidFill>
              <a:schemeClr val="dk2"/>
            </a:solidFill>
            <a:prstDash val="solid"/>
            <a:round/>
            <a:headEnd len="med" w="med" type="none"/>
            <a:tailEnd len="med" w="med" type="triangle"/>
          </a:ln>
        </p:spPr>
      </p:cxnSp>
      <p:sp>
        <p:nvSpPr>
          <p:cNvPr id="585" name="Google Shape;585;p67"/>
          <p:cNvSpPr txBox="1"/>
          <p:nvPr/>
        </p:nvSpPr>
        <p:spPr>
          <a:xfrm>
            <a:off x="1066050" y="3786100"/>
            <a:ext cx="6188100" cy="576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674EA7"/>
              </a:buClr>
              <a:buSzPts val="1400"/>
              <a:buFont typeface="Montserrat"/>
              <a:buChar char="●"/>
            </a:pPr>
            <a:r>
              <a:rPr lang="es">
                <a:solidFill>
                  <a:srgbClr val="674EA7"/>
                </a:solidFill>
                <a:latin typeface="Montserrat"/>
                <a:ea typeface="Montserrat"/>
                <a:cs typeface="Montserrat"/>
                <a:sym typeface="Montserrat"/>
              </a:rPr>
              <a:t>M1: SMC1A (female)</a:t>
            </a:r>
            <a:endParaRPr>
              <a:solidFill>
                <a:srgbClr val="674EA7"/>
              </a:solidFill>
              <a:latin typeface="Montserrat"/>
              <a:ea typeface="Montserrat"/>
              <a:cs typeface="Montserrat"/>
              <a:sym typeface="Montserrat"/>
            </a:endParaRPr>
          </a:p>
          <a:p>
            <a:pPr indent="-317500" lvl="0" marL="457200" rtl="0" algn="l">
              <a:spcBef>
                <a:spcPts val="0"/>
              </a:spcBef>
              <a:spcAft>
                <a:spcPts val="0"/>
              </a:spcAft>
              <a:buClr>
                <a:srgbClr val="674EA7"/>
              </a:buClr>
              <a:buSzPts val="1400"/>
              <a:buFont typeface="Montserrat"/>
              <a:buChar char="●"/>
            </a:pPr>
            <a:r>
              <a:rPr lang="es">
                <a:solidFill>
                  <a:srgbClr val="674EA7"/>
                </a:solidFill>
                <a:latin typeface="Montserrat"/>
                <a:ea typeface="Montserrat"/>
                <a:cs typeface="Montserrat"/>
                <a:sym typeface="Montserrat"/>
              </a:rPr>
              <a:t>M2: </a:t>
            </a:r>
            <a:r>
              <a:rPr lang="es">
                <a:solidFill>
                  <a:srgbClr val="674EA7"/>
                </a:solidFill>
                <a:latin typeface="Montserrat"/>
                <a:ea typeface="Montserrat"/>
                <a:cs typeface="Montserrat"/>
                <a:sym typeface="Montserrat"/>
              </a:rPr>
              <a:t>RAB30 (male)</a:t>
            </a:r>
            <a:endParaRPr>
              <a:solidFill>
                <a:srgbClr val="674EA7"/>
              </a:solidFill>
              <a:latin typeface="Montserrat"/>
              <a:ea typeface="Montserrat"/>
              <a:cs typeface="Montserrat"/>
              <a:sym typeface="Montserrat"/>
            </a:endParaRPr>
          </a:p>
        </p:txBody>
      </p:sp>
      <p:sp>
        <p:nvSpPr>
          <p:cNvPr id="586" name="Google Shape;586;p67"/>
          <p:cNvSpPr txBox="1"/>
          <p:nvPr/>
        </p:nvSpPr>
        <p:spPr>
          <a:xfrm>
            <a:off x="1747500" y="2608475"/>
            <a:ext cx="14643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000">
                <a:solidFill>
                  <a:srgbClr val="674EA7"/>
                </a:solidFill>
                <a:latin typeface="Montserrat"/>
                <a:ea typeface="Montserrat"/>
                <a:cs typeface="Montserrat"/>
                <a:sym typeface="Montserrat"/>
              </a:rPr>
              <a:t>Contrastamos con</a:t>
            </a:r>
            <a:endParaRPr sz="18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