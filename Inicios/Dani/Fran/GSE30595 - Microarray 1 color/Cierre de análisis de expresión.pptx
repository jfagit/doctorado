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aleway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bold.fntdata"/><Relationship Id="rId12" Type="http://schemas.openxmlformats.org/officeDocument/2006/relationships/font" Target="fonts/Raleway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Italic.fntdata"/><Relationship Id="rId14" Type="http://schemas.openxmlformats.org/officeDocument/2006/relationships/font" Target="fonts/Raleway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ec7efed3f7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ec7efed3f7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ec7efed3f7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ec7efed3f7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ec7efed3f7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ec7efed3f7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ec7efed3f7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ec7efed3f7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8f92547a27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8f92547a27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document/d/1dTNOlEondwoZ2xDXlf1xbNMKhGIl3KM7cwDaA_Mntok/edit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Cierre de </a:t>
            </a:r>
            <a:r>
              <a:rPr lang="es"/>
              <a:t>análisis</a:t>
            </a:r>
            <a:r>
              <a:rPr lang="es"/>
              <a:t> de expresión GSE30595</a:t>
            </a:r>
            <a:endParaRPr/>
          </a:p>
        </p:txBody>
      </p:sp>
      <p:sp>
        <p:nvSpPr>
          <p:cNvPr id="87" name="Google Shape;87;p1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hace falta?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29450" y="2646925"/>
            <a:ext cx="7981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s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Determinar la funcionalidad de los DEG en las vías metabólicas que nos interesan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29450" y="3239250"/>
            <a:ext cx="6824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s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Graficar la funcionalidad según sexos en la vía determinada, o varias en una red.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Funcionalidad de los genes DEG ¿Qué hice?</a:t>
            </a:r>
            <a:endParaRPr/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729450" y="2007225"/>
            <a:ext cx="7688700" cy="14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lang="es"/>
              <a:t>Un documento recopilando información de cada gen desde GenCards y coloreando palabras claves e importantes sobre el funcionamiento de cada uno.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3"/>
              </a:rPr>
              <a:t>https://docs.google.com/document/d/1dTNOlEondwoZ2xDXlf1xbNMKhGIl3KM7cwDaA_Mntok/edit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10800" y="3330625"/>
            <a:ext cx="2126000" cy="163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Funcionalidad de los genes DEG ¿Qué pensé?</a:t>
            </a:r>
            <a:endParaRPr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729450" y="2103275"/>
            <a:ext cx="6315300" cy="27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just">
              <a:spcBef>
                <a:spcPts val="1000"/>
              </a:spcBef>
              <a:spcAft>
                <a:spcPts val="0"/>
              </a:spcAft>
              <a:buSzPts val="1600"/>
              <a:buChar char="❖"/>
            </a:pPr>
            <a:r>
              <a:rPr lang="es" sz="1600"/>
              <a:t>Pathways relevantes:</a:t>
            </a:r>
            <a:endParaRPr sz="1400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4825" y="2371525"/>
            <a:ext cx="1208175" cy="184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729450" y="2571750"/>
            <a:ext cx="63153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1" marL="9144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➢"/>
            </a:pPr>
            <a:r>
              <a:rPr lang="es">
                <a:solidFill>
                  <a:schemeClr val="accent1"/>
                </a:solidFill>
                <a:highlight>
                  <a:srgbClr val="93C47D"/>
                </a:highlight>
                <a:latin typeface="Lato"/>
                <a:ea typeface="Lato"/>
                <a:cs typeface="Lato"/>
                <a:sym typeface="Lato"/>
              </a:rPr>
              <a:t>Fosforilación oxidativa</a:t>
            </a: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- Hay 8 genes SE en female que codifican productos que se encuentran en la mitocondria. Pero hay 3 genes SE en male… 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729450" y="3171500"/>
            <a:ext cx="64338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➢"/>
            </a:pPr>
            <a:r>
              <a:rPr lang="es">
                <a:solidFill>
                  <a:schemeClr val="accent1"/>
                </a:solidFill>
                <a:highlight>
                  <a:srgbClr val="F9CB9C"/>
                </a:highlight>
                <a:latin typeface="Lato"/>
                <a:ea typeface="Lato"/>
                <a:cs typeface="Lato"/>
                <a:sym typeface="Lato"/>
              </a:rPr>
              <a:t>TCA cycle</a:t>
            </a: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- Hay más genes SE en female, lo cual me da miedo. Hay un gen muy particular, PDK4 que vale la pena revisar.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729450" y="4213750"/>
            <a:ext cx="64338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➢"/>
            </a:pPr>
            <a:r>
              <a:rPr lang="es">
                <a:solidFill>
                  <a:schemeClr val="accent1"/>
                </a:solidFill>
                <a:highlight>
                  <a:srgbClr val="EA9999"/>
                </a:highlight>
                <a:latin typeface="Lato"/>
                <a:ea typeface="Lato"/>
                <a:cs typeface="Lato"/>
                <a:sym typeface="Lato"/>
              </a:rPr>
              <a:t>Glucólisis</a:t>
            </a: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- También hay más genes SE en female, pero por poco.. entonces?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Dudas..</a:t>
            </a:r>
            <a:endParaRPr/>
          </a:p>
        </p:txBody>
      </p:sp>
      <p:sp>
        <p:nvSpPr>
          <p:cNvPr id="112" name="Google Shape;112;p16"/>
          <p:cNvSpPr txBox="1"/>
          <p:nvPr>
            <p:ph idx="1" type="body"/>
          </p:nvPr>
        </p:nvSpPr>
        <p:spPr>
          <a:xfrm>
            <a:off x="729450" y="1658825"/>
            <a:ext cx="5523300" cy="27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1" marL="914400" rtl="0" algn="just">
              <a:spcBef>
                <a:spcPts val="1200"/>
              </a:spcBef>
              <a:spcAft>
                <a:spcPts val="0"/>
              </a:spcAft>
              <a:buSzPts val="1400"/>
              <a:buChar char="➢"/>
            </a:pPr>
            <a:r>
              <a:rPr lang="es" sz="1400"/>
              <a:t>¿Que </a:t>
            </a:r>
            <a:r>
              <a:rPr i="1" lang="es" sz="1400" u="sng"/>
              <a:t>un solo</a:t>
            </a:r>
            <a:r>
              <a:rPr i="1" lang="es" sz="1400"/>
              <a:t> </a:t>
            </a:r>
            <a:r>
              <a:rPr lang="es" sz="1400"/>
              <a:t>gen, o pocos, de una vía este/n SE en un sexo respecto al otro, alcanza para decir que la vía esta aumentada en ambos?¿Cual es el criterio? Ejemplo: Via de UPR</a:t>
            </a:r>
            <a:endParaRPr sz="1400"/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13" name="Google Shape;11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0924" y="2139649"/>
            <a:ext cx="1146700" cy="195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729450" y="3200650"/>
            <a:ext cx="56052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➢"/>
            </a:pP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Si un solo gen de una via se presenta SE en un sexo, alcanza para decir que hay diferencia sexual en ese pathway? Ejemplo: Síntesis de ácidos grasos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Funcionalidad de los genes DEG. Parte 2</a:t>
            </a:r>
            <a:endParaRPr/>
          </a:p>
        </p:txBody>
      </p:sp>
      <p:sp>
        <p:nvSpPr>
          <p:cNvPr id="120" name="Google Shape;120;p17"/>
          <p:cNvSpPr txBox="1"/>
          <p:nvPr>
            <p:ph idx="1" type="body"/>
          </p:nvPr>
        </p:nvSpPr>
        <p:spPr>
          <a:xfrm>
            <a:off x="729450" y="2103275"/>
            <a:ext cx="6315300" cy="27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just">
              <a:spcBef>
                <a:spcPts val="1000"/>
              </a:spcBef>
              <a:spcAft>
                <a:spcPts val="0"/>
              </a:spcAft>
              <a:buSzPts val="1600"/>
              <a:buChar char="❖"/>
            </a:pPr>
            <a:r>
              <a:rPr lang="es" sz="1600"/>
              <a:t>Pathways relevantes:</a:t>
            </a:r>
            <a:endParaRPr sz="16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4650" y="2402375"/>
            <a:ext cx="2966950" cy="166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7"/>
          <p:cNvSpPr txBox="1"/>
          <p:nvPr/>
        </p:nvSpPr>
        <p:spPr>
          <a:xfrm>
            <a:off x="729450" y="2655775"/>
            <a:ext cx="47493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1" marL="9144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➢"/>
            </a:pP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Señalización de citoquinas: Resumen ChatGTP.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 txBox="1"/>
          <p:nvPr/>
        </p:nvSpPr>
        <p:spPr>
          <a:xfrm>
            <a:off x="729500" y="3044925"/>
            <a:ext cx="47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➢"/>
            </a:pPr>
            <a:r>
              <a:rPr lang="es">
                <a:solidFill>
                  <a:schemeClr val="accent1"/>
                </a:solidFill>
                <a:highlight>
                  <a:srgbClr val="F4CCCC"/>
                </a:highlight>
                <a:latin typeface="Lato"/>
                <a:ea typeface="Lato"/>
                <a:cs typeface="Lato"/>
                <a:sym typeface="Lato"/>
              </a:rPr>
              <a:t>Metabolismo de lípidos</a:t>
            </a: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 Resumen ChatGTP.</a:t>
            </a:r>
            <a:endParaRPr/>
          </a:p>
        </p:txBody>
      </p:sp>
      <p:sp>
        <p:nvSpPr>
          <p:cNvPr id="124" name="Google Shape;124;p17"/>
          <p:cNvSpPr txBox="1"/>
          <p:nvPr/>
        </p:nvSpPr>
        <p:spPr>
          <a:xfrm>
            <a:off x="729450" y="3535425"/>
            <a:ext cx="517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➢"/>
            </a:pPr>
            <a:r>
              <a:rPr lang="es">
                <a:solidFill>
                  <a:schemeClr val="accent1"/>
                </a:solidFill>
                <a:highlight>
                  <a:srgbClr val="F4CCCC"/>
                </a:highlight>
                <a:latin typeface="Lato"/>
                <a:ea typeface="Lato"/>
                <a:cs typeface="Lato"/>
                <a:sym typeface="Lato"/>
              </a:rPr>
              <a:t>Metabolismo de carbohidratos</a:t>
            </a:r>
            <a:r>
              <a:rPr lang="es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 Resumen ChatGTP.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Pregunta del millón: Qué y </a:t>
            </a:r>
            <a:r>
              <a:rPr lang="es"/>
              <a:t>cómo</a:t>
            </a:r>
            <a:r>
              <a:rPr lang="es"/>
              <a:t> graficar?</a:t>
            </a:r>
            <a:endParaRPr/>
          </a:p>
        </p:txBody>
      </p:sp>
      <p:sp>
        <p:nvSpPr>
          <p:cNvPr id="130" name="Google Shape;130;p18"/>
          <p:cNvSpPr txBox="1"/>
          <p:nvPr>
            <p:ph idx="1" type="body"/>
          </p:nvPr>
        </p:nvSpPr>
        <p:spPr>
          <a:xfrm>
            <a:off x="729450" y="2078875"/>
            <a:ext cx="7688700" cy="7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1000"/>
              </a:spcAft>
              <a:buSzPts val="1300"/>
              <a:buChar char="➔"/>
            </a:pPr>
            <a:r>
              <a:rPr lang="es"/>
              <a:t>Qué graficar? Los genes DEG de las </a:t>
            </a:r>
            <a:r>
              <a:rPr lang="es"/>
              <a:t>vías</a:t>
            </a:r>
            <a:r>
              <a:rPr lang="es"/>
              <a:t> </a:t>
            </a:r>
            <a:r>
              <a:rPr lang="es"/>
              <a:t>metabólicas</a:t>
            </a:r>
            <a:r>
              <a:rPr lang="es"/>
              <a:t>, representados con un color, idealmente segun el sexo, en el pathway que le corresponda.</a:t>
            </a:r>
            <a:endParaRPr/>
          </a:p>
        </p:txBody>
      </p:sp>
      <p:sp>
        <p:nvSpPr>
          <p:cNvPr id="131" name="Google Shape;131;p18"/>
          <p:cNvSpPr txBox="1"/>
          <p:nvPr/>
        </p:nvSpPr>
        <p:spPr>
          <a:xfrm>
            <a:off x="729450" y="2906100"/>
            <a:ext cx="3000000" cy="13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➔"/>
            </a:pPr>
            <a:r>
              <a:rPr lang="es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Opciones: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◆"/>
            </a:pPr>
            <a:r>
              <a:rPr lang="es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Gŕaficos de cytoscape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◆"/>
            </a:pPr>
            <a:r>
              <a:rPr lang="es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Gráficos de reactome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100"/>
              <a:buFont typeface="Lato"/>
              <a:buChar char="◆"/>
            </a:pPr>
            <a:r>
              <a:rPr lang="es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Nuestra propia red</a:t>
            </a:r>
            <a:endParaRPr/>
          </a:p>
        </p:txBody>
      </p:sp>
      <p:sp>
        <p:nvSpPr>
          <p:cNvPr id="132" name="Google Shape;132;p18"/>
          <p:cNvSpPr txBox="1"/>
          <p:nvPr/>
        </p:nvSpPr>
        <p:spPr>
          <a:xfrm>
            <a:off x="2140150" y="3261050"/>
            <a:ext cx="1396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💩</a:t>
            </a:r>
            <a:endParaRPr/>
          </a:p>
        </p:txBody>
      </p:sp>
      <p:sp>
        <p:nvSpPr>
          <p:cNvPr id="133" name="Google Shape;133;p18"/>
          <p:cNvSpPr txBox="1"/>
          <p:nvPr/>
        </p:nvSpPr>
        <p:spPr>
          <a:xfrm>
            <a:off x="2071600" y="3615050"/>
            <a:ext cx="1396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👀</a:t>
            </a:r>
            <a:endParaRPr/>
          </a:p>
        </p:txBody>
      </p:sp>
      <p:sp>
        <p:nvSpPr>
          <p:cNvPr id="134" name="Google Shape;134;p18"/>
          <p:cNvSpPr txBox="1"/>
          <p:nvPr/>
        </p:nvSpPr>
        <p:spPr>
          <a:xfrm>
            <a:off x="1992075" y="3910500"/>
            <a:ext cx="1396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💪</a:t>
            </a:r>
            <a:endParaRPr/>
          </a:p>
        </p:txBody>
      </p:sp>
      <p:cxnSp>
        <p:nvCxnSpPr>
          <p:cNvPr id="135" name="Google Shape;135;p18"/>
          <p:cNvCxnSpPr>
            <a:stCxn id="133" idx="3"/>
            <a:endCxn id="136" idx="1"/>
          </p:cNvCxnSpPr>
          <p:nvPr/>
        </p:nvCxnSpPr>
        <p:spPr>
          <a:xfrm>
            <a:off x="3468100" y="3792050"/>
            <a:ext cx="70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6" name="Google Shape;136;p18"/>
          <p:cNvSpPr txBox="1"/>
          <p:nvPr/>
        </p:nvSpPr>
        <p:spPr>
          <a:xfrm>
            <a:off x="4175575" y="3615050"/>
            <a:ext cx="4322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Ventaja: Ver donde se ubica en la vía el </a:t>
            </a:r>
            <a:r>
              <a:rPr lang="es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producto</a:t>
            </a:r>
            <a:r>
              <a:rPr lang="es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del gen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7" name="Google Shape;137;p18"/>
          <p:cNvCxnSpPr/>
          <p:nvPr/>
        </p:nvCxnSpPr>
        <p:spPr>
          <a:xfrm>
            <a:off x="3468100" y="4138825"/>
            <a:ext cx="70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8" name="Google Shape;138;p18"/>
          <p:cNvSpPr txBox="1"/>
          <p:nvPr/>
        </p:nvSpPr>
        <p:spPr>
          <a:xfrm>
            <a:off x="4175575" y="3961825"/>
            <a:ext cx="4322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Ventaja: Podemos graficar varias vías a la vez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